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A99BD6"/>
                </a:solidFill>
                <a:latin typeface="Arial"/>
              </a:defRPr>
            </a:pPr>
            <a:r>
              <a:rPr sz="1300" b="0" i="0" u="none" strike="noStrike">
                <a:solidFill>
                  <a:srgbClr val="A99BD6"/>
                </a:solidFill>
                <a:latin typeface="Arial"/>
              </a:rPr>
              <a:t>P(next token)</a:t>
            </a:r>
          </a:p>
        </c:rich>
      </c:tx>
      <c:layout/>
      <c:overlay val="0"/>
    </c:title>
    <c:autoTitleDeleted val="0"/>
    <c:plotArea>
      <c:layout/>
      <c:barChart>
        <c:barDir val="bar"/>
        <c:grouping val="clustered"/>
        <c:varyColors val="0"/>
        <c:ser>
          <c:idx val="0"/>
          <c:order val="0"/>
          <c:tx>
            <c:strRef>
              <c:f>Sheet1!$B$1</c:f>
              <c:strCache>
                <c:ptCount val="1"/>
                <c:pt idx="0">
                  <c:v>p</c:v>
                </c:pt>
              </c:strCache>
            </c:strRef>
          </c:tx>
          <c:spPr>
            <a:solidFill>
              <a:srgbClr val="7C4DFF"/>
            </a:solidFill>
            <a:effectLst/>
          </c:spPr>
          <c:invertIfNegative val="0"/>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fast</c:v>
                  </c:pt>
                  <c:pt idx="1">
                    <c:v>open-source</c:v>
                  </c:pt>
                  <c:pt idx="2">
                    <c:v>cross-platform</c:v>
                  </c:pt>
                  <c:pt idx="3">
                    <c:v>free</c:v>
                  </c:pt>
                  <c:pt idx="4">
                    <c:v>fun</c:v>
                  </c:pt>
                  <c:pt idx="5">
                    <c:v>…99,995 others</c:v>
                  </c:pt>
                </c:lvl>
              </c:multiLvlStrCache>
            </c:multiLvlStrRef>
          </c:cat>
          <c:val>
            <c:numRef>
              <c:f>Sheet1!$B$2:$B$7</c:f>
              <c:numCache>
                <c:formatCode>General</c:formatCode>
                <c:ptCount val="6"/>
                <c:pt idx="0">
                  <c:v>0.31</c:v>
                </c:pt>
                <c:pt idx="1">
                  <c:v>0.24</c:v>
                </c:pt>
                <c:pt idx="2">
                  <c:v>0.19</c:v>
                </c:pt>
                <c:pt idx="3">
                  <c:v>0.11</c:v>
                </c:pt>
                <c:pt idx="4">
                  <c:v>0.06</c:v>
                </c:pt>
                <c:pt idx="5">
                  <c:v>0.09</c:v>
                </c:pt>
              </c:numCache>
            </c:numRef>
          </c:val>
        </c:ser>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E9E4FF"/>
                </a:solidFill>
                <a:latin typeface="Calibri"/>
              </a:defRPr>
            </a:pPr>
            <a:endParaRPr lang="en-US"/>
          </a:p>
        </c:txPr>
        <c:crossAx val="2094734552"/>
        <c:crosses val="autoZero"/>
        <c:auto val="1"/>
        <c:lblAlgn val="ctr"/>
        <c:noMultiLvlLbl val="1"/>
      </c:catAx>
      <c:valAx>
        <c:axId val="2094734552"/>
        <c:scaling>
          <c:orientation val="minMax"/>
          <c:max val="0.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A99BD6"/>
                </a:solidFill>
                <a:latin typeface="Arial"/>
              </a:defRPr>
            </a:pPr>
            <a:r>
              <a:rPr sz="1300" b="0" i="0" u="none" strike="noStrike">
                <a:solidFill>
                  <a:srgbClr val="A99BD6"/>
                </a:solidFill>
                <a:latin typeface="Arial"/>
              </a:rPr>
              <a:t>Tokens for “Good morning, welcome to the class”</a:t>
            </a:r>
          </a:p>
        </c:rich>
      </c:tx>
      <c:layout/>
      <c:overlay val="0"/>
    </c:title>
    <c:autoTitleDeleted val="0"/>
    <c:plotArea>
      <c:layout/>
      <c:barChart>
        <c:barDir val="col"/>
        <c:grouping val="clustered"/>
        <c:varyColors val="0"/>
        <c:ser>
          <c:idx val="0"/>
          <c:order val="0"/>
          <c:tx>
            <c:strRef>
              <c:f>Sheet1!$B$1</c:f>
              <c:strCache>
                <c:ptCount val="1"/>
                <c:pt idx="0">
                  <c:v>tokens</c:v>
                </c:pt>
              </c:strCache>
            </c:strRef>
          </c:tx>
          <c:spPr>
            <a:solidFill>
              <a:srgbClr val="2EE6A6"/>
            </a:solidFill>
            <a:effectLst/>
          </c:spPr>
          <c:invertIfNegative val="0"/>
          <c:dLbls>
            <c:numFmt formatCode="#,##0" sourceLinked="0"/>
            <c:txPr>
              <a:bodyPr/>
              <a:lstStyle/>
              <a:p>
                <a:pPr>
                  <a:defRPr b="1" i="0" strike="noStrike" sz="16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2EE6A6"/>
              </a:solidFill>
              <a:effectLst/>
            </c:spPr>
          </c:dPt>
          <c:dPt>
            <c:idx val="1"/>
            <c:invertIfNegative val="0"/>
            <c:bubble3D val="0"/>
            <c:spPr>
              <a:solidFill>
                <a:srgbClr val="FFB547"/>
              </a:solidFill>
              <a:effectLst/>
            </c:spPr>
          </c:dPt>
          <c:dPt>
            <c:idx val="2"/>
            <c:invertIfNegative val="0"/>
            <c:bubble3D val="0"/>
            <c:spPr>
              <a:solidFill>
                <a:srgbClr val="FF5C8A"/>
              </a:solidFill>
              <a:effectLst/>
            </c:spPr>
          </c:dPt>
          <c:dPt>
            <c:idx val="3"/>
            <c:invertIfNegative val="0"/>
            <c:bubble3D val="0"/>
            <c:spPr>
              <a:solidFill>
                <a:srgbClr val="7C4DFF"/>
              </a:solidFill>
              <a:effectLst/>
            </c:spPr>
          </c:dPt>
          <c:cat>
            <c:multiLvlStrRef>
              <c:f>Sheet1!$A$2:$A$5</c:f>
              <c:multiLvlStrCache>
                <c:ptCount val="4"/>
                <c:lvl>
                  <c:pt idx="0">
                    <c:v>English</c:v>
                  </c:pt>
                  <c:pt idx="1">
                    <c:v>Hindi</c:v>
                  </c:pt>
                  <c:pt idx="2">
                    <c:v>Tamil</c:v>
                  </c:pt>
                  <c:pt idx="3">
                    <c:v>Malayalam</c:v>
                  </c:pt>
                </c:lvl>
              </c:multiLvlStrCache>
            </c:multiLvlStrRef>
          </c:cat>
          <c:val>
            <c:numRef>
              <c:f>Sheet1!$B$2:$B$5</c:f>
              <c:numCache>
                <c:formatCode>General</c:formatCode>
                <c:ptCount val="4"/>
                <c:pt idx="0">
                  <c:v>13</c:v>
                </c:pt>
                <c:pt idx="1">
                  <c:v>34</c:v>
                </c:pt>
                <c:pt idx="2">
                  <c:v>41</c:v>
                </c:pt>
                <c:pt idx="3">
                  <c:v>45</c:v>
                </c:pt>
              </c:numCache>
            </c:numRef>
          </c:val>
        </c:ser>
        <c:dLbls>
          <c:numFmt formatCode="#,##0" sourceLinked="0"/>
          <c:txPr>
            <a:bodyPr/>
            <a:lstStyle/>
            <a:p>
              <a:pPr>
                <a:defRPr b="1" i="0" strike="noStrike" sz="16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E9E4FF"/>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[0:00–0:02] Have this slide up while people join. Play light music if you can.
The token chips animate in automatically: "Hello" "," "LL" "M" — each chip is one token. Don't explain it yet; say: "By the end of today you'll know exactly why I split the title into those four odd pieces."
Welcome people by name as they join. Ask them to drop their city + role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[0:02–0:03] Click to reveal each card. Keep it quick and warm.
- Camera: "Totally optional, but it helps me read the room."
- Chat: "I'll pause for questions at checkpoints. There's a big Q&amp;A block at the end too."
- Code along: "Today is about the mental model. You'll code it yourself in the assignment."
- No basic questions: say it like you mean it. This sets the tone for 18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[0:03–0:05] Ask everyone to type 1, 2, 3 or 4 in chat. Read a few answers out loud ("Lots of 2s, a few brave 4s!").
Click to reveal the right-hand card and reassure both ends of the room.
Tip: note the distribution. It tells you how fast you can go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[0:05–0:07] Click through the 6 milestones. One sentence each:
M1 "How LLMs work and how to call them from C#." M2 "Run models on your laptop and ground them in your own docs." M3 "Let the model call your C# code." M4 "Real agents with the Microsoft Agent Framework." M5 "Is it actually working? Evals, tracing, Aspire." M6 "You build something real and demo it."
Last click: the checkpoints. "Every session ends with something small you build. By Session 3 you'll have a working AI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[0:07–0:08] Reveal the four outcomes one by one, then the agenda. Say: "The most important slide today is the live demo. Everything before it gives you the vocabulary to understand what you're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Section divider. "Before we touch an LLM, let's zoom out. You'll hear AI, ML, deep learning, GenAI and LLM used as if they're the same thing. They're not. By the end of this section you can explain the difference to your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[0:08–0:09] One click per ring, outside in. Each click adds a ring and its definition.
AI: the umbrella term since 1956. Includes old-school rule-based systems. A chess engine full of if/else is still "AI".
ML: a subset. Instead of writing rules, you show examples and the machine learns the rules.
Deep learning: ML using neural networks with many layers. It exploded in 2012 thanks to GPUs + big data.
GenAI: deep learning models that CREATE rather than classify.
LLMs: GenAI specialised in language. This whole cohort lives in the innermost circle, and then we build agents around it.
Line to land: "Every LLM is AI, but most AI is not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[0:09–0:11] Click 1: "This is how we've all written software. We write the rules, feed in data, get answers."
Click 2: "ML flips it. You give it data AND the answers, and it produces the rules, which we call a model." Joke: "Imagine writing an if/else for every possible spam email. ML writes those rules for you."
Click 3: the three classic flavours. Mention ML.NET: "If you've used ML.NET for a price predictor, that's supervised learning. It's been in .NET since 2018."
Click 4: "LLMs use self-supervised learning. Take any sentence on the internet, hide the next word, and make the model guess it. The internet labels itself. That's why they could train on trillions of words without an army of labellers."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[0:11–0:14] Tell it as a story, 4 clicks, about 40 seconds each.
Click 1 (the dream): 1950 Turing's paper "Computing Machinery and Intelligence" and the imitation game. 1956 Dartmouth coins "artificial intelligence". 1966 ELIZA: a script pretending to be a therapist using pattern matching. People still got emotionally attached. Chatbots are older than C!
Click 2 (winters and a win): funding dried up twice (roughly 1974–80 and 1987–93) because promises outran computers. 1997 Deep Blue beats Kasparov with brute-force search, not learning. 2012 AlexNet wins ImageNet by a huge margin using GPUs. The deep learning era starts.
Click 3 (the GenAI era, highlighted band): 2016 AlphaGo, reinforcement learning. 2017 Google's transformer paper is the "T" in GPT and the single most important moment for this cohort. 2020 GPT-3 shows scale alone unlocks new abilities.
Click 4: Nov 30, 2022 ChatGPT, the fastest-growing consumer app at the time. Then a model race, and now reasoning models and agents: models that plan and use tools. That's where Sessions 7–12 take you.
Click 5: the .NET track. "Microsoft has been building the .NET AI stack in parallel, and this cohort follows it exactly: M.E.AI in Session 3, Semantic Kernel and the Agent Framework in Session 10."
Why now? Three things converged: transformers (the algorithm), GPUs (the compute), and the internet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[0:14–0:15] Click 1: predictive (also called discriminative) AI. Most "AI in production" before 2022 looked like this: fraud scores, recommendations, demand forecasts. It picks from options that already exist.
Click 2: generative AI writes something that didn't exist before. Same deep learning roots, different job.
Click 3: the modalities. "Today we focus on text and code, which is where .NET developers get the most value fastest."
Important: predictive ML is NOT dead. For a fraud score, a small ML.NET model is cheaper, faster and more accurate than an LLM. Pick the right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[0:15–0:16] Click through the stages.
1 Pre-training: the expensive part, done by OpenAI, Anthropic, Meta, Google and others. Self-supervised next-token prediction on a huge slice of the internet. The output is a "base model": ask it "What's the capital of France?" and it might continue with "What's the capital of Germany?" because it's just completing text.
2 Instruction tuning: teach it the chat format and to answer instead of continue.
3 RLHF (reinforcement learning from human feedback): humans compare answers, and the model learns what "good" looks like. Some labs also use AI feedback or written principles.
Click 4, the key takeaway: knowledge cutoff. "The model is a snapshot. It's frozen at training time." This is the setup for RAG and tools later in the cohort.
You never do stages 1–3 in this cohort. We use finished models. Fine-tuning your own is possible but usually unnecessary. Prompting + RAG covers most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Section divider. Pause. Ask the room: "In one word, what do you think an LLM does?" Take 2–3 chat answers (you'll get "thinks", "understands", "searches"). Then: "Let's see what it really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[0:16–0:18] Click 1: the prompt. Ask: "What word comes next?" Let chat answer. They're doing exactly what an LLM does.
Click 2: the chart. "The model doesn't 'know' the answer. It outputs a probability for EVERY token in its vocabulary. These numbers are illustrative."
Click 3: "It picks one, appends it, and runs the WHOLE thing again for the next token. A 500-word answer means about 650 passes through the model."
Key line: "It isn't looking anything up. It's predicting what text is likely to come next. Remember that when we talk about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[0:18–0:20] "You're C# devs, so here's the mental model as code." Walk through the loop.
Reveal the three facts:
1) One token per iteration, so streaming is natural (Demo 6).
2) Sample() takes a temperature (Demo 4).
3) Output tokens usually cost 3–5x more than input tokens on price sheets, because generating each one is a full forward pass.
Don't go into transformers or attention. If asked, say "Great question for the parking lot. The short answer is attention lets each token look at every other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[0:20–0:22] Now the title-slide mystery is solved: "Hello, LLM" was split into tokens.
A token is a chunk of text the model has in its vocabulary: common words are one token, rare words get split ("develop" + "ers"), and emoji can take several.
Why care? 1) You pay per token. 2) Limits are in tokens. 3) Speed is measured in tokens/sec.
Optional 30-sec live moment: open https://tiktokenizer.vercel.app and type an attendee's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[0:22–0:23] This slide usually gets a reaction. Numbers are ILLUSTRATIVE (they vary by model/tokenizer); we'll measure real ones in Demo 3.
Point: if you're building for Indian users in regional languages, your token budget, latency and cost can be 2–4x higher. Newer models have better multilingual tokenizers, so always measure.
Ask: "Anyone here building for regional-language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[0:23–0:25] Build the bar piece by piece: "Every request is a box of fixed size. In it goes the system prompt, the history, any documents (that's RAG in Session 6), the user's question, AND the space for the answer."
Then the 3 cards. The BIG one is "Stateless". Say it twice. Demo 5 proves it live.
Analogy: "Calling an LLM is like calling a very smart consultant with total amnesia. Every call you have to re-brief them from scratch."
Context sizes: most current models do 128K–1M tokens. Bigger isn't free: it's slower and more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[0:25–0:26] Remember Sample(probs, temperature) from the loop slide? Temperature reshapes the probabilities.
Low: the top token almost always wins, so output is consistent. High: the long tail gets a chance, so output is creative and sometimes nonsense.
Reveal each column. Joke: "At 2.0 your startup is called C-Sharpenstein."
Important: even temperature 0 is not 100% deterministic on most providers. Never write a unit test that asserts an exact LLM string (Session 13 covers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[0:26–0:28] Three cards, one click each.
Chat: a list of messages with roles (system = the rules, user = the human, assistant = the model's previous replies). It's what we call today.
Completion: plain text continuation. Historical; now mostly hidden behind chat.
Embedding: returns a vector (list of floats) that captures meaning. Similar meaning gives nearby vectors. Park it: "Session 5 is all about this."
Bonus if asked: there are also image, audio and "reasoning" models (they think before answering and cost more output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[0:28–0:29] Don't list features. Make one point: they all look alike on the wire.
Groq (with a Q) is an inference company running open models like Llama and gpt-oss on custom chips, very fast, free tier, no card. (Not to be confused with Grok, xAI's model. Someone WILL ask.)
Last click: "Most expose the same JSON shape, which is why in Session 3 Microsoft.Extensions.AI lets you swap providers with one line of config."
Also mention GitHub Models as another free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Transition: "Enough theory. You're .NET developers, so let's look at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[0:29–0:31] Build it left to right. The message: you already have 90% of the skills.
"The model lives on someone else's GPU. You send a POST with JSON, you get JSON back. Same as calling Stripe or Twilio."
Last click, emphasise: timeouts (LLM calls take seconds, not ms), retries (429s happen), secrets (never commit keys), logging (log token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[0:31–0:32] Walk the 4 callouts. Point at the JSON as you click each one.
Roles: system (instructions/persona, highest priority), user (the human), assistant (previous model replies you send back for memory). Tool messages arrive in Session 7.
max_tokens caps the OUTPUT only, not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[0:32–0:33] Four things to read on every response: content, finish_reason, usage, id.
"choices" is an array because you can ask for several alternatives (n &gt; 1). You'll almost always take [0].
Groq also adds its own fields (like x_groq and timing info). Providers add extras, but the core shape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[0:33–0:34] Let the code sit for 10 seconds. "That's it. That's AI integration." Then: "Let's run it for real."
Mention: in real apps use IHttpClientFactory (don't new-up HttpClient per request), typed records instead of JsonDocument, and Microsoft.Extensions.Http.Resilience for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[0:34–0:49] SWITCH TO VISUAL STUDIO / TERMINAL. Font size 20+. Dark theme. Close Slack/Teams notifications.
Run: dotnet run (menu). Before each demo, click once here so the card lights up (optional; you can also just stay in the IDE).
Must-do: 1, 3, 5, 8. Nice-to-have: 2, 4, 6, 7. If running long, skip 2 and 7.
See the Run of Show for exact talking points and fallback plans for each demo.
BACKUP: if the network dies, play the pre-recorded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[0:49–0:50] Fast. One sentence per card. Each one maps to a later session: Hallucinations → RAG (S6) + Evals (S13). Cost/Latency → Observability (S14). Privacy → Local models with Ollama (S4).
"Right now, just know these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[0:50–0:51] Math: 1000 × 20 = 20,000 requests/day. Input 20,000 × 1,500 = 30M tokens → $2.25. Output 20,000 × 300 = 6M → $1.80. Total ≈ $4/day.
Prices change often. Tell attendees to check the provider's pricing page. The point is the METHOD: tokens × price, input and output priced separately.
Remind them that "memory" (resending history) is what makes input tokens balloon.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[0:51–0:53] Read each question, wait ~10 seconds for chat answers, then click to reveal. Celebrate correct answers by name. It builds energy before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[0:53–0:55] This is straight from the syllabus: "Call one LLM provider's API directly from a .NET console app using HttpClient, print the response, and note what a request/response actually looks like."
Emphasise: 30–45 minutes of work. Don't over-engineer. The notes matter as much as the code.
Ask them to post a screenshot. Social proof keeps cohort energy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Build anticipation: "Next session you'll turn an LLM into something that returns a typed C# object every single time."
Ask them to bring one real prompt from their work (the Session 2 assignment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[0:55–0:59 · Q&amp;A. Extend if the demo ran short.]
Start by answering the parked questions from chat. Use the Q&amp;A doc for prepared answers.
If silence: seed with "The #1 question I get is: will AI replace .NET developers?" (Answer in Q&amp;A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[0:59–1:00] Warm close. "Thank you for giving me an hour of your evening/morning. Seeing so many of you here makes me excited for the next 17 sessions."
Remind: assignment, where materials are, next session date/time.
Ask for a 1-minute feedback form (link in chat): "What was the best part, and what should I change?"
Stay on the call for 5 extra minutes for anyone who wants to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A1A"/>
        </a:solidFill>
      </p:bgPr>
    </p:bg>
    <p:spTree>
      <p:nvGrpSpPr>
        <p:cNvPr id="1" name=""/>
        <p:cNvGrpSpPr/>
        <p:nvPr/>
      </p:nvGrpSpPr>
      <p:grpSpPr>
        <a:xfrm>
          <a:off x="0" y="0"/>
          <a:ext cx="0" cy="0"/>
          <a:chOff x="0" y="0"/>
          <a:chExt cx="0" cy="0"/>
        </a:xfrm>
      </p:grpSpPr>
      <p:sp>
        <p:nvSpPr>
          <p:cNvPr id="2" name="auto1_orb"/>
          <p:cNvSpPr/>
          <p:nvPr/>
        </p:nvSpPr>
        <p:spPr>
          <a:xfrm>
            <a:off x="6949440" y="-1280160"/>
            <a:ext cx="6949440" cy="6949440"/>
          </a:xfrm>
          <a:prstGeom prst="ellipse">
            <a:avLst/>
          </a:prstGeom>
          <a:solidFill>
            <a:srgbClr val="512BD4">
              <a:alpha val="30000"/>
            </a:srgbClr>
          </a:solidFill>
          <a:ln/>
        </p:spPr>
      </p:sp>
      <p:sp>
        <p:nvSpPr>
          <p:cNvPr id="3" name="auto1_orb2"/>
          <p:cNvSpPr/>
          <p:nvPr/>
        </p:nvSpPr>
        <p:spPr>
          <a:xfrm>
            <a:off x="8503920" y="274320"/>
            <a:ext cx="3840480" cy="3840480"/>
          </a:xfrm>
          <a:prstGeom prst="ellipse">
            <a:avLst/>
          </a:prstGeom>
          <a:solidFill>
            <a:srgbClr val="7C4DFF">
              <a:alpha val="45000"/>
            </a:srgbClr>
          </a:solidFill>
          <a:ln/>
        </p:spPr>
      </p:sp>
      <p:pic>
        <p:nvPicPr>
          <p:cNvPr id="4" name="auto2_robot" descr="preencoded.png">    </p:cNvPr>
          <p:cNvPicPr>
            <a:picLocks noChangeAspect="1"/>
          </p:cNvPicPr>
          <p:nvPr/>
        </p:nvPicPr>
        <p:blipFill>
          <a:blip r:embed="rId1"/>
          <a:stretch>
            <a:fillRect/>
          </a:stretch>
        </p:blipFill>
        <p:spPr>
          <a:xfrm>
            <a:off x="9418320" y="1188720"/>
            <a:ext cx="2011680" cy="2011680"/>
          </a:xfrm>
          <a:prstGeom prst="rect">
            <a:avLst/>
          </a:prstGeom>
        </p:spPr>
      </p:pic>
      <p:sp>
        <p:nvSpPr>
          <p:cNvPr id="5" name="auto3_tok0"/>
          <p:cNvSpPr/>
          <p:nvPr/>
        </p:nvSpPr>
        <p:spPr>
          <a:xfrm>
            <a:off x="548640" y="1737360"/>
            <a:ext cx="2898648" cy="1143000"/>
          </a:xfrm>
          <a:prstGeom prst="roundRect">
            <a:avLst>
              <a:gd name="adj" fmla="val 8000"/>
            </a:avLst>
          </a:prstGeom>
          <a:solidFill>
            <a:srgbClr val="7C4DFF">
              <a:alpha val="25000"/>
            </a:srgbClr>
          </a:solidFill>
          <a:ln w="25400">
            <a:solidFill>
              <a:srgbClr val="7C4DFF"/>
            </a:solidFill>
            <a:prstDash val="solid"/>
          </a:ln>
        </p:spPr>
      </p:sp>
      <p:sp>
        <p:nvSpPr>
          <p:cNvPr id="6" name="auto3_tokt0"/>
          <p:cNvSpPr txBox="1"/>
          <p:nvPr/>
        </p:nvSpPr>
        <p:spPr>
          <a:xfrm>
            <a:off x="548640" y="1737360"/>
            <a:ext cx="2898648" cy="11430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Hello</a:t>
            </a:r>
            <a:endParaRPr lang="en-US" sz="5400" dirty="0"/>
          </a:p>
        </p:txBody>
      </p:sp>
      <p:sp>
        <p:nvSpPr>
          <p:cNvPr id="7" name="auto4_tok1"/>
          <p:cNvSpPr/>
          <p:nvPr/>
        </p:nvSpPr>
        <p:spPr>
          <a:xfrm>
            <a:off x="3557016" y="1737360"/>
            <a:ext cx="886968" cy="1143000"/>
          </a:xfrm>
          <a:prstGeom prst="roundRect">
            <a:avLst>
              <a:gd name="adj" fmla="val 10309"/>
            </a:avLst>
          </a:prstGeom>
          <a:solidFill>
            <a:srgbClr val="FF5C8A">
              <a:alpha val="25000"/>
            </a:srgbClr>
          </a:solidFill>
          <a:ln w="25400">
            <a:solidFill>
              <a:srgbClr val="FF5C8A"/>
            </a:solidFill>
            <a:prstDash val="solid"/>
          </a:ln>
        </p:spPr>
      </p:sp>
      <p:sp>
        <p:nvSpPr>
          <p:cNvPr id="8" name="auto4_tokt1"/>
          <p:cNvSpPr txBox="1"/>
          <p:nvPr/>
        </p:nvSpPr>
        <p:spPr>
          <a:xfrm>
            <a:off x="3557016" y="1737360"/>
            <a:ext cx="886968" cy="11430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a:t>
            </a:r>
            <a:endParaRPr lang="en-US" sz="5400" dirty="0"/>
          </a:p>
        </p:txBody>
      </p:sp>
      <p:sp>
        <p:nvSpPr>
          <p:cNvPr id="9" name="auto5_tok2"/>
          <p:cNvSpPr/>
          <p:nvPr/>
        </p:nvSpPr>
        <p:spPr>
          <a:xfrm>
            <a:off x="4553712" y="1737360"/>
            <a:ext cx="1892808" cy="1143000"/>
          </a:xfrm>
          <a:prstGeom prst="roundRect">
            <a:avLst>
              <a:gd name="adj" fmla="val 8000"/>
            </a:avLst>
          </a:prstGeom>
          <a:solidFill>
            <a:srgbClr val="2EE6A6">
              <a:alpha val="25000"/>
            </a:srgbClr>
          </a:solidFill>
          <a:ln w="25400">
            <a:solidFill>
              <a:srgbClr val="2EE6A6"/>
            </a:solidFill>
            <a:prstDash val="solid"/>
          </a:ln>
        </p:spPr>
      </p:sp>
      <p:sp>
        <p:nvSpPr>
          <p:cNvPr id="10" name="auto5_tokt2"/>
          <p:cNvSpPr txBox="1"/>
          <p:nvPr/>
        </p:nvSpPr>
        <p:spPr>
          <a:xfrm>
            <a:off x="4553712" y="1737360"/>
            <a:ext cx="1892808" cy="11430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LL</a:t>
            </a:r>
            <a:endParaRPr lang="en-US" sz="5400" dirty="0"/>
          </a:p>
        </p:txBody>
      </p:sp>
      <p:sp>
        <p:nvSpPr>
          <p:cNvPr id="11" name="auto6_tok3"/>
          <p:cNvSpPr/>
          <p:nvPr/>
        </p:nvSpPr>
        <p:spPr>
          <a:xfrm>
            <a:off x="6556248" y="1737360"/>
            <a:ext cx="886968" cy="1143000"/>
          </a:xfrm>
          <a:prstGeom prst="roundRect">
            <a:avLst>
              <a:gd name="adj" fmla="val 10309"/>
            </a:avLst>
          </a:prstGeom>
          <a:solidFill>
            <a:srgbClr val="FFB547">
              <a:alpha val="25000"/>
            </a:srgbClr>
          </a:solidFill>
          <a:ln w="25400">
            <a:solidFill>
              <a:srgbClr val="FFB547"/>
            </a:solidFill>
            <a:prstDash val="solid"/>
          </a:ln>
        </p:spPr>
      </p:sp>
      <p:sp>
        <p:nvSpPr>
          <p:cNvPr id="12" name="auto6_tokt3"/>
          <p:cNvSpPr txBox="1"/>
          <p:nvPr/>
        </p:nvSpPr>
        <p:spPr>
          <a:xfrm>
            <a:off x="6556248" y="1737360"/>
            <a:ext cx="886968" cy="11430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M</a:t>
            </a:r>
            <a:endParaRPr lang="en-US" sz="5400" dirty="0"/>
          </a:p>
        </p:txBody>
      </p:sp>
      <p:sp>
        <p:nvSpPr>
          <p:cNvPr id="13" name="auto7_tag"/>
          <p:cNvSpPr txBox="1"/>
          <p:nvPr/>
        </p:nvSpPr>
        <p:spPr>
          <a:xfrm>
            <a:off x="548640" y="3063240"/>
            <a:ext cx="7315200" cy="365760"/>
          </a:xfrm>
          <a:prstGeom prst="rect">
            <a:avLst/>
          </a:prstGeom>
          <a:noFill/>
          <a:ln/>
        </p:spPr>
        <p:txBody>
          <a:bodyPr wrap="square" lIns="0" tIns="0" rIns="0" bIns="0" rtlCol="0" anchor="t"/>
          <a:lstStyle/>
          <a:p>
            <a:pPr indent="0" marL="0">
              <a:buNone/>
            </a:pPr>
            <a:r>
              <a:rPr lang="en-US" sz="1600" i="1" dirty="0">
                <a:solidFill>
                  <a:srgbClr val="A99BD6"/>
                </a:solidFill>
                <a:latin typeface="Calibri" pitchFamily="34" charset="0"/>
                <a:ea typeface="Calibri" pitchFamily="34" charset="-122"/>
                <a:cs typeface="Calibri" pitchFamily="34" charset="-120"/>
              </a:rPr>
              <a:t>4 tokens. 1 prediction at a time. That's the whole trick.</a:t>
            </a:r>
            <a:endParaRPr lang="en-US" sz="1600" dirty="0"/>
          </a:p>
        </p:txBody>
      </p:sp>
      <p:sp>
        <p:nvSpPr>
          <p:cNvPr id="14" name="auto8_t"/>
          <p:cNvSpPr txBox="1"/>
          <p:nvPr/>
        </p:nvSpPr>
        <p:spPr>
          <a:xfrm>
            <a:off x="548640" y="3931920"/>
            <a:ext cx="8229600" cy="6400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LLM Fundamentals for .NET Developers</a:t>
            </a:r>
            <a:endParaRPr lang="en-US" sz="3200" dirty="0"/>
          </a:p>
        </p:txBody>
      </p:sp>
      <p:sp>
        <p:nvSpPr>
          <p:cNvPr id="15" name="auto8_s"/>
          <p:cNvSpPr txBox="1"/>
          <p:nvPr/>
        </p:nvSpPr>
        <p:spPr>
          <a:xfrm>
            <a:off x="548640" y="4572000"/>
            <a:ext cx="8229600" cy="411480"/>
          </a:xfrm>
          <a:prstGeom prst="rect">
            <a:avLst/>
          </a:prstGeom>
          <a:noFill/>
          <a:ln/>
        </p:spPr>
        <p:txBody>
          <a:bodyPr wrap="square" lIns="0" tIns="0" rIns="0" bIns="0" rtlCol="0" anchor="t"/>
          <a:lstStyle/>
          <a:p>
            <a:pPr indent="0" marL="0">
              <a:buNone/>
            </a:pPr>
            <a:r>
              <a:rPr lang="en-US" sz="1800" dirty="0">
                <a:solidFill>
                  <a:srgbClr val="2EE6A6"/>
                </a:solidFill>
                <a:latin typeface="Calibri" pitchFamily="34" charset="0"/>
                <a:ea typeface="Calibri" pitchFamily="34" charset="-122"/>
                <a:cs typeface="Calibri" pitchFamily="34" charset="-120"/>
              </a:rPr>
              <a:t>Session 01  ·  Milestone 1: Foundations for .NET</a:t>
            </a:r>
            <a:endParaRPr lang="en-US" sz="1800" dirty="0"/>
          </a:p>
        </p:txBody>
      </p:sp>
      <p:sp>
        <p:nvSpPr>
          <p:cNvPr id="16" name="Text 13"/>
          <p:cNvSpPr txBox="1"/>
          <p:nvPr/>
        </p:nvSpPr>
        <p:spPr>
          <a:xfrm>
            <a:off x="548640" y="5989320"/>
            <a:ext cx="8229600" cy="320040"/>
          </a:xfrm>
          <a:prstGeom prst="rect">
            <a:avLst/>
          </a:prstGeom>
          <a:noFill/>
          <a:ln/>
        </p:spPr>
        <p:txBody>
          <a:bodyPr wrap="square" lIns="0" tIns="0" rIns="0" bIns="0" rtlCol="0" anchor="t"/>
          <a:lstStyle/>
          <a:p>
            <a:pPr indent="0" marL="0">
              <a:buNone/>
            </a:pPr>
            <a:r>
              <a:rPr lang="en-US" sz="1100" b="1" spc="400" kern="0" dirty="0">
                <a:solidFill>
                  <a:srgbClr val="6F63A0"/>
                </a:solidFill>
                <a:latin typeface="Arial" pitchFamily="34" charset="0"/>
                <a:ea typeface="Arial" pitchFamily="34" charset="-122"/>
                <a:cs typeface="Arial" pitchFamily="34" charset="-120"/>
              </a:rPr>
              <a:t>AGENTIC SPRINT FOR .NET DEVELOPERS  ·  SIDILLUS</a:t>
            </a:r>
            <a:endParaRPr lang="en-US" sz="11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81" fill="hold">
                      <p:stCondLst>
                        <p:cond delay="indefinite"/>
                        <p:cond evt="onBegin" delay="0">
                          <p:tn val="2"/>
                        </p:cond>
                      </p:stCondLst>
                      <p:childTnLst>
                        <p:par>
                          <p:cTn id="1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anim calcmode="lin" valueType="num">
                                      <p:cBhvr>
                                        <p:cTn id="6" dur="500" fill="hold"/>
                                        <p:tgtEl>
                                          <p:spTgt spid="2"/>
                                        </p:tgtEl>
                                        <p:attrNameLst>
                                          <p:attrName>ppt_x</p:attrName>
                                        </p:attrNameLst>
                                      </p:cBhvr>
                                      <p:tavLst>
                                        <p:tav tm="0">
                                          <p:val>
                                            <p:strVal val="#ppt_x"/>
                                          </p:val>
                                        </p:tav>
                                        <p:tav tm="100000">
                                          <p:val>
                                            <p:strVal val="#ppt_x"/>
                                          </p:val>
                                        </p:tav>
                                      </p:tavLst>
                                    </p:anim>
                                    <p:anim calcmode="lin" valueType="num">
                                      <p:cBhvr>
                                        <p:cTn id="7" dur="500" decel="100000" fill="hold"/>
                                        <p:tgtEl>
                                          <p:spTgt spid="2"/>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anim calcmode="lin" valueType="num">
                                      <p:cBhvr>
                                        <p:cTn id="11" dur="500" fill="hold"/>
                                        <p:tgtEl>
                                          <p:spTgt spid="3"/>
                                        </p:tgtEl>
                                        <p:attrNameLst>
                                          <p:attrName>ppt_x</p:attrName>
                                        </p:attrNameLst>
                                      </p:cBhvr>
                                      <p:tavLst>
                                        <p:tav tm="0">
                                          <p:val>
                                            <p:strVal val="#ppt_x"/>
                                          </p:val>
                                        </p:tav>
                                        <p:tav tm="100000">
                                          <p:val>
                                            <p:strVal val="#ppt_x"/>
                                          </p:val>
                                        </p:tav>
                                      </p:tavLst>
                                    </p:anim>
                                    <p:anim calcmode="lin" valueType="num">
                                      <p:cBhvr>
                                        <p:cTn id="12" dur="500" decel="100000" fill="hold"/>
                                        <p:tgtEl>
                                          <p:spTgt spid="3"/>
                                        </p:tgtEl>
                                        <p:attrNameLst>
                                          <p:attrName>ppt_y</p:attrName>
                                        </p:attrNameLst>
                                      </p:cBhvr>
                                      <p:tavLst>
                                        <p:tav tm="0">
                                          <p:val>
                                            <p:strVal val="#ppt_y+.06"/>
                                          </p:val>
                                        </p:tav>
                                        <p:tav tm="100000">
                                          <p:val>
                                            <p:strVal val="#ppt_y"/>
                                          </p:val>
                                        </p:tav>
                                      </p:tavLst>
                                    </p:anim>
                                  </p:childTnLst>
                                </p:cTn>
                              </p:par>
                            </p:childTnLst>
                          </p:cTn>
                        </p:par>
                        <p:par>
                          <p:cTn id="19"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anim calcmode="lin" valueType="num">
                                      <p:cBhvr>
                                        <p:cTn id="17" dur="500" fill="hold"/>
                                        <p:tgtEl>
                                          <p:spTgt spid="4"/>
                                        </p:tgtEl>
                                        <p:attrNameLst>
                                          <p:attrName>ppt_x</p:attrName>
                                        </p:attrNameLst>
                                      </p:cBhvr>
                                      <p:tavLst>
                                        <p:tav tm="0">
                                          <p:val>
                                            <p:strVal val="#ppt_x"/>
                                          </p:val>
                                        </p:tav>
                                        <p:tav tm="100000">
                                          <p:val>
                                            <p:strVal val="#ppt_x"/>
                                          </p:val>
                                        </p:tav>
                                      </p:tavLst>
                                    </p:anim>
                                    <p:anim calcmode="lin" valueType="num">
                                      <p:cBhvr>
                                        <p:cTn id="18" dur="500" decel="100000" fill="hold"/>
                                        <p:tgtEl>
                                          <p:spTgt spid="4"/>
                                        </p:tgtEl>
                                        <p:attrNameLst>
                                          <p:attrName>ppt_y</p:attrName>
                                        </p:attrNameLst>
                                      </p:cBhvr>
                                      <p:tavLst>
                                        <p:tav tm="0">
                                          <p:val>
                                            <p:strVal val="#ppt_y+.06"/>
                                          </p:val>
                                        </p:tav>
                                        <p:tav tm="100000">
                                          <p:val>
                                            <p:strVal val="#ppt_y"/>
                                          </p:val>
                                        </p:tav>
                                      </p:tavLst>
                                    </p:anim>
                                  </p:childTnLst>
                                </p:cTn>
                              </p:par>
                            </p:childTnLst>
                          </p:cTn>
                        </p:par>
                        <p:par>
                          <p:cTn id="30" fill="hold">
                            <p:stCondLst>
                              <p:cond delay="700"/>
                            </p:stCondLst>
                            <p:childTnLst>
                              <p:par>
                                <p:cTn id="20" presetID="42"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anim calcmode="lin" valueType="num">
                                      <p:cBhvr>
                                        <p:cTn id="23" dur="500" fill="hold"/>
                                        <p:tgtEl>
                                          <p:spTgt spid="5"/>
                                        </p:tgtEl>
                                        <p:attrNameLst>
                                          <p:attrName>ppt_x</p:attrName>
                                        </p:attrNameLst>
                                      </p:cBhvr>
                                      <p:tavLst>
                                        <p:tav tm="0">
                                          <p:val>
                                            <p:strVal val="#ppt_x"/>
                                          </p:val>
                                        </p:tav>
                                        <p:tav tm="100000">
                                          <p:val>
                                            <p:strVal val="#ppt_x"/>
                                          </p:val>
                                        </p:tav>
                                      </p:tavLst>
                                    </p:anim>
                                    <p:anim calcmode="lin" valueType="num">
                                      <p:cBhvr>
                                        <p:cTn id="24" dur="500" decel="100000" fill="hold"/>
                                        <p:tgtEl>
                                          <p:spTgt spid="5"/>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anim calcmode="lin" valueType="num">
                                      <p:cBhvr>
                                        <p:cTn id="28" dur="500" fill="hold"/>
                                        <p:tgtEl>
                                          <p:spTgt spid="6"/>
                                        </p:tgtEl>
                                        <p:attrNameLst>
                                          <p:attrName>ppt_x</p:attrName>
                                        </p:attrNameLst>
                                      </p:cBhvr>
                                      <p:tavLst>
                                        <p:tav tm="0">
                                          <p:val>
                                            <p:strVal val="#ppt_x"/>
                                          </p:val>
                                        </p:tav>
                                        <p:tav tm="100000">
                                          <p:val>
                                            <p:strVal val="#ppt_x"/>
                                          </p:val>
                                        </p:tav>
                                      </p:tavLst>
                                    </p:anim>
                                    <p:anim calcmode="lin" valueType="num">
                                      <p:cBhvr>
                                        <p:cTn id="29" dur="500" decel="100000" fill="hold"/>
                                        <p:tgtEl>
                                          <p:spTgt spid="6"/>
                                        </p:tgtEl>
                                        <p:attrNameLst>
                                          <p:attrName>ppt_y</p:attrName>
                                        </p:attrNameLst>
                                      </p:cBhvr>
                                      <p:tavLst>
                                        <p:tav tm="0">
                                          <p:val>
                                            <p:strVal val="#ppt_y+.06"/>
                                          </p:val>
                                        </p:tav>
                                        <p:tav tm="100000">
                                          <p:val>
                                            <p:strVal val="#ppt_y"/>
                                          </p:val>
                                        </p:tav>
                                      </p:tavLst>
                                    </p:anim>
                                  </p:childTnLst>
                                </p:cTn>
                              </p:par>
                            </p:childTnLst>
                          </p:cTn>
                        </p:par>
                        <p:par>
                          <p:cTn id="41" fill="hold">
                            <p:stCondLst>
                              <p:cond delay="1050"/>
                            </p:stCondLst>
                            <p:childTnLst>
                              <p:par>
                                <p:cTn id="31" presetID="42"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fill="hold"/>
                                        <p:tgtEl>
                                          <p:spTgt spid="7"/>
                                        </p:tgtEl>
                                        <p:attrNameLst>
                                          <p:attrName>ppt_x</p:attrName>
                                        </p:attrNameLst>
                                      </p:cBhvr>
                                      <p:tavLst>
                                        <p:tav tm="0">
                                          <p:val>
                                            <p:strVal val="#ppt_x"/>
                                          </p:val>
                                        </p:tav>
                                        <p:tav tm="100000">
                                          <p:val>
                                            <p:strVal val="#ppt_x"/>
                                          </p:val>
                                        </p:tav>
                                      </p:tavLst>
                                    </p:anim>
                                    <p:anim calcmode="lin" valueType="num">
                                      <p:cBhvr>
                                        <p:cTn id="35" dur="500" decel="1000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fill="hold"/>
                                        <p:tgtEl>
                                          <p:spTgt spid="8"/>
                                        </p:tgtEl>
                                        <p:attrNameLst>
                                          <p:attrName>ppt_x</p:attrName>
                                        </p:attrNameLst>
                                      </p:cBhvr>
                                      <p:tavLst>
                                        <p:tav tm="0">
                                          <p:val>
                                            <p:strVal val="#ppt_x"/>
                                          </p:val>
                                        </p:tav>
                                        <p:tav tm="100000">
                                          <p:val>
                                            <p:strVal val="#ppt_x"/>
                                          </p:val>
                                        </p:tav>
                                      </p:tavLst>
                                    </p:anim>
                                    <p:anim calcmode="lin" valueType="num">
                                      <p:cBhvr>
                                        <p:cTn id="40" dur="500" decel="100000" fill="hold"/>
                                        <p:tgtEl>
                                          <p:spTgt spid="8"/>
                                        </p:tgtEl>
                                        <p:attrNameLst>
                                          <p:attrName>ppt_y</p:attrName>
                                        </p:attrNameLst>
                                      </p:cBhvr>
                                      <p:tavLst>
                                        <p:tav tm="0">
                                          <p:val>
                                            <p:strVal val="#ppt_y+.06"/>
                                          </p:val>
                                        </p:tav>
                                        <p:tav tm="100000">
                                          <p:val>
                                            <p:strVal val="#ppt_y"/>
                                          </p:val>
                                        </p:tav>
                                      </p:tavLst>
                                    </p:anim>
                                  </p:childTnLst>
                                </p:cTn>
                              </p:par>
                            </p:childTnLst>
                          </p:cTn>
                        </p:par>
                        <p:par>
                          <p:cTn id="52" fill="hold">
                            <p:stCondLst>
                              <p:cond delay="1400"/>
                            </p:stCondLst>
                            <p:childTnLst>
                              <p:par>
                                <p:cTn id="42" presetID="42"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anim calcmode="lin" valueType="num">
                                      <p:cBhvr>
                                        <p:cTn id="45" dur="500" fill="hold"/>
                                        <p:tgtEl>
                                          <p:spTgt spid="9"/>
                                        </p:tgtEl>
                                        <p:attrNameLst>
                                          <p:attrName>ppt_x</p:attrName>
                                        </p:attrNameLst>
                                      </p:cBhvr>
                                      <p:tavLst>
                                        <p:tav tm="0">
                                          <p:val>
                                            <p:strVal val="#ppt_x"/>
                                          </p:val>
                                        </p:tav>
                                        <p:tav tm="100000">
                                          <p:val>
                                            <p:strVal val="#ppt_x"/>
                                          </p:val>
                                        </p:tav>
                                      </p:tavLst>
                                    </p:anim>
                                    <p:anim calcmode="lin" valueType="num">
                                      <p:cBhvr>
                                        <p:cTn id="46" dur="500" decel="100000" fill="hold"/>
                                        <p:tgtEl>
                                          <p:spTgt spid="9"/>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anim calcmode="lin" valueType="num">
                                      <p:cBhvr>
                                        <p:cTn id="50" dur="500" fill="hold"/>
                                        <p:tgtEl>
                                          <p:spTgt spid="10"/>
                                        </p:tgtEl>
                                        <p:attrNameLst>
                                          <p:attrName>ppt_x</p:attrName>
                                        </p:attrNameLst>
                                      </p:cBhvr>
                                      <p:tavLst>
                                        <p:tav tm="0">
                                          <p:val>
                                            <p:strVal val="#ppt_x"/>
                                          </p:val>
                                        </p:tav>
                                        <p:tav tm="100000">
                                          <p:val>
                                            <p:strVal val="#ppt_x"/>
                                          </p:val>
                                        </p:tav>
                                      </p:tavLst>
                                    </p:anim>
                                    <p:anim calcmode="lin" valueType="num">
                                      <p:cBhvr>
                                        <p:cTn id="51" dur="500" decel="100000" fill="hold"/>
                                        <p:tgtEl>
                                          <p:spTgt spid="10"/>
                                        </p:tgtEl>
                                        <p:attrNameLst>
                                          <p:attrName>ppt_y</p:attrName>
                                        </p:attrNameLst>
                                      </p:cBhvr>
                                      <p:tavLst>
                                        <p:tav tm="0">
                                          <p:val>
                                            <p:strVal val="#ppt_y+.06"/>
                                          </p:val>
                                        </p:tav>
                                        <p:tav tm="100000">
                                          <p:val>
                                            <p:strVal val="#ppt_y"/>
                                          </p:val>
                                        </p:tav>
                                      </p:tavLst>
                                    </p:anim>
                                  </p:childTnLst>
                                </p:cTn>
                              </p:par>
                            </p:childTnLst>
                          </p:cTn>
                        </p:par>
                        <p:par>
                          <p:cTn id="63" fill="hold">
                            <p:stCondLst>
                              <p:cond delay="1750"/>
                            </p:stCondLst>
                            <p:childTnLst>
                              <p:par>
                                <p:cTn id="53" presetID="42" presetClass="entr" presetSubtype="0"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p:cTn id="56" dur="500" fill="hold"/>
                                        <p:tgtEl>
                                          <p:spTgt spid="11"/>
                                        </p:tgtEl>
                                        <p:attrNameLst>
                                          <p:attrName>ppt_x</p:attrName>
                                        </p:attrNameLst>
                                      </p:cBhvr>
                                      <p:tavLst>
                                        <p:tav tm="0">
                                          <p:val>
                                            <p:strVal val="#ppt_x"/>
                                          </p:val>
                                        </p:tav>
                                        <p:tav tm="100000">
                                          <p:val>
                                            <p:strVal val="#ppt_x"/>
                                          </p:val>
                                        </p:tav>
                                      </p:tavLst>
                                    </p:anim>
                                    <p:anim calcmode="lin" valueType="num">
                                      <p:cBhvr>
                                        <p:cTn id="57" dur="500" decel="100000" fill="hold"/>
                                        <p:tgtEl>
                                          <p:spTgt spid="11"/>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anim calcmode="lin" valueType="num">
                                      <p:cBhvr>
                                        <p:cTn id="61" dur="500" fill="hold"/>
                                        <p:tgtEl>
                                          <p:spTgt spid="12"/>
                                        </p:tgtEl>
                                        <p:attrNameLst>
                                          <p:attrName>ppt_x</p:attrName>
                                        </p:attrNameLst>
                                      </p:cBhvr>
                                      <p:tavLst>
                                        <p:tav tm="0">
                                          <p:val>
                                            <p:strVal val="#ppt_x"/>
                                          </p:val>
                                        </p:tav>
                                        <p:tav tm="100000">
                                          <p:val>
                                            <p:strVal val="#ppt_x"/>
                                          </p:val>
                                        </p:tav>
                                      </p:tavLst>
                                    </p:anim>
                                    <p:anim calcmode="lin" valueType="num">
                                      <p:cBhvr>
                                        <p:cTn id="62" dur="500" decel="100000" fill="hold"/>
                                        <p:tgtEl>
                                          <p:spTgt spid="12"/>
                                        </p:tgtEl>
                                        <p:attrNameLst>
                                          <p:attrName>ppt_y</p:attrName>
                                        </p:attrNameLst>
                                      </p:cBhvr>
                                      <p:tavLst>
                                        <p:tav tm="0">
                                          <p:val>
                                            <p:strVal val="#ppt_y+.06"/>
                                          </p:val>
                                        </p:tav>
                                        <p:tav tm="100000">
                                          <p:val>
                                            <p:strVal val="#ppt_y"/>
                                          </p:val>
                                        </p:tav>
                                      </p:tavLst>
                                    </p:anim>
                                  </p:childTnLst>
                                </p:cTn>
                              </p:par>
                            </p:childTnLst>
                          </p:cTn>
                        </p:par>
                        <p:par>
                          <p:cTn id="69" fill="hold">
                            <p:stCondLst>
                              <p:cond delay="2100"/>
                            </p:stCondLst>
                            <p:childTnLst>
                              <p:par>
                                <p:cTn id="64" presetID="42" presetClass="entr" presetSubtype="0" fill="hold" grpId="0"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anim calcmode="lin" valueType="num">
                                      <p:cBhvr>
                                        <p:cTn id="67" dur="500" fill="hold"/>
                                        <p:tgtEl>
                                          <p:spTgt spid="13"/>
                                        </p:tgtEl>
                                        <p:attrNameLst>
                                          <p:attrName>ppt_x</p:attrName>
                                        </p:attrNameLst>
                                      </p:cBhvr>
                                      <p:tavLst>
                                        <p:tav tm="0">
                                          <p:val>
                                            <p:strVal val="#ppt_x"/>
                                          </p:val>
                                        </p:tav>
                                        <p:tav tm="100000">
                                          <p:val>
                                            <p:strVal val="#ppt_x"/>
                                          </p:val>
                                        </p:tav>
                                      </p:tavLst>
                                    </p:anim>
                                    <p:anim calcmode="lin" valueType="num">
                                      <p:cBhvr>
                                        <p:cTn id="68" dur="500" decel="100000" fill="hold"/>
                                        <p:tgtEl>
                                          <p:spTgt spid="13"/>
                                        </p:tgtEl>
                                        <p:attrNameLst>
                                          <p:attrName>ppt_y</p:attrName>
                                        </p:attrNameLst>
                                      </p:cBhvr>
                                      <p:tavLst>
                                        <p:tav tm="0">
                                          <p:val>
                                            <p:strVal val="#ppt_y+.06"/>
                                          </p:val>
                                        </p:tav>
                                        <p:tav tm="100000">
                                          <p:val>
                                            <p:strVal val="#ppt_y"/>
                                          </p:val>
                                        </p:tav>
                                      </p:tavLst>
                                    </p:anim>
                                  </p:childTnLst>
                                </p:cTn>
                              </p:par>
                            </p:childTnLst>
                          </p:cTn>
                        </p:par>
                        <p:par>
                          <p:cTn id="80" fill="hold">
                            <p:stCondLst>
                              <p:cond delay="2450"/>
                            </p:stCondLst>
                            <p:childTnLst>
                              <p:par>
                                <p:cTn id="70" presetID="42" presetClass="entr" presetSubtype="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p:tgtEl>
                                          <p:spTgt spid="14"/>
                                        </p:tgtEl>
                                      </p:cBhvr>
                                    </p:animEffect>
                                    <p:anim calcmode="lin" valueType="num">
                                      <p:cBhvr>
                                        <p:cTn id="73" dur="500" fill="hold"/>
                                        <p:tgtEl>
                                          <p:spTgt spid="14"/>
                                        </p:tgtEl>
                                        <p:attrNameLst>
                                          <p:attrName>ppt_x</p:attrName>
                                        </p:attrNameLst>
                                      </p:cBhvr>
                                      <p:tavLst>
                                        <p:tav tm="0">
                                          <p:val>
                                            <p:strVal val="#ppt_x"/>
                                          </p:val>
                                        </p:tav>
                                        <p:tav tm="100000">
                                          <p:val>
                                            <p:strVal val="#ppt_x"/>
                                          </p:val>
                                        </p:tav>
                                      </p:tavLst>
                                    </p:anim>
                                    <p:anim calcmode="lin" valueType="num">
                                      <p:cBhvr>
                                        <p:cTn id="74" dur="500" decel="100000" fill="hold"/>
                                        <p:tgtEl>
                                          <p:spTgt spid="14"/>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p:tgtEl>
                                          <p:spTgt spid="15"/>
                                        </p:tgtEl>
                                      </p:cBhvr>
                                    </p:animEffect>
                                    <p:anim calcmode="lin" valueType="num">
                                      <p:cBhvr>
                                        <p:cTn id="78" dur="500" fill="hold"/>
                                        <p:tgtEl>
                                          <p:spTgt spid="15"/>
                                        </p:tgtEl>
                                        <p:attrNameLst>
                                          <p:attrName>ppt_x</p:attrName>
                                        </p:attrNameLst>
                                      </p:cBhvr>
                                      <p:tavLst>
                                        <p:tav tm="0">
                                          <p:val>
                                            <p:strVal val="#ppt_x"/>
                                          </p:val>
                                        </p:tav>
                                        <p:tav tm="100000">
                                          <p:val>
                                            <p:strVal val="#ppt_x"/>
                                          </p:val>
                                        </p:tav>
                                      </p:tavLst>
                                    </p:anim>
                                    <p:anim calcmode="lin" valueType="num">
                                      <p:cBhvr>
                                        <p:cTn id="79"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02</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WELCOME</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Before we start: 4 tiny agreements</a:t>
            </a:r>
            <a:endParaRPr lang="en-US" sz="3400" dirty="0"/>
          </a:p>
        </p:txBody>
      </p:sp>
      <p:sp>
        <p:nvSpPr>
          <p:cNvPr id="8" name="a1_card0"/>
          <p:cNvSpPr/>
          <p:nvPr/>
        </p:nvSpPr>
        <p:spPr>
          <a:xfrm>
            <a:off x="548640" y="2011680"/>
            <a:ext cx="2606040" cy="32918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ic0_c"/>
          <p:cNvSpPr/>
          <p:nvPr/>
        </p:nvSpPr>
        <p:spPr>
          <a:xfrm>
            <a:off x="868680" y="2331720"/>
            <a:ext cx="914400" cy="914400"/>
          </a:xfrm>
          <a:prstGeom prst="ellipse">
            <a:avLst/>
          </a:prstGeom>
          <a:solidFill>
            <a:srgbClr val="7C4DFF">
              <a:alpha val="20000"/>
            </a:srgbClr>
          </a:solidFill>
          <a:ln w="19050">
            <a:solidFill>
              <a:srgbClr val="7C4DFF"/>
            </a:solidFill>
            <a:prstDash val="solid"/>
          </a:ln>
        </p:spPr>
      </p:sp>
      <p:pic>
        <p:nvPicPr>
          <p:cNvPr id="10" name="a1_ic0_i" descr="preencoded.png">    </p:cNvPr>
          <p:cNvPicPr>
            <a:picLocks noChangeAspect="1"/>
          </p:cNvPicPr>
          <p:nvPr/>
        </p:nvPicPr>
        <p:blipFill>
          <a:blip r:embed="rId1"/>
          <a:stretch>
            <a:fillRect/>
          </a:stretch>
        </p:blipFill>
        <p:spPr>
          <a:xfrm>
            <a:off x="1106424" y="2569464"/>
            <a:ext cx="438912" cy="438912"/>
          </a:xfrm>
          <a:prstGeom prst="rect">
            <a:avLst/>
          </a:prstGeom>
        </p:spPr>
      </p:pic>
      <p:sp>
        <p:nvSpPr>
          <p:cNvPr id="11" name="a1_t0"/>
          <p:cNvSpPr txBox="1"/>
          <p:nvPr/>
        </p:nvSpPr>
        <p:spPr>
          <a:xfrm>
            <a:off x="868680" y="3474720"/>
            <a:ext cx="2011680" cy="73152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Camera on if you can</a:t>
            </a:r>
            <a:endParaRPr lang="en-US" sz="1900" dirty="0"/>
          </a:p>
        </p:txBody>
      </p:sp>
      <p:sp>
        <p:nvSpPr>
          <p:cNvPr id="12" name="a1_d0"/>
          <p:cNvSpPr txBox="1"/>
          <p:nvPr/>
        </p:nvSpPr>
        <p:spPr>
          <a:xfrm>
            <a:off x="868680" y="4251960"/>
            <a:ext cx="2057400" cy="9144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Teaching to faces beats teaching to initials.</a:t>
            </a:r>
            <a:endParaRPr lang="en-US" sz="1400" dirty="0"/>
          </a:p>
        </p:txBody>
      </p:sp>
      <p:sp>
        <p:nvSpPr>
          <p:cNvPr id="13" name="a2_card1"/>
          <p:cNvSpPr/>
          <p:nvPr/>
        </p:nvSpPr>
        <p:spPr>
          <a:xfrm>
            <a:off x="3383280" y="2011680"/>
            <a:ext cx="2606040" cy="32918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a2_ic1_c"/>
          <p:cNvSpPr/>
          <p:nvPr/>
        </p:nvSpPr>
        <p:spPr>
          <a:xfrm>
            <a:off x="3703320" y="2331720"/>
            <a:ext cx="914400" cy="914400"/>
          </a:xfrm>
          <a:prstGeom prst="ellipse">
            <a:avLst/>
          </a:prstGeom>
          <a:solidFill>
            <a:srgbClr val="2EE6A6">
              <a:alpha val="20000"/>
            </a:srgbClr>
          </a:solidFill>
          <a:ln w="19050">
            <a:solidFill>
              <a:srgbClr val="2EE6A6"/>
            </a:solidFill>
            <a:prstDash val="solid"/>
          </a:ln>
        </p:spPr>
      </p:sp>
      <p:pic>
        <p:nvPicPr>
          <p:cNvPr id="15" name="a2_ic1_i" descr="preencoded.png">    </p:cNvPr>
          <p:cNvPicPr>
            <a:picLocks noChangeAspect="1"/>
          </p:cNvPicPr>
          <p:nvPr/>
        </p:nvPicPr>
        <p:blipFill>
          <a:blip r:embed="rId2"/>
          <a:stretch>
            <a:fillRect/>
          </a:stretch>
        </p:blipFill>
        <p:spPr>
          <a:xfrm>
            <a:off x="3941064" y="2569464"/>
            <a:ext cx="438912" cy="438912"/>
          </a:xfrm>
          <a:prstGeom prst="rect">
            <a:avLst/>
          </a:prstGeom>
        </p:spPr>
      </p:pic>
      <p:sp>
        <p:nvSpPr>
          <p:cNvPr id="16" name="a2_t1"/>
          <p:cNvSpPr txBox="1"/>
          <p:nvPr/>
        </p:nvSpPr>
        <p:spPr>
          <a:xfrm>
            <a:off x="3703320" y="3474720"/>
            <a:ext cx="2011680" cy="73152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Chat is always open</a:t>
            </a:r>
            <a:endParaRPr lang="en-US" sz="1900" dirty="0"/>
          </a:p>
        </p:txBody>
      </p:sp>
      <p:sp>
        <p:nvSpPr>
          <p:cNvPr id="17" name="a2_d1"/>
          <p:cNvSpPr txBox="1"/>
          <p:nvPr/>
        </p:nvSpPr>
        <p:spPr>
          <a:xfrm>
            <a:off x="3703320" y="4251960"/>
            <a:ext cx="2057400" cy="9144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Drop questions anytime. I'll pause every ~12 minutes.</a:t>
            </a:r>
            <a:endParaRPr lang="en-US" sz="1400" dirty="0"/>
          </a:p>
        </p:txBody>
      </p:sp>
      <p:sp>
        <p:nvSpPr>
          <p:cNvPr id="18" name="a3_card2"/>
          <p:cNvSpPr/>
          <p:nvPr/>
        </p:nvSpPr>
        <p:spPr>
          <a:xfrm>
            <a:off x="6217920" y="2011680"/>
            <a:ext cx="2606040" cy="32918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9" name="a3_ic2_c"/>
          <p:cNvSpPr/>
          <p:nvPr/>
        </p:nvSpPr>
        <p:spPr>
          <a:xfrm>
            <a:off x="6537960" y="2331720"/>
            <a:ext cx="914400" cy="914400"/>
          </a:xfrm>
          <a:prstGeom prst="ellipse">
            <a:avLst/>
          </a:prstGeom>
          <a:solidFill>
            <a:srgbClr val="FFB547">
              <a:alpha val="20000"/>
            </a:srgbClr>
          </a:solidFill>
          <a:ln w="19050">
            <a:solidFill>
              <a:srgbClr val="FFB547"/>
            </a:solidFill>
            <a:prstDash val="solid"/>
          </a:ln>
        </p:spPr>
      </p:sp>
      <p:pic>
        <p:nvPicPr>
          <p:cNvPr id="20" name="a3_ic2_i" descr="preencoded.png">    </p:cNvPr>
          <p:cNvPicPr>
            <a:picLocks noChangeAspect="1"/>
          </p:cNvPicPr>
          <p:nvPr/>
        </p:nvPicPr>
        <p:blipFill>
          <a:blip r:embed="rId3"/>
          <a:stretch>
            <a:fillRect/>
          </a:stretch>
        </p:blipFill>
        <p:spPr>
          <a:xfrm>
            <a:off x="6775704" y="2569464"/>
            <a:ext cx="438912" cy="438912"/>
          </a:xfrm>
          <a:prstGeom prst="rect">
            <a:avLst/>
          </a:prstGeom>
        </p:spPr>
      </p:pic>
      <p:sp>
        <p:nvSpPr>
          <p:cNvPr id="21" name="a3_t2"/>
          <p:cNvSpPr txBox="1"/>
          <p:nvPr/>
        </p:nvSpPr>
        <p:spPr>
          <a:xfrm>
            <a:off x="6537960" y="3474720"/>
            <a:ext cx="2011680" cy="73152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Code along or just watch</a:t>
            </a:r>
            <a:endParaRPr lang="en-US" sz="1900" dirty="0"/>
          </a:p>
        </p:txBody>
      </p:sp>
      <p:sp>
        <p:nvSpPr>
          <p:cNvPr id="22" name="a3_d2"/>
          <p:cNvSpPr txBox="1"/>
          <p:nvPr/>
        </p:nvSpPr>
        <p:spPr>
          <a:xfrm>
            <a:off x="6537960" y="4251960"/>
            <a:ext cx="2057400" cy="9144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Everything is shared after class. Today watching is fine.</a:t>
            </a:r>
            <a:endParaRPr lang="en-US" sz="1400" dirty="0"/>
          </a:p>
        </p:txBody>
      </p:sp>
      <p:sp>
        <p:nvSpPr>
          <p:cNvPr id="23" name="a4_card3"/>
          <p:cNvSpPr/>
          <p:nvPr/>
        </p:nvSpPr>
        <p:spPr>
          <a:xfrm>
            <a:off x="9052560" y="2011680"/>
            <a:ext cx="2606040" cy="32918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4" name="a4_ic3_c"/>
          <p:cNvSpPr/>
          <p:nvPr/>
        </p:nvSpPr>
        <p:spPr>
          <a:xfrm>
            <a:off x="9372600" y="2331720"/>
            <a:ext cx="914400" cy="914400"/>
          </a:xfrm>
          <a:prstGeom prst="ellipse">
            <a:avLst/>
          </a:prstGeom>
          <a:solidFill>
            <a:srgbClr val="FF5C8A">
              <a:alpha val="20000"/>
            </a:srgbClr>
          </a:solidFill>
          <a:ln w="19050">
            <a:solidFill>
              <a:srgbClr val="FF5C8A"/>
            </a:solidFill>
            <a:prstDash val="solid"/>
          </a:ln>
        </p:spPr>
      </p:sp>
      <p:pic>
        <p:nvPicPr>
          <p:cNvPr id="25" name="a4_ic3_i" descr="preencoded.png">    </p:cNvPr>
          <p:cNvPicPr>
            <a:picLocks noChangeAspect="1"/>
          </p:cNvPicPr>
          <p:nvPr/>
        </p:nvPicPr>
        <p:blipFill>
          <a:blip r:embed="rId4"/>
          <a:stretch>
            <a:fillRect/>
          </a:stretch>
        </p:blipFill>
        <p:spPr>
          <a:xfrm>
            <a:off x="9610344" y="2569464"/>
            <a:ext cx="438912" cy="438912"/>
          </a:xfrm>
          <a:prstGeom prst="rect">
            <a:avLst/>
          </a:prstGeom>
        </p:spPr>
      </p:pic>
      <p:sp>
        <p:nvSpPr>
          <p:cNvPr id="26" name="a4_t3"/>
          <p:cNvSpPr txBox="1"/>
          <p:nvPr/>
        </p:nvSpPr>
        <p:spPr>
          <a:xfrm>
            <a:off x="9372600" y="3474720"/>
            <a:ext cx="2011680" cy="73152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No question is basic</a:t>
            </a:r>
            <a:endParaRPr lang="en-US" sz="1900" dirty="0"/>
          </a:p>
        </p:txBody>
      </p:sp>
      <p:sp>
        <p:nvSpPr>
          <p:cNvPr id="27" name="a4_d3"/>
          <p:cNvSpPr txBox="1"/>
          <p:nvPr/>
        </p:nvSpPr>
        <p:spPr>
          <a:xfrm>
            <a:off x="9372600" y="4251960"/>
            <a:ext cx="2057400" cy="9144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If you're wondering, 5 others are too.</a:t>
            </a:r>
            <a:endParaRPr lang="en-US" sz="1400" dirty="0"/>
          </a:p>
        </p:txBody>
      </p:sp>
      <p:sp>
        <p:nvSpPr>
          <p:cNvPr id="28" name="Text 22"/>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400" i="1" dirty="0">
                <a:solidFill>
                  <a:srgbClr val="6F63A0"/>
                </a:solidFill>
                <a:latin typeface="Calibri" pitchFamily="34" charset="0"/>
                <a:ea typeface="Calibri" pitchFamily="34" charset="-122"/>
                <a:cs typeface="Calibri" pitchFamily="34" charset="-120"/>
              </a:rPr>
              <a:t>Recording + slides + code will be shared after every session.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p:cTn id="53" dur="500" fill="hold"/>
                                        <p:tgtEl>
                                          <p:spTgt spid="17"/>
                                        </p:tgtEl>
                                        <p:attrNameLst>
                                          <p:attrName>ppt_x</p:attrName>
                                        </p:attrNameLst>
                                      </p:cBhvr>
                                      <p:tavLst>
                                        <p:tav tm="0">
                                          <p:val>
                                            <p:strVal val="#ppt_x"/>
                                          </p:val>
                                        </p:tav>
                                        <p:tav tm="100000">
                                          <p:val>
                                            <p:strVal val="#ppt_x"/>
                                          </p:val>
                                        </p:tav>
                                      </p:tavLst>
                                    </p:anim>
                                    <p:anim calcmode="lin" valueType="num">
                                      <p:cBhvr>
                                        <p:cTn id="54" dur="50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p:cTn id="60" dur="500" fill="hold"/>
                                        <p:tgtEl>
                                          <p:spTgt spid="18"/>
                                        </p:tgtEl>
                                        <p:attrNameLst>
                                          <p:attrName>ppt_x</p:attrName>
                                        </p:attrNameLst>
                                      </p:cBhvr>
                                      <p:tavLst>
                                        <p:tav tm="0">
                                          <p:val>
                                            <p:strVal val="#ppt_x"/>
                                          </p:val>
                                        </p:tav>
                                        <p:tav tm="100000">
                                          <p:val>
                                            <p:strVal val="#ppt_x"/>
                                          </p:val>
                                        </p:tav>
                                      </p:tavLst>
                                    </p:anim>
                                    <p:anim calcmode="lin" valueType="num">
                                      <p:cBhvr>
                                        <p:cTn id="61" dur="500" decel="1000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p:cTn id="65" dur="500" fill="hold"/>
                                        <p:tgtEl>
                                          <p:spTgt spid="19"/>
                                        </p:tgtEl>
                                        <p:attrNameLst>
                                          <p:attrName>ppt_x</p:attrName>
                                        </p:attrNameLst>
                                      </p:cBhvr>
                                      <p:tavLst>
                                        <p:tav tm="0">
                                          <p:val>
                                            <p:strVal val="#ppt_x"/>
                                          </p:val>
                                        </p:tav>
                                        <p:tav tm="100000">
                                          <p:val>
                                            <p:strVal val="#ppt_x"/>
                                          </p:val>
                                        </p:tav>
                                      </p:tavLst>
                                    </p:anim>
                                    <p:anim calcmode="lin" valueType="num">
                                      <p:cBhvr>
                                        <p:cTn id="66" dur="500" decel="1000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anim calcmode="lin" valueType="num">
                                      <p:cBhvr>
                                        <p:cTn id="70" dur="500" fill="hold"/>
                                        <p:tgtEl>
                                          <p:spTgt spid="20"/>
                                        </p:tgtEl>
                                        <p:attrNameLst>
                                          <p:attrName>ppt_x</p:attrName>
                                        </p:attrNameLst>
                                      </p:cBhvr>
                                      <p:tavLst>
                                        <p:tav tm="0">
                                          <p:val>
                                            <p:strVal val="#ppt_x"/>
                                          </p:val>
                                        </p:tav>
                                        <p:tav tm="100000">
                                          <p:val>
                                            <p:strVal val="#ppt_x"/>
                                          </p:val>
                                        </p:tav>
                                      </p:tavLst>
                                    </p:anim>
                                    <p:anim calcmode="lin" valueType="num">
                                      <p:cBhvr>
                                        <p:cTn id="71" dur="500" decel="10000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anim calcmode="lin" valueType="num">
                                      <p:cBhvr>
                                        <p:cTn id="75" dur="500" fill="hold"/>
                                        <p:tgtEl>
                                          <p:spTgt spid="21"/>
                                        </p:tgtEl>
                                        <p:attrNameLst>
                                          <p:attrName>ppt_x</p:attrName>
                                        </p:attrNameLst>
                                      </p:cBhvr>
                                      <p:tavLst>
                                        <p:tav tm="0">
                                          <p:val>
                                            <p:strVal val="#ppt_x"/>
                                          </p:val>
                                        </p:tav>
                                        <p:tav tm="100000">
                                          <p:val>
                                            <p:strVal val="#ppt_x"/>
                                          </p:val>
                                        </p:tav>
                                      </p:tavLst>
                                    </p:anim>
                                    <p:anim calcmode="lin" valueType="num">
                                      <p:cBhvr>
                                        <p:cTn id="76" dur="500" decel="100000" fill="hold"/>
                                        <p:tgtEl>
                                          <p:spTgt spid="21"/>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anim calcmode="lin" valueType="num">
                                      <p:cBhvr>
                                        <p:cTn id="80" dur="500" fill="hold"/>
                                        <p:tgtEl>
                                          <p:spTgt spid="22"/>
                                        </p:tgtEl>
                                        <p:attrNameLst>
                                          <p:attrName>ppt_x</p:attrName>
                                        </p:attrNameLst>
                                      </p:cBhvr>
                                      <p:tavLst>
                                        <p:tav tm="0">
                                          <p:val>
                                            <p:strVal val="#ppt_x"/>
                                          </p:val>
                                        </p:tav>
                                        <p:tav tm="100000">
                                          <p:val>
                                            <p:strVal val="#ppt_x"/>
                                          </p:val>
                                        </p:tav>
                                      </p:tavLst>
                                    </p:anim>
                                    <p:anim calcmode="lin" valueType="num">
                                      <p:cBhvr>
                                        <p:cTn id="81" dur="5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p:cTn id="87" dur="500" fill="hold"/>
                                        <p:tgtEl>
                                          <p:spTgt spid="23"/>
                                        </p:tgtEl>
                                        <p:attrNameLst>
                                          <p:attrName>ppt_x</p:attrName>
                                        </p:attrNameLst>
                                      </p:cBhvr>
                                      <p:tavLst>
                                        <p:tav tm="0">
                                          <p:val>
                                            <p:strVal val="#ppt_x"/>
                                          </p:val>
                                        </p:tav>
                                        <p:tav tm="100000">
                                          <p:val>
                                            <p:strVal val="#ppt_x"/>
                                          </p:val>
                                        </p:tav>
                                      </p:tavLst>
                                    </p:anim>
                                    <p:anim calcmode="lin" valueType="num">
                                      <p:cBhvr>
                                        <p:cTn id="88" dur="500" decel="1000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anim calcmode="lin" valueType="num">
                                      <p:cBhvr>
                                        <p:cTn id="92" dur="500" fill="hold"/>
                                        <p:tgtEl>
                                          <p:spTgt spid="24"/>
                                        </p:tgtEl>
                                        <p:attrNameLst>
                                          <p:attrName>ppt_x</p:attrName>
                                        </p:attrNameLst>
                                      </p:cBhvr>
                                      <p:tavLst>
                                        <p:tav tm="0">
                                          <p:val>
                                            <p:strVal val="#ppt_x"/>
                                          </p:val>
                                        </p:tav>
                                        <p:tav tm="100000">
                                          <p:val>
                                            <p:strVal val="#ppt_x"/>
                                          </p:val>
                                        </p:tav>
                                      </p:tavLst>
                                    </p:anim>
                                    <p:anim calcmode="lin" valueType="num">
                                      <p:cBhvr>
                                        <p:cTn id="93" dur="500" decel="1000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anim calcmode="lin" valueType="num">
                                      <p:cBhvr>
                                        <p:cTn id="97" dur="500" fill="hold"/>
                                        <p:tgtEl>
                                          <p:spTgt spid="25"/>
                                        </p:tgtEl>
                                        <p:attrNameLst>
                                          <p:attrName>ppt_x</p:attrName>
                                        </p:attrNameLst>
                                      </p:cBhvr>
                                      <p:tavLst>
                                        <p:tav tm="0">
                                          <p:val>
                                            <p:strVal val="#ppt_x"/>
                                          </p:val>
                                        </p:tav>
                                        <p:tav tm="100000">
                                          <p:val>
                                            <p:strVal val="#ppt_x"/>
                                          </p:val>
                                        </p:tav>
                                      </p:tavLst>
                                    </p:anim>
                                    <p:anim calcmode="lin" valueType="num">
                                      <p:cBhvr>
                                        <p:cTn id="98" dur="500" decel="1000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anim calcmode="lin" valueType="num">
                                      <p:cBhvr>
                                        <p:cTn id="102" dur="500" fill="hold"/>
                                        <p:tgtEl>
                                          <p:spTgt spid="26"/>
                                        </p:tgtEl>
                                        <p:attrNameLst>
                                          <p:attrName>ppt_x</p:attrName>
                                        </p:attrNameLst>
                                      </p:cBhvr>
                                      <p:tavLst>
                                        <p:tav tm="0">
                                          <p:val>
                                            <p:strVal val="#ppt_x"/>
                                          </p:val>
                                        </p:tav>
                                        <p:tav tm="100000">
                                          <p:val>
                                            <p:strVal val="#ppt_x"/>
                                          </p:val>
                                        </p:tav>
                                      </p:tavLst>
                                    </p:anim>
                                    <p:anim calcmode="lin" valueType="num">
                                      <p:cBhvr>
                                        <p:cTn id="103" dur="500" decel="1000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00"/>
                                        <p:tgtEl>
                                          <p:spTgt spid="27"/>
                                        </p:tgtEl>
                                      </p:cBhvr>
                                    </p:animEffect>
                                    <p:anim calcmode="lin" valueType="num">
                                      <p:cBhvr>
                                        <p:cTn id="107" dur="500" fill="hold"/>
                                        <p:tgtEl>
                                          <p:spTgt spid="27"/>
                                        </p:tgtEl>
                                        <p:attrNameLst>
                                          <p:attrName>ppt_x</p:attrName>
                                        </p:attrNameLst>
                                      </p:cBhvr>
                                      <p:tavLst>
                                        <p:tav tm="0">
                                          <p:val>
                                            <p:strVal val="#ppt_x"/>
                                          </p:val>
                                        </p:tav>
                                        <p:tav tm="100000">
                                          <p:val>
                                            <p:strVal val="#ppt_x"/>
                                          </p:val>
                                        </p:tav>
                                      </p:tavLst>
                                    </p:anim>
                                    <p:anim calcmode="lin" valueType="num">
                                      <p:cBhvr>
                                        <p:cTn id="108"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03</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QUICK POLL · TYPE THE NUMBER IN CHAT</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Where are you on your AI journey?</a:t>
            </a:r>
            <a:endParaRPr lang="en-US" sz="3400" dirty="0"/>
          </a:p>
        </p:txBody>
      </p:sp>
      <p:sp>
        <p:nvSpPr>
          <p:cNvPr id="8" name="a1_o0"/>
          <p:cNvSpPr/>
          <p:nvPr/>
        </p:nvSpPr>
        <p:spPr>
          <a:xfrm>
            <a:off x="548640" y="1828800"/>
            <a:ext cx="6949440" cy="868680"/>
          </a:xfrm>
          <a:prstGeom prst="roundRect">
            <a:avLst>
              <a:gd name="adj" fmla="val 12632"/>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on0"/>
          <p:cNvSpPr txBox="1"/>
          <p:nvPr/>
        </p:nvSpPr>
        <p:spPr>
          <a:xfrm>
            <a:off x="731520" y="1938528"/>
            <a:ext cx="640080" cy="640080"/>
          </a:xfrm>
          <a:prstGeom prst="rect">
            <a:avLst/>
          </a:prstGeom>
          <a:noFill/>
          <a:ln/>
        </p:spPr>
        <p:txBody>
          <a:bodyPr wrap="square" lIns="0" tIns="0" rIns="0" bIns="0" rtlCol="0" anchor="ctr"/>
          <a:lstStyle/>
          <a:p>
            <a:pPr algn="ctr" indent="0" marL="0">
              <a:buNone/>
            </a:pPr>
            <a:r>
              <a:rPr lang="en-US" sz="3000" b="1" dirty="0">
                <a:solidFill>
                  <a:srgbClr val="4FC3F7"/>
                </a:solidFill>
                <a:latin typeface="Arial" pitchFamily="34" charset="0"/>
                <a:ea typeface="Arial" pitchFamily="34" charset="-122"/>
                <a:cs typeface="Arial" pitchFamily="34" charset="-120"/>
              </a:rPr>
              <a:t>1</a:t>
            </a:r>
            <a:endParaRPr lang="en-US" sz="3000" dirty="0"/>
          </a:p>
        </p:txBody>
      </p:sp>
      <p:sp>
        <p:nvSpPr>
          <p:cNvPr id="10" name="a1_ot0"/>
          <p:cNvSpPr txBox="1"/>
          <p:nvPr/>
        </p:nvSpPr>
        <p:spPr>
          <a:xfrm>
            <a:off x="1554480" y="1938528"/>
            <a:ext cx="512064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I've never called an AI API</a:t>
            </a:r>
            <a:endParaRPr lang="en-US" sz="2000" dirty="0"/>
          </a:p>
        </p:txBody>
      </p:sp>
      <p:pic>
        <p:nvPicPr>
          <p:cNvPr id="11" name="a1_oi0" descr="preencoded.png">    </p:cNvPr>
          <p:cNvPicPr>
            <a:picLocks noChangeAspect="1"/>
          </p:cNvPicPr>
          <p:nvPr/>
        </p:nvPicPr>
        <p:blipFill>
          <a:blip r:embed="rId1"/>
          <a:stretch>
            <a:fillRect/>
          </a:stretch>
        </p:blipFill>
        <p:spPr>
          <a:xfrm>
            <a:off x="6812280" y="2057400"/>
            <a:ext cx="411480" cy="411480"/>
          </a:xfrm>
          <a:prstGeom prst="rect">
            <a:avLst/>
          </a:prstGeom>
        </p:spPr>
      </p:pic>
      <p:sp>
        <p:nvSpPr>
          <p:cNvPr id="12" name="a1_o1"/>
          <p:cNvSpPr/>
          <p:nvPr/>
        </p:nvSpPr>
        <p:spPr>
          <a:xfrm>
            <a:off x="548640" y="2880360"/>
            <a:ext cx="6949440" cy="868680"/>
          </a:xfrm>
          <a:prstGeom prst="roundRect">
            <a:avLst>
              <a:gd name="adj" fmla="val 12632"/>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3" name="a1_on1"/>
          <p:cNvSpPr txBox="1"/>
          <p:nvPr/>
        </p:nvSpPr>
        <p:spPr>
          <a:xfrm>
            <a:off x="731520" y="2990088"/>
            <a:ext cx="640080" cy="640080"/>
          </a:xfrm>
          <a:prstGeom prst="rect">
            <a:avLst/>
          </a:prstGeom>
          <a:noFill/>
          <a:ln/>
        </p:spPr>
        <p:txBody>
          <a:bodyPr wrap="square" lIns="0" tIns="0" rIns="0" bIns="0" rtlCol="0" anchor="ctr"/>
          <a:lstStyle/>
          <a:p>
            <a:pPr algn="ctr" indent="0" marL="0">
              <a:buNone/>
            </a:pPr>
            <a:r>
              <a:rPr lang="en-US" sz="3000" b="1" dirty="0">
                <a:solidFill>
                  <a:srgbClr val="2EE6A6"/>
                </a:solidFill>
                <a:latin typeface="Arial" pitchFamily="34" charset="0"/>
                <a:ea typeface="Arial" pitchFamily="34" charset="-122"/>
                <a:cs typeface="Arial" pitchFamily="34" charset="-120"/>
              </a:rPr>
              <a:t>2</a:t>
            </a:r>
            <a:endParaRPr lang="en-US" sz="3000" dirty="0"/>
          </a:p>
        </p:txBody>
      </p:sp>
      <p:sp>
        <p:nvSpPr>
          <p:cNvPr id="14" name="a1_ot1"/>
          <p:cNvSpPr txBox="1"/>
          <p:nvPr/>
        </p:nvSpPr>
        <p:spPr>
          <a:xfrm>
            <a:off x="1554480" y="2990088"/>
            <a:ext cx="512064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 use ChatGPT / Copilot daily</a:t>
            </a:r>
            <a:endParaRPr lang="en-US" sz="2000" dirty="0"/>
          </a:p>
        </p:txBody>
      </p:sp>
      <p:pic>
        <p:nvPicPr>
          <p:cNvPr id="15" name="a1_oi1" descr="preencoded.png">    </p:cNvPr>
          <p:cNvPicPr>
            <a:picLocks noChangeAspect="1"/>
          </p:cNvPicPr>
          <p:nvPr/>
        </p:nvPicPr>
        <p:blipFill>
          <a:blip r:embed="rId2"/>
          <a:stretch>
            <a:fillRect/>
          </a:stretch>
        </p:blipFill>
        <p:spPr>
          <a:xfrm>
            <a:off x="6812280" y="3108960"/>
            <a:ext cx="411480" cy="411480"/>
          </a:xfrm>
          <a:prstGeom prst="rect">
            <a:avLst/>
          </a:prstGeom>
        </p:spPr>
      </p:pic>
      <p:sp>
        <p:nvSpPr>
          <p:cNvPr id="16" name="a1_o2"/>
          <p:cNvSpPr/>
          <p:nvPr/>
        </p:nvSpPr>
        <p:spPr>
          <a:xfrm>
            <a:off x="548640" y="3931920"/>
            <a:ext cx="6949440" cy="868680"/>
          </a:xfrm>
          <a:prstGeom prst="roundRect">
            <a:avLst>
              <a:gd name="adj" fmla="val 12632"/>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7" name="a1_on2"/>
          <p:cNvSpPr txBox="1"/>
          <p:nvPr/>
        </p:nvSpPr>
        <p:spPr>
          <a:xfrm>
            <a:off x="731520" y="4041648"/>
            <a:ext cx="640080" cy="640080"/>
          </a:xfrm>
          <a:prstGeom prst="rect">
            <a:avLst/>
          </a:prstGeom>
          <a:noFill/>
          <a:ln/>
        </p:spPr>
        <p:txBody>
          <a:bodyPr wrap="square" lIns="0" tIns="0" rIns="0" bIns="0" rtlCol="0" anchor="ctr"/>
          <a:lstStyle/>
          <a:p>
            <a:pPr algn="ctr" indent="0" marL="0">
              <a:buNone/>
            </a:pPr>
            <a:r>
              <a:rPr lang="en-US" sz="3000" b="1" dirty="0">
                <a:solidFill>
                  <a:srgbClr val="FFB547"/>
                </a:solidFill>
                <a:latin typeface="Arial" pitchFamily="34" charset="0"/>
                <a:ea typeface="Arial" pitchFamily="34" charset="-122"/>
                <a:cs typeface="Arial" pitchFamily="34" charset="-120"/>
              </a:rPr>
              <a:t>3</a:t>
            </a:r>
            <a:endParaRPr lang="en-US" sz="3000" dirty="0"/>
          </a:p>
        </p:txBody>
      </p:sp>
      <p:sp>
        <p:nvSpPr>
          <p:cNvPr id="18" name="a1_ot2"/>
          <p:cNvSpPr txBox="1"/>
          <p:nvPr/>
        </p:nvSpPr>
        <p:spPr>
          <a:xfrm>
            <a:off x="1554480" y="4041648"/>
            <a:ext cx="512064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I've called an LLM API from code</a:t>
            </a:r>
            <a:endParaRPr lang="en-US" sz="2000" dirty="0"/>
          </a:p>
        </p:txBody>
      </p:sp>
      <p:pic>
        <p:nvPicPr>
          <p:cNvPr id="19" name="a1_oi2" descr="preencoded.png">    </p:cNvPr>
          <p:cNvPicPr>
            <a:picLocks noChangeAspect="1"/>
          </p:cNvPicPr>
          <p:nvPr/>
        </p:nvPicPr>
        <p:blipFill>
          <a:blip r:embed="rId3"/>
          <a:stretch>
            <a:fillRect/>
          </a:stretch>
        </p:blipFill>
        <p:spPr>
          <a:xfrm>
            <a:off x="6812280" y="4160520"/>
            <a:ext cx="411480" cy="411480"/>
          </a:xfrm>
          <a:prstGeom prst="rect">
            <a:avLst/>
          </a:prstGeom>
        </p:spPr>
      </p:pic>
      <p:sp>
        <p:nvSpPr>
          <p:cNvPr id="20" name="a1_o3"/>
          <p:cNvSpPr/>
          <p:nvPr/>
        </p:nvSpPr>
        <p:spPr>
          <a:xfrm>
            <a:off x="548640" y="4983480"/>
            <a:ext cx="6949440" cy="868680"/>
          </a:xfrm>
          <a:prstGeom prst="roundRect">
            <a:avLst>
              <a:gd name="adj" fmla="val 12632"/>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1" name="a1_on3"/>
          <p:cNvSpPr txBox="1"/>
          <p:nvPr/>
        </p:nvSpPr>
        <p:spPr>
          <a:xfrm>
            <a:off x="731520" y="5093208"/>
            <a:ext cx="640080" cy="640080"/>
          </a:xfrm>
          <a:prstGeom prst="rect">
            <a:avLst/>
          </a:prstGeom>
          <a:noFill/>
          <a:ln/>
        </p:spPr>
        <p:txBody>
          <a:bodyPr wrap="square" lIns="0" tIns="0" rIns="0" bIns="0" rtlCol="0" anchor="ctr"/>
          <a:lstStyle/>
          <a:p>
            <a:pPr algn="ctr" indent="0" marL="0">
              <a:buNone/>
            </a:pPr>
            <a:r>
              <a:rPr lang="en-US" sz="3000" b="1" dirty="0">
                <a:solidFill>
                  <a:srgbClr val="FF5C8A"/>
                </a:solidFill>
                <a:latin typeface="Arial" pitchFamily="34" charset="0"/>
                <a:ea typeface="Arial" pitchFamily="34" charset="-122"/>
                <a:cs typeface="Arial" pitchFamily="34" charset="-120"/>
              </a:rPr>
              <a:t>4</a:t>
            </a:r>
            <a:endParaRPr lang="en-US" sz="3000" dirty="0"/>
          </a:p>
        </p:txBody>
      </p:sp>
      <p:sp>
        <p:nvSpPr>
          <p:cNvPr id="22" name="a1_ot3"/>
          <p:cNvSpPr txBox="1"/>
          <p:nvPr/>
        </p:nvSpPr>
        <p:spPr>
          <a:xfrm>
            <a:off x="1554480" y="5093208"/>
            <a:ext cx="512064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I've shipped an AI feature to prod</a:t>
            </a:r>
            <a:endParaRPr lang="en-US" sz="2000" dirty="0"/>
          </a:p>
        </p:txBody>
      </p:sp>
      <p:pic>
        <p:nvPicPr>
          <p:cNvPr id="23" name="a1_oi3" descr="preencoded.png">    </p:cNvPr>
          <p:cNvPicPr>
            <a:picLocks noChangeAspect="1"/>
          </p:cNvPicPr>
          <p:nvPr/>
        </p:nvPicPr>
        <p:blipFill>
          <a:blip r:embed="rId4"/>
          <a:stretch>
            <a:fillRect/>
          </a:stretch>
        </p:blipFill>
        <p:spPr>
          <a:xfrm>
            <a:off x="6812280" y="5212080"/>
            <a:ext cx="411480" cy="411480"/>
          </a:xfrm>
          <a:prstGeom prst="rect">
            <a:avLst/>
          </a:prstGeom>
        </p:spPr>
      </p:pic>
      <p:sp>
        <p:nvSpPr>
          <p:cNvPr id="24" name="a2_side"/>
          <p:cNvSpPr/>
          <p:nvPr/>
        </p:nvSpPr>
        <p:spPr>
          <a:xfrm>
            <a:off x="8046720" y="1828800"/>
            <a:ext cx="3611880" cy="4023360"/>
          </a:xfrm>
          <a:prstGeom prst="roundRect">
            <a:avLst>
              <a:gd name="adj" fmla="val 3038"/>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5" name="a2_st"/>
          <p:cNvSpPr txBox="1"/>
          <p:nvPr/>
        </p:nvSpPr>
        <p:spPr>
          <a:xfrm>
            <a:off x="8366760" y="2148840"/>
            <a:ext cx="3017520" cy="822960"/>
          </a:xfrm>
          <a:prstGeom prst="rect">
            <a:avLst/>
          </a:prstGeom>
          <a:noFill/>
          <a:ln/>
        </p:spPr>
        <p:txBody>
          <a:bodyPr wrap="square" lIns="0" tIns="0" rIns="0" bIns="0" rtlCol="0" anchor="t"/>
          <a:lstStyle/>
          <a:p>
            <a:pPr indent="0" marL="0">
              <a:buNone/>
            </a:pPr>
            <a:r>
              <a:rPr lang="en-US" sz="2200" b="1" dirty="0">
                <a:solidFill>
                  <a:srgbClr val="2EE6A6"/>
                </a:solidFill>
                <a:latin typeface="Arial" pitchFamily="34" charset="0"/>
                <a:ea typeface="Arial" pitchFamily="34" charset="-122"/>
                <a:cs typeface="Arial" pitchFamily="34" charset="-120"/>
              </a:rPr>
              <a:t>All four are welcome here.</a:t>
            </a:r>
            <a:endParaRPr lang="en-US" sz="2200" dirty="0"/>
          </a:p>
        </p:txBody>
      </p:sp>
      <p:sp>
        <p:nvSpPr>
          <p:cNvPr id="26" name="a2_sb"/>
          <p:cNvSpPr txBox="1"/>
          <p:nvPr/>
        </p:nvSpPr>
        <p:spPr>
          <a:xfrm>
            <a:off x="8366760" y="3063240"/>
            <a:ext cx="3017520" cy="2651760"/>
          </a:xfrm>
          <a:prstGeom prst="rect">
            <a:avLst/>
          </a:prstGeom>
          <a:noFill/>
          <a:ln/>
        </p:spPr>
        <p:txBody>
          <a:bodyPr wrap="square" lIns="0" tIns="0" rIns="0" bIns="0" rtlCol="0" anchor="t"/>
          <a:lstStyle/>
          <a:p>
            <a:pPr indent="0" marL="0">
              <a:buNone/>
            </a:pPr>
            <a:r>
              <a:rPr lang="en-US" sz="1500" dirty="0">
                <a:solidFill>
                  <a:srgbClr val="E9E4FF"/>
                </a:solidFill>
                <a:latin typeface="Calibri" pitchFamily="34" charset="0"/>
                <a:ea typeface="Calibri" pitchFamily="34" charset="-122"/>
                <a:cs typeface="Calibri" pitchFamily="34" charset="-120"/>
              </a:rPr>
              <a:t>If you're a 1, by the end of this hour you'll have seen a working LLM call in C#.</a:t>
            </a:r>
            <a:endParaRPr lang="en-US" sz="1500" dirty="0"/>
          </a:p>
          <a:p>
            <a:pPr indent="0" marL="0">
              <a:buNone/>
            </a:pPr>
            <a:endParaRPr lang="en-US" sz="1500" dirty="0"/>
          </a:p>
          <a:p>
            <a:pPr indent="0" marL="0">
              <a:buNone/>
            </a:pPr>
            <a:r>
              <a:rPr lang="en-US" sz="1500" dirty="0">
                <a:solidFill>
                  <a:srgbClr val="E9E4FF"/>
                </a:solidFill>
                <a:latin typeface="Calibri" pitchFamily="34" charset="0"/>
                <a:ea typeface="Calibri" pitchFamily="34" charset="-122"/>
                <a:cs typeface="Calibri" pitchFamily="34" charset="-120"/>
              </a:rPr>
              <a:t>If you're a 4, today is about sharpening the mental model we'll build 17 more sessions on.</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stCondLst>
                      <p:childTnLst>
                        <p:par>
                          <p:cTn id="8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anim calcmode="lin" valueType="num">
                                      <p:cBhvr>
                                        <p:cTn id="66" dur="500" fill="hold"/>
                                        <p:tgtEl>
                                          <p:spTgt spid="20"/>
                                        </p:tgtEl>
                                        <p:attrNameLst>
                                          <p:attrName>ppt_x</p:attrName>
                                        </p:attrNameLst>
                                      </p:cBhvr>
                                      <p:tavLst>
                                        <p:tav tm="0">
                                          <p:val>
                                            <p:strVal val="#ppt_x"/>
                                          </p:val>
                                        </p:tav>
                                        <p:tav tm="100000">
                                          <p:val>
                                            <p:strVal val="#ppt_x"/>
                                          </p:val>
                                        </p:tav>
                                      </p:tavLst>
                                    </p:anim>
                                    <p:anim calcmode="lin" valueType="num">
                                      <p:cBhvr>
                                        <p:cTn id="67" dur="500" decel="100000" fill="hold"/>
                                        <p:tgtEl>
                                          <p:spTgt spid="20"/>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anim calcmode="lin" valueType="num">
                                      <p:cBhvr>
                                        <p:cTn id="71" dur="500" fill="hold"/>
                                        <p:tgtEl>
                                          <p:spTgt spid="21"/>
                                        </p:tgtEl>
                                        <p:attrNameLst>
                                          <p:attrName>ppt_x</p:attrName>
                                        </p:attrNameLst>
                                      </p:cBhvr>
                                      <p:tavLst>
                                        <p:tav tm="0">
                                          <p:val>
                                            <p:strVal val="#ppt_x"/>
                                          </p:val>
                                        </p:tav>
                                        <p:tav tm="100000">
                                          <p:val>
                                            <p:strVal val="#ppt_x"/>
                                          </p:val>
                                        </p:tav>
                                      </p:tavLst>
                                    </p:anim>
                                    <p:anim calcmode="lin" valueType="num">
                                      <p:cBhvr>
                                        <p:cTn id="72" dur="500" decel="100000" fill="hold"/>
                                        <p:tgtEl>
                                          <p:spTgt spid="21"/>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p:cTn id="76" dur="500" fill="hold"/>
                                        <p:tgtEl>
                                          <p:spTgt spid="22"/>
                                        </p:tgtEl>
                                        <p:attrNameLst>
                                          <p:attrName>ppt_x</p:attrName>
                                        </p:attrNameLst>
                                      </p:cBhvr>
                                      <p:tavLst>
                                        <p:tav tm="0">
                                          <p:val>
                                            <p:strVal val="#ppt_x"/>
                                          </p:val>
                                        </p:tav>
                                        <p:tav tm="100000">
                                          <p:val>
                                            <p:strVal val="#ppt_x"/>
                                          </p:val>
                                        </p:tav>
                                      </p:tavLst>
                                    </p:anim>
                                    <p:anim calcmode="lin" valueType="num">
                                      <p:cBhvr>
                                        <p:cTn id="77" dur="500" decel="100000" fill="hold"/>
                                        <p:tgtEl>
                                          <p:spTgt spid="22"/>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500"/>
                                        <p:tgtEl>
                                          <p:spTgt spid="23"/>
                                        </p:tgtEl>
                                      </p:cBhvr>
                                    </p:animEffect>
                                    <p:anim calcmode="lin" valueType="num">
                                      <p:cBhvr>
                                        <p:cTn id="81" dur="500" fill="hold"/>
                                        <p:tgtEl>
                                          <p:spTgt spid="23"/>
                                        </p:tgtEl>
                                        <p:attrNameLst>
                                          <p:attrName>ppt_x</p:attrName>
                                        </p:attrNameLst>
                                      </p:cBhvr>
                                      <p:tavLst>
                                        <p:tav tm="0">
                                          <p:val>
                                            <p:strVal val="#ppt_x"/>
                                          </p:val>
                                        </p:tav>
                                        <p:tav tm="100000">
                                          <p:val>
                                            <p:strVal val="#ppt_x"/>
                                          </p:val>
                                        </p:tav>
                                      </p:tavLst>
                                    </p:anim>
                                    <p:anim calcmode="lin" valueType="num">
                                      <p:cBhvr>
                                        <p:cTn id="82"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anim calcmode="lin" valueType="num">
                                      <p:cBhvr>
                                        <p:cTn id="88" dur="500" fill="hold"/>
                                        <p:tgtEl>
                                          <p:spTgt spid="24"/>
                                        </p:tgtEl>
                                        <p:attrNameLst>
                                          <p:attrName>ppt_x</p:attrName>
                                        </p:attrNameLst>
                                      </p:cBhvr>
                                      <p:tavLst>
                                        <p:tav tm="0">
                                          <p:val>
                                            <p:strVal val="#ppt_x"/>
                                          </p:val>
                                        </p:tav>
                                        <p:tav tm="100000">
                                          <p:val>
                                            <p:strVal val="#ppt_x"/>
                                          </p:val>
                                        </p:tav>
                                      </p:tavLst>
                                    </p:anim>
                                    <p:anim calcmode="lin" valueType="num">
                                      <p:cBhvr>
                                        <p:cTn id="89" dur="500" decel="1000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04</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NEXT 6 WEEKS</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From one HTTP call to your own agent</a:t>
            </a:r>
            <a:endParaRPr lang="en-US" sz="3400" dirty="0"/>
          </a:p>
        </p:txBody>
      </p:sp>
      <p:sp>
        <p:nvSpPr>
          <p:cNvPr id="8" name="Shape 6"/>
          <p:cNvSpPr/>
          <p:nvPr/>
        </p:nvSpPr>
        <p:spPr>
          <a:xfrm>
            <a:off x="1097280" y="3063240"/>
            <a:ext cx="9966960" cy="0"/>
          </a:xfrm>
          <a:prstGeom prst="line">
            <a:avLst/>
          </a:prstGeom>
          <a:noFill/>
          <a:ln w="38100">
            <a:solidFill>
              <a:srgbClr val="3A2F6B"/>
            </a:solidFill>
            <a:prstDash val="dash"/>
          </a:ln>
        </p:spPr>
      </p:sp>
      <p:sp>
        <p:nvSpPr>
          <p:cNvPr id="9" name="a1_m0_c"/>
          <p:cNvSpPr/>
          <p:nvPr/>
        </p:nvSpPr>
        <p:spPr>
          <a:xfrm>
            <a:off x="914400" y="2514600"/>
            <a:ext cx="1097280" cy="1097280"/>
          </a:xfrm>
          <a:prstGeom prst="ellipse">
            <a:avLst/>
          </a:prstGeom>
          <a:solidFill>
            <a:srgbClr val="2EE6A6"/>
          </a:solidFill>
          <a:ln w="19050">
            <a:solidFill>
              <a:srgbClr val="2EE6A6"/>
            </a:solidFill>
            <a:prstDash val="solid"/>
          </a:ln>
        </p:spPr>
      </p:sp>
      <p:pic>
        <p:nvPicPr>
          <p:cNvPr id="10" name="a1_m0_i" descr="preencoded.png">    </p:cNvPr>
          <p:cNvPicPr>
            <a:picLocks noChangeAspect="1"/>
          </p:cNvPicPr>
          <p:nvPr/>
        </p:nvPicPr>
        <p:blipFill>
          <a:blip r:embed="rId1"/>
          <a:stretch>
            <a:fillRect/>
          </a:stretch>
        </p:blipFill>
        <p:spPr>
          <a:xfrm>
            <a:off x="1199693" y="2799893"/>
            <a:ext cx="526694" cy="526694"/>
          </a:xfrm>
          <a:prstGeom prst="rect">
            <a:avLst/>
          </a:prstGeom>
        </p:spPr>
      </p:pic>
      <p:sp>
        <p:nvSpPr>
          <p:cNvPr id="11" name="a1_mm0"/>
          <p:cNvSpPr txBox="1"/>
          <p:nvPr/>
        </p:nvSpPr>
        <p:spPr>
          <a:xfrm>
            <a:off x="548640" y="3749040"/>
            <a:ext cx="1828800" cy="320040"/>
          </a:xfrm>
          <a:prstGeom prst="rect">
            <a:avLst/>
          </a:prstGeom>
          <a:noFill/>
          <a:ln/>
        </p:spPr>
        <p:txBody>
          <a:bodyPr wrap="square" lIns="0" tIns="0" rIns="0" bIns="0" rtlCol="0" anchor="t"/>
          <a:lstStyle/>
          <a:p>
            <a:pPr algn="ctr" indent="0" marL="0">
              <a:buNone/>
            </a:pPr>
            <a:r>
              <a:rPr lang="en-US" sz="1300" b="1" dirty="0">
                <a:solidFill>
                  <a:srgbClr val="2EE6A6"/>
                </a:solidFill>
                <a:latin typeface="Arial" pitchFamily="34" charset="0"/>
                <a:ea typeface="Arial" pitchFamily="34" charset="-122"/>
                <a:cs typeface="Arial" pitchFamily="34" charset="-120"/>
              </a:rPr>
              <a:t>M1</a:t>
            </a:r>
            <a:endParaRPr lang="en-US" sz="1300" dirty="0"/>
          </a:p>
        </p:txBody>
      </p:sp>
      <p:sp>
        <p:nvSpPr>
          <p:cNvPr id="12" name="a1_mt0"/>
          <p:cNvSpPr txBox="1"/>
          <p:nvPr/>
        </p:nvSpPr>
        <p:spPr>
          <a:xfrm>
            <a:off x="54864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Foundations</a:t>
            </a:r>
            <a:endParaRPr lang="en-US" sz="1800" dirty="0"/>
          </a:p>
        </p:txBody>
      </p:sp>
      <p:sp>
        <p:nvSpPr>
          <p:cNvPr id="13" name="a1_md0"/>
          <p:cNvSpPr txBox="1"/>
          <p:nvPr/>
        </p:nvSpPr>
        <p:spPr>
          <a:xfrm>
            <a:off x="54864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LLMs · Prompts · M.E.AI</a:t>
            </a:r>
            <a:endParaRPr lang="en-US" sz="1300" dirty="0"/>
          </a:p>
        </p:txBody>
      </p:sp>
      <p:sp>
        <p:nvSpPr>
          <p:cNvPr id="14" name="a2_m1_c"/>
          <p:cNvSpPr/>
          <p:nvPr/>
        </p:nvSpPr>
        <p:spPr>
          <a:xfrm>
            <a:off x="2834640" y="2514600"/>
            <a:ext cx="1097280" cy="1097280"/>
          </a:xfrm>
          <a:prstGeom prst="ellipse">
            <a:avLst/>
          </a:prstGeom>
          <a:solidFill>
            <a:srgbClr val="4FC3F7">
              <a:alpha val="20000"/>
            </a:srgbClr>
          </a:solidFill>
          <a:ln w="19050">
            <a:solidFill>
              <a:srgbClr val="4FC3F7"/>
            </a:solidFill>
            <a:prstDash val="solid"/>
          </a:ln>
        </p:spPr>
      </p:sp>
      <p:pic>
        <p:nvPicPr>
          <p:cNvPr id="15" name="a2_m1_i" descr="preencoded.png">    </p:cNvPr>
          <p:cNvPicPr>
            <a:picLocks noChangeAspect="1"/>
          </p:cNvPicPr>
          <p:nvPr/>
        </p:nvPicPr>
        <p:blipFill>
          <a:blip r:embed="rId2"/>
          <a:stretch>
            <a:fillRect/>
          </a:stretch>
        </p:blipFill>
        <p:spPr>
          <a:xfrm>
            <a:off x="3119933" y="2799893"/>
            <a:ext cx="526694" cy="526694"/>
          </a:xfrm>
          <a:prstGeom prst="rect">
            <a:avLst/>
          </a:prstGeom>
        </p:spPr>
      </p:pic>
      <p:sp>
        <p:nvSpPr>
          <p:cNvPr id="16" name="a2_mm1"/>
          <p:cNvSpPr txBox="1"/>
          <p:nvPr/>
        </p:nvSpPr>
        <p:spPr>
          <a:xfrm>
            <a:off x="2468880" y="3749040"/>
            <a:ext cx="1828800" cy="320040"/>
          </a:xfrm>
          <a:prstGeom prst="rect">
            <a:avLst/>
          </a:prstGeom>
          <a:noFill/>
          <a:ln/>
        </p:spPr>
        <p:txBody>
          <a:bodyPr wrap="square" lIns="0" tIns="0" rIns="0" bIns="0" rtlCol="0" anchor="t"/>
          <a:lstStyle/>
          <a:p>
            <a:pPr algn="ctr" indent="0" marL="0">
              <a:buNone/>
            </a:pPr>
            <a:r>
              <a:rPr lang="en-US" sz="1300" b="1" dirty="0">
                <a:solidFill>
                  <a:srgbClr val="4FC3F7"/>
                </a:solidFill>
                <a:latin typeface="Arial" pitchFamily="34" charset="0"/>
                <a:ea typeface="Arial" pitchFamily="34" charset="-122"/>
                <a:cs typeface="Arial" pitchFamily="34" charset="-120"/>
              </a:rPr>
              <a:t>M2</a:t>
            </a:r>
            <a:endParaRPr lang="en-US" sz="1300" dirty="0"/>
          </a:p>
        </p:txBody>
      </p:sp>
      <p:sp>
        <p:nvSpPr>
          <p:cNvPr id="17" name="a2_mt1"/>
          <p:cNvSpPr txBox="1"/>
          <p:nvPr/>
        </p:nvSpPr>
        <p:spPr>
          <a:xfrm>
            <a:off x="246888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Local &amp; RAG</a:t>
            </a:r>
            <a:endParaRPr lang="en-US" sz="1800" dirty="0"/>
          </a:p>
        </p:txBody>
      </p:sp>
      <p:sp>
        <p:nvSpPr>
          <p:cNvPr id="18" name="a2_md1"/>
          <p:cNvSpPr txBox="1"/>
          <p:nvPr/>
        </p:nvSpPr>
        <p:spPr>
          <a:xfrm>
            <a:off x="246888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Ollama · Vectors · RAG</a:t>
            </a:r>
            <a:endParaRPr lang="en-US" sz="1300" dirty="0"/>
          </a:p>
        </p:txBody>
      </p:sp>
      <p:sp>
        <p:nvSpPr>
          <p:cNvPr id="19" name="a3_m2_c"/>
          <p:cNvSpPr/>
          <p:nvPr/>
        </p:nvSpPr>
        <p:spPr>
          <a:xfrm>
            <a:off x="4754880" y="2514600"/>
            <a:ext cx="1097280" cy="1097280"/>
          </a:xfrm>
          <a:prstGeom prst="ellipse">
            <a:avLst/>
          </a:prstGeom>
          <a:solidFill>
            <a:srgbClr val="FFB547">
              <a:alpha val="20000"/>
            </a:srgbClr>
          </a:solidFill>
          <a:ln w="19050">
            <a:solidFill>
              <a:srgbClr val="FFB547"/>
            </a:solidFill>
            <a:prstDash val="solid"/>
          </a:ln>
        </p:spPr>
      </p:sp>
      <p:pic>
        <p:nvPicPr>
          <p:cNvPr id="20" name="a3_m2_i" descr="preencoded.png">    </p:cNvPr>
          <p:cNvPicPr>
            <a:picLocks noChangeAspect="1"/>
          </p:cNvPicPr>
          <p:nvPr/>
        </p:nvPicPr>
        <p:blipFill>
          <a:blip r:embed="rId3"/>
          <a:stretch>
            <a:fillRect/>
          </a:stretch>
        </p:blipFill>
        <p:spPr>
          <a:xfrm>
            <a:off x="5040173" y="2799893"/>
            <a:ext cx="526694" cy="526694"/>
          </a:xfrm>
          <a:prstGeom prst="rect">
            <a:avLst/>
          </a:prstGeom>
        </p:spPr>
      </p:pic>
      <p:sp>
        <p:nvSpPr>
          <p:cNvPr id="21" name="a3_mm2"/>
          <p:cNvSpPr txBox="1"/>
          <p:nvPr/>
        </p:nvSpPr>
        <p:spPr>
          <a:xfrm>
            <a:off x="4389120" y="3749040"/>
            <a:ext cx="1828800" cy="320040"/>
          </a:xfrm>
          <a:prstGeom prst="rect">
            <a:avLst/>
          </a:prstGeom>
          <a:noFill/>
          <a:ln/>
        </p:spPr>
        <p:txBody>
          <a:bodyPr wrap="square" lIns="0" tIns="0" rIns="0" bIns="0" rtlCol="0" anchor="t"/>
          <a:lstStyle/>
          <a:p>
            <a:pPr algn="ctr" indent="0" marL="0">
              <a:buNone/>
            </a:pPr>
            <a:r>
              <a:rPr lang="en-US" sz="1300" b="1" dirty="0">
                <a:solidFill>
                  <a:srgbClr val="FFB547"/>
                </a:solidFill>
                <a:latin typeface="Arial" pitchFamily="34" charset="0"/>
                <a:ea typeface="Arial" pitchFamily="34" charset="-122"/>
                <a:cs typeface="Arial" pitchFamily="34" charset="-120"/>
              </a:rPr>
              <a:t>M3</a:t>
            </a:r>
            <a:endParaRPr lang="en-US" sz="1300" dirty="0"/>
          </a:p>
        </p:txBody>
      </p:sp>
      <p:sp>
        <p:nvSpPr>
          <p:cNvPr id="22" name="a3_mt2"/>
          <p:cNvSpPr txBox="1"/>
          <p:nvPr/>
        </p:nvSpPr>
        <p:spPr>
          <a:xfrm>
            <a:off x="438912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Tools &amp; MCP</a:t>
            </a:r>
            <a:endParaRPr lang="en-US" sz="1800" dirty="0"/>
          </a:p>
        </p:txBody>
      </p:sp>
      <p:sp>
        <p:nvSpPr>
          <p:cNvPr id="23" name="a3_md2"/>
          <p:cNvSpPr txBox="1"/>
          <p:nvPr/>
        </p:nvSpPr>
        <p:spPr>
          <a:xfrm>
            <a:off x="438912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Function calling · MCP</a:t>
            </a:r>
            <a:endParaRPr lang="en-US" sz="1300" dirty="0"/>
          </a:p>
        </p:txBody>
      </p:sp>
      <p:sp>
        <p:nvSpPr>
          <p:cNvPr id="24" name="a4_m3_c"/>
          <p:cNvSpPr/>
          <p:nvPr/>
        </p:nvSpPr>
        <p:spPr>
          <a:xfrm>
            <a:off x="6675120" y="2514600"/>
            <a:ext cx="1097280" cy="1097280"/>
          </a:xfrm>
          <a:prstGeom prst="ellipse">
            <a:avLst/>
          </a:prstGeom>
          <a:solidFill>
            <a:srgbClr val="FF5C8A">
              <a:alpha val="20000"/>
            </a:srgbClr>
          </a:solidFill>
          <a:ln w="19050">
            <a:solidFill>
              <a:srgbClr val="FF5C8A"/>
            </a:solidFill>
            <a:prstDash val="solid"/>
          </a:ln>
        </p:spPr>
      </p:sp>
      <p:pic>
        <p:nvPicPr>
          <p:cNvPr id="25" name="a4_m3_i" descr="preencoded.png">    </p:cNvPr>
          <p:cNvPicPr>
            <a:picLocks noChangeAspect="1"/>
          </p:cNvPicPr>
          <p:nvPr/>
        </p:nvPicPr>
        <p:blipFill>
          <a:blip r:embed="rId4"/>
          <a:stretch>
            <a:fillRect/>
          </a:stretch>
        </p:blipFill>
        <p:spPr>
          <a:xfrm>
            <a:off x="6960413" y="2799893"/>
            <a:ext cx="526694" cy="526694"/>
          </a:xfrm>
          <a:prstGeom prst="rect">
            <a:avLst/>
          </a:prstGeom>
        </p:spPr>
      </p:pic>
      <p:sp>
        <p:nvSpPr>
          <p:cNvPr id="26" name="a4_mm3"/>
          <p:cNvSpPr txBox="1"/>
          <p:nvPr/>
        </p:nvSpPr>
        <p:spPr>
          <a:xfrm>
            <a:off x="6309360" y="3749040"/>
            <a:ext cx="1828800" cy="320040"/>
          </a:xfrm>
          <a:prstGeom prst="rect">
            <a:avLst/>
          </a:prstGeom>
          <a:noFill/>
          <a:ln/>
        </p:spPr>
        <p:txBody>
          <a:bodyPr wrap="square" lIns="0" tIns="0" rIns="0" bIns="0" rtlCol="0" anchor="t"/>
          <a:lstStyle/>
          <a:p>
            <a:pPr algn="ctr" indent="0" marL="0">
              <a:buNone/>
            </a:pPr>
            <a:r>
              <a:rPr lang="en-US" sz="1300" b="1" dirty="0">
                <a:solidFill>
                  <a:srgbClr val="FF5C8A"/>
                </a:solidFill>
                <a:latin typeface="Arial" pitchFamily="34" charset="0"/>
                <a:ea typeface="Arial" pitchFamily="34" charset="-122"/>
                <a:cs typeface="Arial" pitchFamily="34" charset="-120"/>
              </a:rPr>
              <a:t>M4</a:t>
            </a:r>
            <a:endParaRPr lang="en-US" sz="1300" dirty="0"/>
          </a:p>
        </p:txBody>
      </p:sp>
      <p:sp>
        <p:nvSpPr>
          <p:cNvPr id="27" name="a4_mt3"/>
          <p:cNvSpPr txBox="1"/>
          <p:nvPr/>
        </p:nvSpPr>
        <p:spPr>
          <a:xfrm>
            <a:off x="630936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Agents</a:t>
            </a:r>
            <a:endParaRPr lang="en-US" sz="1800" dirty="0"/>
          </a:p>
        </p:txBody>
      </p:sp>
      <p:sp>
        <p:nvSpPr>
          <p:cNvPr id="28" name="a4_md3"/>
          <p:cNvSpPr txBox="1"/>
          <p:nvPr/>
        </p:nvSpPr>
        <p:spPr>
          <a:xfrm>
            <a:off x="630936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Semantic Kernel → MAF</a:t>
            </a:r>
            <a:endParaRPr lang="en-US" sz="1300" dirty="0"/>
          </a:p>
        </p:txBody>
      </p:sp>
      <p:sp>
        <p:nvSpPr>
          <p:cNvPr id="29" name="a5_m4_c"/>
          <p:cNvSpPr/>
          <p:nvPr/>
        </p:nvSpPr>
        <p:spPr>
          <a:xfrm>
            <a:off x="8595360" y="2514600"/>
            <a:ext cx="1097280" cy="1097280"/>
          </a:xfrm>
          <a:prstGeom prst="ellipse">
            <a:avLst/>
          </a:prstGeom>
          <a:solidFill>
            <a:srgbClr val="7C4DFF">
              <a:alpha val="20000"/>
            </a:srgbClr>
          </a:solidFill>
          <a:ln w="19050">
            <a:solidFill>
              <a:srgbClr val="7C4DFF"/>
            </a:solidFill>
            <a:prstDash val="solid"/>
          </a:ln>
        </p:spPr>
      </p:sp>
      <p:pic>
        <p:nvPicPr>
          <p:cNvPr id="30" name="a5_m4_i" descr="preencoded.png">    </p:cNvPr>
          <p:cNvPicPr>
            <a:picLocks noChangeAspect="1"/>
          </p:cNvPicPr>
          <p:nvPr/>
        </p:nvPicPr>
        <p:blipFill>
          <a:blip r:embed="rId5"/>
          <a:stretch>
            <a:fillRect/>
          </a:stretch>
        </p:blipFill>
        <p:spPr>
          <a:xfrm>
            <a:off x="8880653" y="2799893"/>
            <a:ext cx="526694" cy="526694"/>
          </a:xfrm>
          <a:prstGeom prst="rect">
            <a:avLst/>
          </a:prstGeom>
        </p:spPr>
      </p:pic>
      <p:sp>
        <p:nvSpPr>
          <p:cNvPr id="31" name="a5_mm4"/>
          <p:cNvSpPr txBox="1"/>
          <p:nvPr/>
        </p:nvSpPr>
        <p:spPr>
          <a:xfrm>
            <a:off x="8229600" y="3749040"/>
            <a:ext cx="1828800" cy="320040"/>
          </a:xfrm>
          <a:prstGeom prst="rect">
            <a:avLst/>
          </a:prstGeom>
          <a:noFill/>
          <a:ln/>
        </p:spPr>
        <p:txBody>
          <a:bodyPr wrap="square" lIns="0" tIns="0" rIns="0" bIns="0" rtlCol="0" anchor="t"/>
          <a:lstStyle/>
          <a:p>
            <a:pPr algn="ctr" indent="0" marL="0">
              <a:buNone/>
            </a:pPr>
            <a:r>
              <a:rPr lang="en-US" sz="1300" b="1" dirty="0">
                <a:solidFill>
                  <a:srgbClr val="7C4DFF"/>
                </a:solidFill>
                <a:latin typeface="Arial" pitchFamily="34" charset="0"/>
                <a:ea typeface="Arial" pitchFamily="34" charset="-122"/>
                <a:cs typeface="Arial" pitchFamily="34" charset="-120"/>
              </a:rPr>
              <a:t>M5</a:t>
            </a:r>
            <a:endParaRPr lang="en-US" sz="1300" dirty="0"/>
          </a:p>
        </p:txBody>
      </p:sp>
      <p:sp>
        <p:nvSpPr>
          <p:cNvPr id="32" name="a5_mt4"/>
          <p:cNvSpPr txBox="1"/>
          <p:nvPr/>
        </p:nvSpPr>
        <p:spPr>
          <a:xfrm>
            <a:off x="822960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Quality</a:t>
            </a:r>
            <a:endParaRPr lang="en-US" sz="1800" dirty="0"/>
          </a:p>
        </p:txBody>
      </p:sp>
      <p:sp>
        <p:nvSpPr>
          <p:cNvPr id="33" name="a5_md4"/>
          <p:cNvSpPr txBox="1"/>
          <p:nvPr/>
        </p:nvSpPr>
        <p:spPr>
          <a:xfrm>
            <a:off x="822960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Evals · OTel · Aspire</a:t>
            </a:r>
            <a:endParaRPr lang="en-US" sz="1300" dirty="0"/>
          </a:p>
        </p:txBody>
      </p:sp>
      <p:sp>
        <p:nvSpPr>
          <p:cNvPr id="34" name="a6_m5_c"/>
          <p:cNvSpPr/>
          <p:nvPr/>
        </p:nvSpPr>
        <p:spPr>
          <a:xfrm>
            <a:off x="10515600" y="2514600"/>
            <a:ext cx="1097280" cy="1097280"/>
          </a:xfrm>
          <a:prstGeom prst="ellipse">
            <a:avLst/>
          </a:prstGeom>
          <a:solidFill>
            <a:srgbClr val="FFFFFF">
              <a:alpha val="20000"/>
            </a:srgbClr>
          </a:solidFill>
          <a:ln w="19050">
            <a:solidFill>
              <a:srgbClr val="FFFFFF"/>
            </a:solidFill>
            <a:prstDash val="solid"/>
          </a:ln>
        </p:spPr>
      </p:sp>
      <p:pic>
        <p:nvPicPr>
          <p:cNvPr id="35" name="a6_m5_i" descr="preencoded.png">    </p:cNvPr>
          <p:cNvPicPr>
            <a:picLocks noChangeAspect="1"/>
          </p:cNvPicPr>
          <p:nvPr/>
        </p:nvPicPr>
        <p:blipFill>
          <a:blip r:embed="rId6"/>
          <a:stretch>
            <a:fillRect/>
          </a:stretch>
        </p:blipFill>
        <p:spPr>
          <a:xfrm>
            <a:off x="10800893" y="2799893"/>
            <a:ext cx="526694" cy="526694"/>
          </a:xfrm>
          <a:prstGeom prst="rect">
            <a:avLst/>
          </a:prstGeom>
        </p:spPr>
      </p:pic>
      <p:sp>
        <p:nvSpPr>
          <p:cNvPr id="36" name="a6_mm5"/>
          <p:cNvSpPr txBox="1"/>
          <p:nvPr/>
        </p:nvSpPr>
        <p:spPr>
          <a:xfrm>
            <a:off x="10149840" y="3749040"/>
            <a:ext cx="182880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M6</a:t>
            </a:r>
            <a:endParaRPr lang="en-US" sz="1300" dirty="0"/>
          </a:p>
        </p:txBody>
      </p:sp>
      <p:sp>
        <p:nvSpPr>
          <p:cNvPr id="37" name="a6_mt5"/>
          <p:cNvSpPr txBox="1"/>
          <p:nvPr/>
        </p:nvSpPr>
        <p:spPr>
          <a:xfrm>
            <a:off x="10149840" y="4069080"/>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Capstone</a:t>
            </a:r>
            <a:endParaRPr lang="en-US" sz="1800" dirty="0"/>
          </a:p>
        </p:txBody>
      </p:sp>
      <p:sp>
        <p:nvSpPr>
          <p:cNvPr id="38" name="a6_md5"/>
          <p:cNvSpPr txBox="1"/>
          <p:nvPr/>
        </p:nvSpPr>
        <p:spPr>
          <a:xfrm>
            <a:off x="10149840" y="4480560"/>
            <a:ext cx="1828800" cy="5486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Build it · Demo it</a:t>
            </a:r>
            <a:endParaRPr lang="en-US" sz="1300" dirty="0"/>
          </a:p>
        </p:txBody>
      </p:sp>
      <p:sp>
        <p:nvSpPr>
          <p:cNvPr id="39" name="Shape 31"/>
          <p:cNvSpPr/>
          <p:nvPr/>
        </p:nvSpPr>
        <p:spPr>
          <a:xfrm>
            <a:off x="685800" y="1874520"/>
            <a:ext cx="1463040" cy="411480"/>
          </a:xfrm>
          <a:prstGeom prst="roundRect">
            <a:avLst>
              <a:gd name="adj" fmla="val 17778"/>
            </a:avLst>
          </a:prstGeom>
          <a:solidFill>
            <a:srgbClr val="2EE6A6"/>
          </a:solidFill>
          <a:ln/>
        </p:spPr>
      </p:sp>
      <p:sp>
        <p:nvSpPr>
          <p:cNvPr id="40" name="Text 32"/>
          <p:cNvSpPr txBox="1"/>
          <p:nvPr/>
        </p:nvSpPr>
        <p:spPr>
          <a:xfrm>
            <a:off x="685800" y="1874520"/>
            <a:ext cx="1463040" cy="411480"/>
          </a:xfrm>
          <a:prstGeom prst="rect">
            <a:avLst/>
          </a:prstGeom>
          <a:noFill/>
          <a:ln/>
        </p:spPr>
        <p:txBody>
          <a:bodyPr wrap="square" lIns="0" tIns="0" rIns="0" bIns="0" rtlCol="0" anchor="ctr"/>
          <a:lstStyle/>
          <a:p>
            <a:pPr algn="ctr" indent="0" marL="0">
              <a:buNone/>
            </a:pPr>
            <a:r>
              <a:rPr lang="en-US" sz="1100" b="1" dirty="0">
                <a:solidFill>
                  <a:srgbClr val="0D0A1A"/>
                </a:solidFill>
                <a:latin typeface="Arial" pitchFamily="34" charset="0"/>
                <a:ea typeface="Arial" pitchFamily="34" charset="-122"/>
                <a:cs typeface="Arial" pitchFamily="34" charset="-120"/>
              </a:rPr>
              <a:t>YOU ARE HERE</a:t>
            </a:r>
            <a:endParaRPr lang="en-US" sz="1100" dirty="0"/>
          </a:p>
        </p:txBody>
      </p:sp>
      <p:sp>
        <p:nvSpPr>
          <p:cNvPr id="41" name="a7_k0"/>
          <p:cNvSpPr/>
          <p:nvPr/>
        </p:nvSpPr>
        <p:spPr>
          <a:xfrm>
            <a:off x="548640" y="5349240"/>
            <a:ext cx="2606040" cy="777240"/>
          </a:xfrm>
          <a:prstGeom prst="roundRect">
            <a:avLst>
              <a:gd name="adj" fmla="val 14118"/>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42" name="a7_kt0"/>
          <p:cNvSpPr txBox="1"/>
          <p:nvPr/>
        </p:nvSpPr>
        <p:spPr>
          <a:xfrm>
            <a:off x="731520" y="5349240"/>
            <a:ext cx="2377440" cy="777240"/>
          </a:xfrm>
          <a:prstGeom prst="rect">
            <a:avLst/>
          </a:prstGeom>
          <a:noFill/>
          <a:ln/>
        </p:spPr>
        <p:txBody>
          <a:bodyPr wrap="square" lIns="0" tIns="0" rIns="0" bIns="0" rtlCol="0" anchor="ctr"/>
          <a:lstStyle/>
          <a:p>
            <a:pPr indent="0" marL="0">
              <a:buNone/>
            </a:pPr>
            <a:r>
              <a:rPr lang="en-US" sz="1500" b="1" dirty="0">
                <a:solidFill>
                  <a:srgbClr val="FFB547"/>
                </a:solidFill>
                <a:latin typeface="Calibri" pitchFamily="34" charset="0"/>
                <a:ea typeface="Calibri" pitchFamily="34" charset="-122"/>
                <a:cs typeface="Calibri" pitchFamily="34" charset="-120"/>
              </a:rPr>
              <a:t>Session 3  </a:t>
            </a:r>
            <a:pPr indent="0" marL="0">
              <a:buNone/>
            </a:pPr>
            <a:r>
              <a:rPr lang="en-US" sz="1500" dirty="0">
                <a:solidFill>
                  <a:srgbClr val="FFFFFF"/>
                </a:solidFill>
                <a:latin typeface="Calibri" pitchFamily="34" charset="0"/>
                <a:ea typeface="Calibri" pitchFamily="34" charset="-122"/>
                <a:cs typeface="Calibri" pitchFamily="34" charset="-120"/>
              </a:rPr>
              <a:t>AI-connected API</a:t>
            </a:r>
            <a:endParaRPr lang="en-US" sz="1500" dirty="0"/>
          </a:p>
        </p:txBody>
      </p:sp>
      <p:sp>
        <p:nvSpPr>
          <p:cNvPr id="43" name="a7_k1"/>
          <p:cNvSpPr/>
          <p:nvPr/>
        </p:nvSpPr>
        <p:spPr>
          <a:xfrm>
            <a:off x="3383280" y="5349240"/>
            <a:ext cx="2606040" cy="777240"/>
          </a:xfrm>
          <a:prstGeom prst="roundRect">
            <a:avLst>
              <a:gd name="adj" fmla="val 14118"/>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44" name="a7_kt1"/>
          <p:cNvSpPr txBox="1"/>
          <p:nvPr/>
        </p:nvSpPr>
        <p:spPr>
          <a:xfrm>
            <a:off x="3566160" y="5349240"/>
            <a:ext cx="2377440" cy="777240"/>
          </a:xfrm>
          <a:prstGeom prst="rect">
            <a:avLst/>
          </a:prstGeom>
          <a:noFill/>
          <a:ln/>
        </p:spPr>
        <p:txBody>
          <a:bodyPr wrap="square" lIns="0" tIns="0" rIns="0" bIns="0" rtlCol="0" anchor="ctr"/>
          <a:lstStyle/>
          <a:p>
            <a:pPr indent="0" marL="0">
              <a:buNone/>
            </a:pPr>
            <a:r>
              <a:rPr lang="en-US" sz="1500" b="1" dirty="0">
                <a:solidFill>
                  <a:srgbClr val="FFB547"/>
                </a:solidFill>
                <a:latin typeface="Calibri" pitchFamily="34" charset="0"/>
                <a:ea typeface="Calibri" pitchFamily="34" charset="-122"/>
                <a:cs typeface="Calibri" pitchFamily="34" charset="-120"/>
              </a:rPr>
              <a:t>Session 6  </a:t>
            </a:r>
            <a:pPr indent="0" marL="0">
              <a:buNone/>
            </a:pPr>
            <a:r>
              <a:rPr lang="en-US" sz="1500" dirty="0">
                <a:solidFill>
                  <a:srgbClr val="FFFFFF"/>
                </a:solidFill>
                <a:latin typeface="Calibri" pitchFamily="34" charset="0"/>
                <a:ea typeface="Calibri" pitchFamily="34" charset="-122"/>
                <a:cs typeface="Calibri" pitchFamily="34" charset="-120"/>
              </a:rPr>
              <a:t>RAG assistant</a:t>
            </a:r>
            <a:endParaRPr lang="en-US" sz="1500" dirty="0"/>
          </a:p>
        </p:txBody>
      </p:sp>
      <p:sp>
        <p:nvSpPr>
          <p:cNvPr id="45" name="a7_k2"/>
          <p:cNvSpPr/>
          <p:nvPr/>
        </p:nvSpPr>
        <p:spPr>
          <a:xfrm>
            <a:off x="6217920" y="5349240"/>
            <a:ext cx="2606040" cy="777240"/>
          </a:xfrm>
          <a:prstGeom prst="roundRect">
            <a:avLst>
              <a:gd name="adj" fmla="val 14118"/>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46" name="a7_kt2"/>
          <p:cNvSpPr txBox="1"/>
          <p:nvPr/>
        </p:nvSpPr>
        <p:spPr>
          <a:xfrm>
            <a:off x="6400800" y="5349240"/>
            <a:ext cx="2377440" cy="777240"/>
          </a:xfrm>
          <a:prstGeom prst="rect">
            <a:avLst/>
          </a:prstGeom>
          <a:noFill/>
          <a:ln/>
        </p:spPr>
        <p:txBody>
          <a:bodyPr wrap="square" lIns="0" tIns="0" rIns="0" bIns="0" rtlCol="0" anchor="ctr"/>
          <a:lstStyle/>
          <a:p>
            <a:pPr indent="0" marL="0">
              <a:buNone/>
            </a:pPr>
            <a:r>
              <a:rPr lang="en-US" sz="1500" b="1" dirty="0">
                <a:solidFill>
                  <a:srgbClr val="FFB547"/>
                </a:solidFill>
                <a:latin typeface="Calibri" pitchFamily="34" charset="0"/>
                <a:ea typeface="Calibri" pitchFamily="34" charset="-122"/>
                <a:cs typeface="Calibri" pitchFamily="34" charset="-120"/>
              </a:rPr>
              <a:t>Session 10  </a:t>
            </a:r>
            <a:pPr indent="0" marL="0">
              <a:buNone/>
            </a:pPr>
            <a:r>
              <a:rPr lang="en-US" sz="1500" dirty="0">
                <a:solidFill>
                  <a:srgbClr val="FFFFFF"/>
                </a:solidFill>
                <a:latin typeface="Calibri" pitchFamily="34" charset="0"/>
                <a:ea typeface="Calibri" pitchFamily="34" charset="-122"/>
                <a:cs typeface="Calibri" pitchFamily="34" charset="-120"/>
              </a:rPr>
              <a:t>Your first agent</a:t>
            </a:r>
            <a:endParaRPr lang="en-US" sz="1500" dirty="0"/>
          </a:p>
        </p:txBody>
      </p:sp>
      <p:sp>
        <p:nvSpPr>
          <p:cNvPr id="47" name="a7_k3"/>
          <p:cNvSpPr/>
          <p:nvPr/>
        </p:nvSpPr>
        <p:spPr>
          <a:xfrm>
            <a:off x="9052560" y="5349240"/>
            <a:ext cx="2606040" cy="777240"/>
          </a:xfrm>
          <a:prstGeom prst="roundRect">
            <a:avLst>
              <a:gd name="adj" fmla="val 14118"/>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48" name="a7_kt3"/>
          <p:cNvSpPr txBox="1"/>
          <p:nvPr/>
        </p:nvSpPr>
        <p:spPr>
          <a:xfrm>
            <a:off x="9235440" y="5349240"/>
            <a:ext cx="2377440" cy="777240"/>
          </a:xfrm>
          <a:prstGeom prst="rect">
            <a:avLst/>
          </a:prstGeom>
          <a:noFill/>
          <a:ln/>
        </p:spPr>
        <p:txBody>
          <a:bodyPr wrap="square" lIns="0" tIns="0" rIns="0" bIns="0" rtlCol="0" anchor="ctr"/>
          <a:lstStyle/>
          <a:p>
            <a:pPr indent="0" marL="0">
              <a:buNone/>
            </a:pPr>
            <a:r>
              <a:rPr lang="en-US" sz="1500" b="1" dirty="0">
                <a:solidFill>
                  <a:srgbClr val="FFB547"/>
                </a:solidFill>
                <a:latin typeface="Calibri" pitchFamily="34" charset="0"/>
                <a:ea typeface="Calibri" pitchFamily="34" charset="-122"/>
                <a:cs typeface="Calibri" pitchFamily="34" charset="-120"/>
              </a:rPr>
              <a:t>Session 18  </a:t>
            </a:r>
            <a:pPr indent="0" marL="0">
              <a:buNone/>
            </a:pPr>
            <a:r>
              <a:rPr lang="en-US" sz="1500" dirty="0">
                <a:solidFill>
                  <a:srgbClr val="FFFFFF"/>
                </a:solidFill>
                <a:latin typeface="Calibri" pitchFamily="34" charset="0"/>
                <a:ea typeface="Calibri" pitchFamily="34" charset="-122"/>
                <a:cs typeface="Calibri" pitchFamily="34" charset="-120"/>
              </a:rPr>
              <a:t>Capstone demo</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500"/>
                                        <p:tgtEl>
                                          <p:spTgt spid="9"/>
                                        </p:tgtEl>
                                      </p:cBhvr>
                                    </p:animEffect>
                                    <p:anim calcmode="lin" valueType="num">
                                      <p:cBhvr>
                                        <p:cTn id="6" dur="500" fill="hold"/>
                                        <p:tgtEl>
                                          <p:spTgt spid="9"/>
                                        </p:tgtEl>
                                        <p:attrNameLst>
                                          <p:attrName>ppt_x</p:attrName>
                                        </p:attrNameLst>
                                      </p:cBhvr>
                                      <p:tavLst>
                                        <p:tav tm="0">
                                          <p:val>
                                            <p:strVal val="#ppt_x"/>
                                          </p:val>
                                        </p:tav>
                                        <p:tav tm="100000">
                                          <p:val>
                                            <p:strVal val="#ppt_x"/>
                                          </p:val>
                                        </p:tav>
                                      </p:tavLst>
                                    </p:anim>
                                    <p:anim calcmode="lin" valueType="num">
                                      <p:cBhvr>
                                        <p:cTn id="7" dur="500" decel="100000" fill="hold"/>
                                        <p:tgtEl>
                                          <p:spTgt spid="9"/>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decel="100000" fill="hold"/>
                                        <p:tgtEl>
                                          <p:spTgt spid="10"/>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decel="100000" fill="hold"/>
                                        <p:tgtEl>
                                          <p:spTgt spid="11"/>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anim calcmode="lin" valueType="num">
                                      <p:cBhvr>
                                        <p:cTn id="21" dur="500" fill="hold"/>
                                        <p:tgtEl>
                                          <p:spTgt spid="12"/>
                                        </p:tgtEl>
                                        <p:attrNameLst>
                                          <p:attrName>ppt_x</p:attrName>
                                        </p:attrNameLst>
                                      </p:cBhvr>
                                      <p:tavLst>
                                        <p:tav tm="0">
                                          <p:val>
                                            <p:strVal val="#ppt_x"/>
                                          </p:val>
                                        </p:tav>
                                        <p:tav tm="100000">
                                          <p:val>
                                            <p:strVal val="#ppt_x"/>
                                          </p:val>
                                        </p:tav>
                                      </p:tavLst>
                                    </p:anim>
                                    <p:anim calcmode="lin" valueType="num">
                                      <p:cBhvr>
                                        <p:cTn id="22" dur="500" decel="100000" fill="hold"/>
                                        <p:tgtEl>
                                          <p:spTgt spid="12"/>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decel="100000" fill="hold"/>
                                        <p:tgtEl>
                                          <p:spTgt spid="13"/>
                                        </p:tgtEl>
                                        <p:attrNameLst>
                                          <p:attrName>ppt_y</p:attrName>
                                        </p:attrNameLst>
                                      </p:cBhvr>
                                      <p:tavLst>
                                        <p:tav tm="0">
                                          <p:val>
                                            <p:strVal val="#ppt_y+.06"/>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decel="100000" fill="hold"/>
                                        <p:tgtEl>
                                          <p:spTgt spid="14"/>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anim calcmode="lin" valueType="num">
                                      <p:cBhvr>
                                        <p:cTn id="38" dur="500" fill="hold"/>
                                        <p:tgtEl>
                                          <p:spTgt spid="15"/>
                                        </p:tgtEl>
                                        <p:attrNameLst>
                                          <p:attrName>ppt_x</p:attrName>
                                        </p:attrNameLst>
                                      </p:cBhvr>
                                      <p:tavLst>
                                        <p:tav tm="0">
                                          <p:val>
                                            <p:strVal val="#ppt_x"/>
                                          </p:val>
                                        </p:tav>
                                        <p:tav tm="100000">
                                          <p:val>
                                            <p:strVal val="#ppt_x"/>
                                          </p:val>
                                        </p:tav>
                                      </p:tavLst>
                                    </p:anim>
                                    <p:anim calcmode="lin" valueType="num">
                                      <p:cBhvr>
                                        <p:cTn id="39" dur="500" decel="100000" fill="hold"/>
                                        <p:tgtEl>
                                          <p:spTgt spid="15"/>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decel="100000" fill="hold"/>
                                        <p:tgtEl>
                                          <p:spTgt spid="16"/>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anim calcmode="lin" valueType="num">
                                      <p:cBhvr>
                                        <p:cTn id="48" dur="500" fill="hold"/>
                                        <p:tgtEl>
                                          <p:spTgt spid="17"/>
                                        </p:tgtEl>
                                        <p:attrNameLst>
                                          <p:attrName>ppt_x</p:attrName>
                                        </p:attrNameLst>
                                      </p:cBhvr>
                                      <p:tavLst>
                                        <p:tav tm="0">
                                          <p:val>
                                            <p:strVal val="#ppt_x"/>
                                          </p:val>
                                        </p:tav>
                                        <p:tav tm="100000">
                                          <p:val>
                                            <p:strVal val="#ppt_x"/>
                                          </p:val>
                                        </p:tav>
                                      </p:tavLst>
                                    </p:anim>
                                    <p:anim calcmode="lin" valueType="num">
                                      <p:cBhvr>
                                        <p:cTn id="49" dur="500" decel="100000" fill="hold"/>
                                        <p:tgtEl>
                                          <p:spTgt spid="17"/>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decel="100000" fill="hold"/>
                                        <p:tgtEl>
                                          <p:spTgt spid="18"/>
                                        </p:tgtEl>
                                        <p:attrNameLst>
                                          <p:attrName>ppt_y</p:attrName>
                                        </p:attrNameLst>
                                      </p:cBhvr>
                                      <p:tavLst>
                                        <p:tav tm="0">
                                          <p:val>
                                            <p:strVal val="#ppt_y+.06"/>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anim calcmode="lin" valueType="num">
                                      <p:cBhvr>
                                        <p:cTn id="60" dur="500" fill="hold"/>
                                        <p:tgtEl>
                                          <p:spTgt spid="19"/>
                                        </p:tgtEl>
                                        <p:attrNameLst>
                                          <p:attrName>ppt_x</p:attrName>
                                        </p:attrNameLst>
                                      </p:cBhvr>
                                      <p:tavLst>
                                        <p:tav tm="0">
                                          <p:val>
                                            <p:strVal val="#ppt_x"/>
                                          </p:val>
                                        </p:tav>
                                        <p:tav tm="100000">
                                          <p:val>
                                            <p:strVal val="#ppt_x"/>
                                          </p:val>
                                        </p:tav>
                                      </p:tavLst>
                                    </p:anim>
                                    <p:anim calcmode="lin" valueType="num">
                                      <p:cBhvr>
                                        <p:cTn id="61" dur="500" decel="100000" fill="hold"/>
                                        <p:tgtEl>
                                          <p:spTgt spid="19"/>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anim calcmode="lin" valueType="num">
                                      <p:cBhvr>
                                        <p:cTn id="65" dur="500" fill="hold"/>
                                        <p:tgtEl>
                                          <p:spTgt spid="20"/>
                                        </p:tgtEl>
                                        <p:attrNameLst>
                                          <p:attrName>ppt_x</p:attrName>
                                        </p:attrNameLst>
                                      </p:cBhvr>
                                      <p:tavLst>
                                        <p:tav tm="0">
                                          <p:val>
                                            <p:strVal val="#ppt_x"/>
                                          </p:val>
                                        </p:tav>
                                        <p:tav tm="100000">
                                          <p:val>
                                            <p:strVal val="#ppt_x"/>
                                          </p:val>
                                        </p:tav>
                                      </p:tavLst>
                                    </p:anim>
                                    <p:anim calcmode="lin" valueType="num">
                                      <p:cBhvr>
                                        <p:cTn id="66" dur="500" decel="100000" fill="hold"/>
                                        <p:tgtEl>
                                          <p:spTgt spid="20"/>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decel="100000" fill="hold"/>
                                        <p:tgtEl>
                                          <p:spTgt spid="21"/>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anim calcmode="lin" valueType="num">
                                      <p:cBhvr>
                                        <p:cTn id="75" dur="500" fill="hold"/>
                                        <p:tgtEl>
                                          <p:spTgt spid="22"/>
                                        </p:tgtEl>
                                        <p:attrNameLst>
                                          <p:attrName>ppt_x</p:attrName>
                                        </p:attrNameLst>
                                      </p:cBhvr>
                                      <p:tavLst>
                                        <p:tav tm="0">
                                          <p:val>
                                            <p:strVal val="#ppt_x"/>
                                          </p:val>
                                        </p:tav>
                                        <p:tav tm="100000">
                                          <p:val>
                                            <p:strVal val="#ppt_x"/>
                                          </p:val>
                                        </p:tav>
                                      </p:tavLst>
                                    </p:anim>
                                    <p:anim calcmode="lin" valueType="num">
                                      <p:cBhvr>
                                        <p:cTn id="76" dur="500" decel="100000" fill="hold"/>
                                        <p:tgtEl>
                                          <p:spTgt spid="22"/>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anim calcmode="lin" valueType="num">
                                      <p:cBhvr>
                                        <p:cTn id="80" dur="500" fill="hold"/>
                                        <p:tgtEl>
                                          <p:spTgt spid="23"/>
                                        </p:tgtEl>
                                        <p:attrNameLst>
                                          <p:attrName>ppt_x</p:attrName>
                                        </p:attrNameLst>
                                      </p:cBhvr>
                                      <p:tavLst>
                                        <p:tav tm="0">
                                          <p:val>
                                            <p:strVal val="#ppt_x"/>
                                          </p:val>
                                        </p:tav>
                                        <p:tav tm="100000">
                                          <p:val>
                                            <p:strVal val="#ppt_x"/>
                                          </p:val>
                                        </p:tav>
                                      </p:tavLst>
                                    </p:anim>
                                    <p:anim calcmode="lin" valueType="num">
                                      <p:cBhvr>
                                        <p:cTn id="81"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anim calcmode="lin" valueType="num">
                                      <p:cBhvr>
                                        <p:cTn id="87" dur="500" fill="hold"/>
                                        <p:tgtEl>
                                          <p:spTgt spid="24"/>
                                        </p:tgtEl>
                                        <p:attrNameLst>
                                          <p:attrName>ppt_x</p:attrName>
                                        </p:attrNameLst>
                                      </p:cBhvr>
                                      <p:tavLst>
                                        <p:tav tm="0">
                                          <p:val>
                                            <p:strVal val="#ppt_x"/>
                                          </p:val>
                                        </p:tav>
                                        <p:tav tm="100000">
                                          <p:val>
                                            <p:strVal val="#ppt_x"/>
                                          </p:val>
                                        </p:tav>
                                      </p:tavLst>
                                    </p:anim>
                                    <p:anim calcmode="lin" valueType="num">
                                      <p:cBhvr>
                                        <p:cTn id="88" dur="500" decel="100000" fill="hold"/>
                                        <p:tgtEl>
                                          <p:spTgt spid="24"/>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500"/>
                                        <p:tgtEl>
                                          <p:spTgt spid="25"/>
                                        </p:tgtEl>
                                      </p:cBhvr>
                                    </p:animEffect>
                                    <p:anim calcmode="lin" valueType="num">
                                      <p:cBhvr>
                                        <p:cTn id="92" dur="500" fill="hold"/>
                                        <p:tgtEl>
                                          <p:spTgt spid="25"/>
                                        </p:tgtEl>
                                        <p:attrNameLst>
                                          <p:attrName>ppt_x</p:attrName>
                                        </p:attrNameLst>
                                      </p:cBhvr>
                                      <p:tavLst>
                                        <p:tav tm="0">
                                          <p:val>
                                            <p:strVal val="#ppt_x"/>
                                          </p:val>
                                        </p:tav>
                                        <p:tav tm="100000">
                                          <p:val>
                                            <p:strVal val="#ppt_x"/>
                                          </p:val>
                                        </p:tav>
                                      </p:tavLst>
                                    </p:anim>
                                    <p:anim calcmode="lin" valueType="num">
                                      <p:cBhvr>
                                        <p:cTn id="93" dur="500" decel="100000" fill="hold"/>
                                        <p:tgtEl>
                                          <p:spTgt spid="25"/>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anim calcmode="lin" valueType="num">
                                      <p:cBhvr>
                                        <p:cTn id="97" dur="500" fill="hold"/>
                                        <p:tgtEl>
                                          <p:spTgt spid="26"/>
                                        </p:tgtEl>
                                        <p:attrNameLst>
                                          <p:attrName>ppt_x</p:attrName>
                                        </p:attrNameLst>
                                      </p:cBhvr>
                                      <p:tavLst>
                                        <p:tav tm="0">
                                          <p:val>
                                            <p:strVal val="#ppt_x"/>
                                          </p:val>
                                        </p:tav>
                                        <p:tav tm="100000">
                                          <p:val>
                                            <p:strVal val="#ppt_x"/>
                                          </p:val>
                                        </p:tav>
                                      </p:tavLst>
                                    </p:anim>
                                    <p:anim calcmode="lin" valueType="num">
                                      <p:cBhvr>
                                        <p:cTn id="98" dur="500" decel="100000" fill="hold"/>
                                        <p:tgtEl>
                                          <p:spTgt spid="26"/>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500"/>
                                        <p:tgtEl>
                                          <p:spTgt spid="27"/>
                                        </p:tgtEl>
                                      </p:cBhvr>
                                    </p:animEffect>
                                    <p:anim calcmode="lin" valueType="num">
                                      <p:cBhvr>
                                        <p:cTn id="102" dur="500" fill="hold"/>
                                        <p:tgtEl>
                                          <p:spTgt spid="27"/>
                                        </p:tgtEl>
                                        <p:attrNameLst>
                                          <p:attrName>ppt_x</p:attrName>
                                        </p:attrNameLst>
                                      </p:cBhvr>
                                      <p:tavLst>
                                        <p:tav tm="0">
                                          <p:val>
                                            <p:strVal val="#ppt_x"/>
                                          </p:val>
                                        </p:tav>
                                        <p:tav tm="100000">
                                          <p:val>
                                            <p:strVal val="#ppt_x"/>
                                          </p:val>
                                        </p:tav>
                                      </p:tavLst>
                                    </p:anim>
                                    <p:anim calcmode="lin" valueType="num">
                                      <p:cBhvr>
                                        <p:cTn id="103" dur="500" decel="100000" fill="hold"/>
                                        <p:tgtEl>
                                          <p:spTgt spid="27"/>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anim calcmode="lin" valueType="num">
                                      <p:cBhvr>
                                        <p:cTn id="107" dur="500" fill="hold"/>
                                        <p:tgtEl>
                                          <p:spTgt spid="28"/>
                                        </p:tgtEl>
                                        <p:attrNameLst>
                                          <p:attrName>ppt_x</p:attrName>
                                        </p:attrNameLst>
                                      </p:cBhvr>
                                      <p:tavLst>
                                        <p:tav tm="0">
                                          <p:val>
                                            <p:strVal val="#ppt_x"/>
                                          </p:val>
                                        </p:tav>
                                        <p:tav tm="100000">
                                          <p:val>
                                            <p:strVal val="#ppt_x"/>
                                          </p:val>
                                        </p:tav>
                                      </p:tavLst>
                                    </p:anim>
                                    <p:anim calcmode="lin" valueType="num">
                                      <p:cBhvr>
                                        <p:cTn id="108" dur="500" decel="100000" fill="hold"/>
                                        <p:tgtEl>
                                          <p:spTgt spid="28"/>
                                        </p:tgtEl>
                                        <p:attrNameLst>
                                          <p:attrName>ppt_y</p:attrName>
                                        </p:attrNameLst>
                                      </p:cBhvr>
                                      <p:tavLst>
                                        <p:tav tm="0">
                                          <p:val>
                                            <p:strVal val="#ppt_y+.06"/>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500"/>
                                        <p:tgtEl>
                                          <p:spTgt spid="29"/>
                                        </p:tgtEl>
                                      </p:cBhvr>
                                    </p:animEffect>
                                    <p:anim calcmode="lin" valueType="num">
                                      <p:cBhvr>
                                        <p:cTn id="114" dur="500" fill="hold"/>
                                        <p:tgtEl>
                                          <p:spTgt spid="29"/>
                                        </p:tgtEl>
                                        <p:attrNameLst>
                                          <p:attrName>ppt_x</p:attrName>
                                        </p:attrNameLst>
                                      </p:cBhvr>
                                      <p:tavLst>
                                        <p:tav tm="0">
                                          <p:val>
                                            <p:strVal val="#ppt_x"/>
                                          </p:val>
                                        </p:tav>
                                        <p:tav tm="100000">
                                          <p:val>
                                            <p:strVal val="#ppt_x"/>
                                          </p:val>
                                        </p:tav>
                                      </p:tavLst>
                                    </p:anim>
                                    <p:anim calcmode="lin" valueType="num">
                                      <p:cBhvr>
                                        <p:cTn id="115" dur="500" decel="100000" fill="hold"/>
                                        <p:tgtEl>
                                          <p:spTgt spid="29"/>
                                        </p:tgtEl>
                                        <p:attrNameLst>
                                          <p:attrName>ppt_y</p:attrName>
                                        </p:attrNameLst>
                                      </p:cBhvr>
                                      <p:tavLst>
                                        <p:tav tm="0">
                                          <p:val>
                                            <p:strVal val="#ppt_y+.06"/>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500"/>
                                        <p:tgtEl>
                                          <p:spTgt spid="30"/>
                                        </p:tgtEl>
                                      </p:cBhvr>
                                    </p:animEffect>
                                    <p:anim calcmode="lin" valueType="num">
                                      <p:cBhvr>
                                        <p:cTn id="119" dur="500" fill="hold"/>
                                        <p:tgtEl>
                                          <p:spTgt spid="30"/>
                                        </p:tgtEl>
                                        <p:attrNameLst>
                                          <p:attrName>ppt_x</p:attrName>
                                        </p:attrNameLst>
                                      </p:cBhvr>
                                      <p:tavLst>
                                        <p:tav tm="0">
                                          <p:val>
                                            <p:strVal val="#ppt_x"/>
                                          </p:val>
                                        </p:tav>
                                        <p:tav tm="100000">
                                          <p:val>
                                            <p:strVal val="#ppt_x"/>
                                          </p:val>
                                        </p:tav>
                                      </p:tavLst>
                                    </p:anim>
                                    <p:anim calcmode="lin" valueType="num">
                                      <p:cBhvr>
                                        <p:cTn id="120" dur="500" decel="100000" fill="hold"/>
                                        <p:tgtEl>
                                          <p:spTgt spid="30"/>
                                        </p:tgtEl>
                                        <p:attrNameLst>
                                          <p:attrName>ppt_y</p:attrName>
                                        </p:attrNameLst>
                                      </p:cBhvr>
                                      <p:tavLst>
                                        <p:tav tm="0">
                                          <p:val>
                                            <p:strVal val="#ppt_y+.06"/>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500"/>
                                        <p:tgtEl>
                                          <p:spTgt spid="31"/>
                                        </p:tgtEl>
                                      </p:cBhvr>
                                    </p:animEffect>
                                    <p:anim calcmode="lin" valueType="num">
                                      <p:cBhvr>
                                        <p:cTn id="124" dur="500" fill="hold"/>
                                        <p:tgtEl>
                                          <p:spTgt spid="31"/>
                                        </p:tgtEl>
                                        <p:attrNameLst>
                                          <p:attrName>ppt_x</p:attrName>
                                        </p:attrNameLst>
                                      </p:cBhvr>
                                      <p:tavLst>
                                        <p:tav tm="0">
                                          <p:val>
                                            <p:strVal val="#ppt_x"/>
                                          </p:val>
                                        </p:tav>
                                        <p:tav tm="100000">
                                          <p:val>
                                            <p:strVal val="#ppt_x"/>
                                          </p:val>
                                        </p:tav>
                                      </p:tavLst>
                                    </p:anim>
                                    <p:anim calcmode="lin" valueType="num">
                                      <p:cBhvr>
                                        <p:cTn id="125" dur="500" decel="100000" fill="hold"/>
                                        <p:tgtEl>
                                          <p:spTgt spid="31"/>
                                        </p:tgtEl>
                                        <p:attrNameLst>
                                          <p:attrName>ppt_y</p:attrName>
                                        </p:attrNameLst>
                                      </p:cBhvr>
                                      <p:tavLst>
                                        <p:tav tm="0">
                                          <p:val>
                                            <p:strVal val="#ppt_y+.06"/>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500"/>
                                        <p:tgtEl>
                                          <p:spTgt spid="32"/>
                                        </p:tgtEl>
                                      </p:cBhvr>
                                    </p:animEffect>
                                    <p:anim calcmode="lin" valueType="num">
                                      <p:cBhvr>
                                        <p:cTn id="129" dur="500" fill="hold"/>
                                        <p:tgtEl>
                                          <p:spTgt spid="32"/>
                                        </p:tgtEl>
                                        <p:attrNameLst>
                                          <p:attrName>ppt_x</p:attrName>
                                        </p:attrNameLst>
                                      </p:cBhvr>
                                      <p:tavLst>
                                        <p:tav tm="0">
                                          <p:val>
                                            <p:strVal val="#ppt_x"/>
                                          </p:val>
                                        </p:tav>
                                        <p:tav tm="100000">
                                          <p:val>
                                            <p:strVal val="#ppt_x"/>
                                          </p:val>
                                        </p:tav>
                                      </p:tavLst>
                                    </p:anim>
                                    <p:anim calcmode="lin" valueType="num">
                                      <p:cBhvr>
                                        <p:cTn id="130" dur="500" decel="100000" fill="hold"/>
                                        <p:tgtEl>
                                          <p:spTgt spid="32"/>
                                        </p:tgtEl>
                                        <p:attrNameLst>
                                          <p:attrName>ppt_y</p:attrName>
                                        </p:attrNameLst>
                                      </p:cBhvr>
                                      <p:tavLst>
                                        <p:tav tm="0">
                                          <p:val>
                                            <p:strVal val="#ppt_y+.06"/>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500"/>
                                        <p:tgtEl>
                                          <p:spTgt spid="33"/>
                                        </p:tgtEl>
                                      </p:cBhvr>
                                    </p:animEffect>
                                    <p:anim calcmode="lin" valueType="num">
                                      <p:cBhvr>
                                        <p:cTn id="134" dur="500" fill="hold"/>
                                        <p:tgtEl>
                                          <p:spTgt spid="33"/>
                                        </p:tgtEl>
                                        <p:attrNameLst>
                                          <p:attrName>ppt_x</p:attrName>
                                        </p:attrNameLst>
                                      </p:cBhvr>
                                      <p:tavLst>
                                        <p:tav tm="0">
                                          <p:val>
                                            <p:strVal val="#ppt_x"/>
                                          </p:val>
                                        </p:tav>
                                        <p:tav tm="100000">
                                          <p:val>
                                            <p:strVal val="#ppt_x"/>
                                          </p:val>
                                        </p:tav>
                                      </p:tavLst>
                                    </p:anim>
                                    <p:anim calcmode="lin" valueType="num">
                                      <p:cBhvr>
                                        <p:cTn id="135" dur="50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fade">
                                      <p:cBhvr>
                                        <p:cTn id="140" dur="500"/>
                                        <p:tgtEl>
                                          <p:spTgt spid="34"/>
                                        </p:tgtEl>
                                      </p:cBhvr>
                                    </p:animEffect>
                                    <p:anim calcmode="lin" valueType="num">
                                      <p:cBhvr>
                                        <p:cTn id="141" dur="500" fill="hold"/>
                                        <p:tgtEl>
                                          <p:spTgt spid="34"/>
                                        </p:tgtEl>
                                        <p:attrNameLst>
                                          <p:attrName>ppt_x</p:attrName>
                                        </p:attrNameLst>
                                      </p:cBhvr>
                                      <p:tavLst>
                                        <p:tav tm="0">
                                          <p:val>
                                            <p:strVal val="#ppt_x"/>
                                          </p:val>
                                        </p:tav>
                                        <p:tav tm="100000">
                                          <p:val>
                                            <p:strVal val="#ppt_x"/>
                                          </p:val>
                                        </p:tav>
                                      </p:tavLst>
                                    </p:anim>
                                    <p:anim calcmode="lin" valueType="num">
                                      <p:cBhvr>
                                        <p:cTn id="142" dur="500" decel="100000" fill="hold"/>
                                        <p:tgtEl>
                                          <p:spTgt spid="34"/>
                                        </p:tgtEl>
                                        <p:attrNameLst>
                                          <p:attrName>ppt_y</p:attrName>
                                        </p:attrNameLst>
                                      </p:cBhvr>
                                      <p:tavLst>
                                        <p:tav tm="0">
                                          <p:val>
                                            <p:strVal val="#ppt_y+.06"/>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5"/>
                                        </p:tgtEl>
                                        <p:attrNameLst>
                                          <p:attrName>style.visibility</p:attrName>
                                        </p:attrNameLst>
                                      </p:cBhvr>
                                      <p:to>
                                        <p:strVal val="visible"/>
                                      </p:to>
                                    </p:set>
                                    <p:animEffect transition="in" filter="fade">
                                      <p:cBhvr>
                                        <p:cTn id="145" dur="500"/>
                                        <p:tgtEl>
                                          <p:spTgt spid="35"/>
                                        </p:tgtEl>
                                      </p:cBhvr>
                                    </p:animEffect>
                                    <p:anim calcmode="lin" valueType="num">
                                      <p:cBhvr>
                                        <p:cTn id="146" dur="500" fill="hold"/>
                                        <p:tgtEl>
                                          <p:spTgt spid="35"/>
                                        </p:tgtEl>
                                        <p:attrNameLst>
                                          <p:attrName>ppt_x</p:attrName>
                                        </p:attrNameLst>
                                      </p:cBhvr>
                                      <p:tavLst>
                                        <p:tav tm="0">
                                          <p:val>
                                            <p:strVal val="#ppt_x"/>
                                          </p:val>
                                        </p:tav>
                                        <p:tav tm="100000">
                                          <p:val>
                                            <p:strVal val="#ppt_x"/>
                                          </p:val>
                                        </p:tav>
                                      </p:tavLst>
                                    </p:anim>
                                    <p:anim calcmode="lin" valueType="num">
                                      <p:cBhvr>
                                        <p:cTn id="147" dur="500" decel="100000" fill="hold"/>
                                        <p:tgtEl>
                                          <p:spTgt spid="35"/>
                                        </p:tgtEl>
                                        <p:attrNameLst>
                                          <p:attrName>ppt_y</p:attrName>
                                        </p:attrNameLst>
                                      </p:cBhvr>
                                      <p:tavLst>
                                        <p:tav tm="0">
                                          <p:val>
                                            <p:strVal val="#ppt_y+.06"/>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500"/>
                                        <p:tgtEl>
                                          <p:spTgt spid="36"/>
                                        </p:tgtEl>
                                      </p:cBhvr>
                                    </p:animEffect>
                                    <p:anim calcmode="lin" valueType="num">
                                      <p:cBhvr>
                                        <p:cTn id="151" dur="500" fill="hold"/>
                                        <p:tgtEl>
                                          <p:spTgt spid="36"/>
                                        </p:tgtEl>
                                        <p:attrNameLst>
                                          <p:attrName>ppt_x</p:attrName>
                                        </p:attrNameLst>
                                      </p:cBhvr>
                                      <p:tavLst>
                                        <p:tav tm="0">
                                          <p:val>
                                            <p:strVal val="#ppt_x"/>
                                          </p:val>
                                        </p:tav>
                                        <p:tav tm="100000">
                                          <p:val>
                                            <p:strVal val="#ppt_x"/>
                                          </p:val>
                                        </p:tav>
                                      </p:tavLst>
                                    </p:anim>
                                    <p:anim calcmode="lin" valueType="num">
                                      <p:cBhvr>
                                        <p:cTn id="152" dur="500" decel="100000" fill="hold"/>
                                        <p:tgtEl>
                                          <p:spTgt spid="36"/>
                                        </p:tgtEl>
                                        <p:attrNameLst>
                                          <p:attrName>ppt_y</p:attrName>
                                        </p:attrNameLst>
                                      </p:cBhvr>
                                      <p:tavLst>
                                        <p:tav tm="0">
                                          <p:val>
                                            <p:strVal val="#ppt_y+.06"/>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37"/>
                                        </p:tgtEl>
                                        <p:attrNameLst>
                                          <p:attrName>style.visibility</p:attrName>
                                        </p:attrNameLst>
                                      </p:cBhvr>
                                      <p:to>
                                        <p:strVal val="visible"/>
                                      </p:to>
                                    </p:set>
                                    <p:animEffect transition="in" filter="fade">
                                      <p:cBhvr>
                                        <p:cTn id="155" dur="500"/>
                                        <p:tgtEl>
                                          <p:spTgt spid="37"/>
                                        </p:tgtEl>
                                      </p:cBhvr>
                                    </p:animEffect>
                                    <p:anim calcmode="lin" valueType="num">
                                      <p:cBhvr>
                                        <p:cTn id="156" dur="500" fill="hold"/>
                                        <p:tgtEl>
                                          <p:spTgt spid="37"/>
                                        </p:tgtEl>
                                        <p:attrNameLst>
                                          <p:attrName>ppt_x</p:attrName>
                                        </p:attrNameLst>
                                      </p:cBhvr>
                                      <p:tavLst>
                                        <p:tav tm="0">
                                          <p:val>
                                            <p:strVal val="#ppt_x"/>
                                          </p:val>
                                        </p:tav>
                                        <p:tav tm="100000">
                                          <p:val>
                                            <p:strVal val="#ppt_x"/>
                                          </p:val>
                                        </p:tav>
                                      </p:tavLst>
                                    </p:anim>
                                    <p:anim calcmode="lin" valueType="num">
                                      <p:cBhvr>
                                        <p:cTn id="157" dur="500" decel="100000" fill="hold"/>
                                        <p:tgtEl>
                                          <p:spTgt spid="37"/>
                                        </p:tgtEl>
                                        <p:attrNameLst>
                                          <p:attrName>ppt_y</p:attrName>
                                        </p:attrNameLst>
                                      </p:cBhvr>
                                      <p:tavLst>
                                        <p:tav tm="0">
                                          <p:val>
                                            <p:strVal val="#ppt_y+.06"/>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8"/>
                                        </p:tgtEl>
                                        <p:attrNameLst>
                                          <p:attrName>style.visibility</p:attrName>
                                        </p:attrNameLst>
                                      </p:cBhvr>
                                      <p:to>
                                        <p:strVal val="visible"/>
                                      </p:to>
                                    </p:set>
                                    <p:animEffect transition="in" filter="fade">
                                      <p:cBhvr>
                                        <p:cTn id="160" dur="500"/>
                                        <p:tgtEl>
                                          <p:spTgt spid="38"/>
                                        </p:tgtEl>
                                      </p:cBhvr>
                                    </p:animEffect>
                                    <p:anim calcmode="lin" valueType="num">
                                      <p:cBhvr>
                                        <p:cTn id="161" dur="500" fill="hold"/>
                                        <p:tgtEl>
                                          <p:spTgt spid="38"/>
                                        </p:tgtEl>
                                        <p:attrNameLst>
                                          <p:attrName>ppt_x</p:attrName>
                                        </p:attrNameLst>
                                      </p:cBhvr>
                                      <p:tavLst>
                                        <p:tav tm="0">
                                          <p:val>
                                            <p:strVal val="#ppt_x"/>
                                          </p:val>
                                        </p:tav>
                                        <p:tav tm="100000">
                                          <p:val>
                                            <p:strVal val="#ppt_x"/>
                                          </p:val>
                                        </p:tav>
                                      </p:tavLst>
                                    </p:anim>
                                    <p:anim calcmode="lin" valueType="num">
                                      <p:cBhvr>
                                        <p:cTn id="162" dur="500" decel="100000" fill="hold"/>
                                        <p:tgtEl>
                                          <p:spTgt spid="38"/>
                                        </p:tgtEl>
                                        <p:attrNameLst>
                                          <p:attrName>ppt_y</p:attrName>
                                        </p:attrNameLst>
                                      </p:cBhvr>
                                      <p:tavLst>
                                        <p:tav tm="0">
                                          <p:val>
                                            <p:strVal val="#ppt_y+.06"/>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41"/>
                                        </p:tgtEl>
                                        <p:attrNameLst>
                                          <p:attrName>style.visibility</p:attrName>
                                        </p:attrNameLst>
                                      </p:cBhvr>
                                      <p:to>
                                        <p:strVal val="visible"/>
                                      </p:to>
                                    </p:set>
                                    <p:animEffect transition="in" filter="fade">
                                      <p:cBhvr>
                                        <p:cTn id="167" dur="500"/>
                                        <p:tgtEl>
                                          <p:spTgt spid="41"/>
                                        </p:tgtEl>
                                      </p:cBhvr>
                                    </p:animEffect>
                                    <p:anim calcmode="lin" valueType="num">
                                      <p:cBhvr>
                                        <p:cTn id="168" dur="500" fill="hold"/>
                                        <p:tgtEl>
                                          <p:spTgt spid="41"/>
                                        </p:tgtEl>
                                        <p:attrNameLst>
                                          <p:attrName>ppt_x</p:attrName>
                                        </p:attrNameLst>
                                      </p:cBhvr>
                                      <p:tavLst>
                                        <p:tav tm="0">
                                          <p:val>
                                            <p:strVal val="#ppt_x"/>
                                          </p:val>
                                        </p:tav>
                                        <p:tav tm="100000">
                                          <p:val>
                                            <p:strVal val="#ppt_x"/>
                                          </p:val>
                                        </p:tav>
                                      </p:tavLst>
                                    </p:anim>
                                    <p:anim calcmode="lin" valueType="num">
                                      <p:cBhvr>
                                        <p:cTn id="169" dur="500" decel="100000" fill="hold"/>
                                        <p:tgtEl>
                                          <p:spTgt spid="41"/>
                                        </p:tgtEl>
                                        <p:attrNameLst>
                                          <p:attrName>ppt_y</p:attrName>
                                        </p:attrNameLst>
                                      </p:cBhvr>
                                      <p:tavLst>
                                        <p:tav tm="0">
                                          <p:val>
                                            <p:strVal val="#ppt_y+.06"/>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42"/>
                                        </p:tgtEl>
                                        <p:attrNameLst>
                                          <p:attrName>style.visibility</p:attrName>
                                        </p:attrNameLst>
                                      </p:cBhvr>
                                      <p:to>
                                        <p:strVal val="visible"/>
                                      </p:to>
                                    </p:set>
                                    <p:animEffect transition="in" filter="fade">
                                      <p:cBhvr>
                                        <p:cTn id="172" dur="500"/>
                                        <p:tgtEl>
                                          <p:spTgt spid="42"/>
                                        </p:tgtEl>
                                      </p:cBhvr>
                                    </p:animEffect>
                                    <p:anim calcmode="lin" valueType="num">
                                      <p:cBhvr>
                                        <p:cTn id="173" dur="500" fill="hold"/>
                                        <p:tgtEl>
                                          <p:spTgt spid="42"/>
                                        </p:tgtEl>
                                        <p:attrNameLst>
                                          <p:attrName>ppt_x</p:attrName>
                                        </p:attrNameLst>
                                      </p:cBhvr>
                                      <p:tavLst>
                                        <p:tav tm="0">
                                          <p:val>
                                            <p:strVal val="#ppt_x"/>
                                          </p:val>
                                        </p:tav>
                                        <p:tav tm="100000">
                                          <p:val>
                                            <p:strVal val="#ppt_x"/>
                                          </p:val>
                                        </p:tav>
                                      </p:tavLst>
                                    </p:anim>
                                    <p:anim calcmode="lin" valueType="num">
                                      <p:cBhvr>
                                        <p:cTn id="174" dur="500" decel="100000" fill="hold"/>
                                        <p:tgtEl>
                                          <p:spTgt spid="42"/>
                                        </p:tgtEl>
                                        <p:attrNameLst>
                                          <p:attrName>ppt_y</p:attrName>
                                        </p:attrNameLst>
                                      </p:cBhvr>
                                      <p:tavLst>
                                        <p:tav tm="0">
                                          <p:val>
                                            <p:strVal val="#ppt_y+.06"/>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43"/>
                                        </p:tgtEl>
                                        <p:attrNameLst>
                                          <p:attrName>style.visibility</p:attrName>
                                        </p:attrNameLst>
                                      </p:cBhvr>
                                      <p:to>
                                        <p:strVal val="visible"/>
                                      </p:to>
                                    </p:set>
                                    <p:animEffect transition="in" filter="fade">
                                      <p:cBhvr>
                                        <p:cTn id="177" dur="500"/>
                                        <p:tgtEl>
                                          <p:spTgt spid="43"/>
                                        </p:tgtEl>
                                      </p:cBhvr>
                                    </p:animEffect>
                                    <p:anim calcmode="lin" valueType="num">
                                      <p:cBhvr>
                                        <p:cTn id="178" dur="500" fill="hold"/>
                                        <p:tgtEl>
                                          <p:spTgt spid="43"/>
                                        </p:tgtEl>
                                        <p:attrNameLst>
                                          <p:attrName>ppt_x</p:attrName>
                                        </p:attrNameLst>
                                      </p:cBhvr>
                                      <p:tavLst>
                                        <p:tav tm="0">
                                          <p:val>
                                            <p:strVal val="#ppt_x"/>
                                          </p:val>
                                        </p:tav>
                                        <p:tav tm="100000">
                                          <p:val>
                                            <p:strVal val="#ppt_x"/>
                                          </p:val>
                                        </p:tav>
                                      </p:tavLst>
                                    </p:anim>
                                    <p:anim calcmode="lin" valueType="num">
                                      <p:cBhvr>
                                        <p:cTn id="179" dur="500" decel="100000" fill="hold"/>
                                        <p:tgtEl>
                                          <p:spTgt spid="43"/>
                                        </p:tgtEl>
                                        <p:attrNameLst>
                                          <p:attrName>ppt_y</p:attrName>
                                        </p:attrNameLst>
                                      </p:cBhvr>
                                      <p:tavLst>
                                        <p:tav tm="0">
                                          <p:val>
                                            <p:strVal val="#ppt_y+.06"/>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44"/>
                                        </p:tgtEl>
                                        <p:attrNameLst>
                                          <p:attrName>style.visibility</p:attrName>
                                        </p:attrNameLst>
                                      </p:cBhvr>
                                      <p:to>
                                        <p:strVal val="visible"/>
                                      </p:to>
                                    </p:set>
                                    <p:animEffect transition="in" filter="fade">
                                      <p:cBhvr>
                                        <p:cTn id="182" dur="500"/>
                                        <p:tgtEl>
                                          <p:spTgt spid="44"/>
                                        </p:tgtEl>
                                      </p:cBhvr>
                                    </p:animEffect>
                                    <p:anim calcmode="lin" valueType="num">
                                      <p:cBhvr>
                                        <p:cTn id="183" dur="500" fill="hold"/>
                                        <p:tgtEl>
                                          <p:spTgt spid="44"/>
                                        </p:tgtEl>
                                        <p:attrNameLst>
                                          <p:attrName>ppt_x</p:attrName>
                                        </p:attrNameLst>
                                      </p:cBhvr>
                                      <p:tavLst>
                                        <p:tav tm="0">
                                          <p:val>
                                            <p:strVal val="#ppt_x"/>
                                          </p:val>
                                        </p:tav>
                                        <p:tav tm="100000">
                                          <p:val>
                                            <p:strVal val="#ppt_x"/>
                                          </p:val>
                                        </p:tav>
                                      </p:tavLst>
                                    </p:anim>
                                    <p:anim calcmode="lin" valueType="num">
                                      <p:cBhvr>
                                        <p:cTn id="184" dur="500" decel="100000" fill="hold"/>
                                        <p:tgtEl>
                                          <p:spTgt spid="44"/>
                                        </p:tgtEl>
                                        <p:attrNameLst>
                                          <p:attrName>ppt_y</p:attrName>
                                        </p:attrNameLst>
                                      </p:cBhvr>
                                      <p:tavLst>
                                        <p:tav tm="0">
                                          <p:val>
                                            <p:strVal val="#ppt_y+.06"/>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45"/>
                                        </p:tgtEl>
                                        <p:attrNameLst>
                                          <p:attrName>style.visibility</p:attrName>
                                        </p:attrNameLst>
                                      </p:cBhvr>
                                      <p:to>
                                        <p:strVal val="visible"/>
                                      </p:to>
                                    </p:set>
                                    <p:animEffect transition="in" filter="fade">
                                      <p:cBhvr>
                                        <p:cTn id="187" dur="500"/>
                                        <p:tgtEl>
                                          <p:spTgt spid="45"/>
                                        </p:tgtEl>
                                      </p:cBhvr>
                                    </p:animEffect>
                                    <p:anim calcmode="lin" valueType="num">
                                      <p:cBhvr>
                                        <p:cTn id="188" dur="500" fill="hold"/>
                                        <p:tgtEl>
                                          <p:spTgt spid="45"/>
                                        </p:tgtEl>
                                        <p:attrNameLst>
                                          <p:attrName>ppt_x</p:attrName>
                                        </p:attrNameLst>
                                      </p:cBhvr>
                                      <p:tavLst>
                                        <p:tav tm="0">
                                          <p:val>
                                            <p:strVal val="#ppt_x"/>
                                          </p:val>
                                        </p:tav>
                                        <p:tav tm="100000">
                                          <p:val>
                                            <p:strVal val="#ppt_x"/>
                                          </p:val>
                                        </p:tav>
                                      </p:tavLst>
                                    </p:anim>
                                    <p:anim calcmode="lin" valueType="num">
                                      <p:cBhvr>
                                        <p:cTn id="189" dur="500" decel="100000" fill="hold"/>
                                        <p:tgtEl>
                                          <p:spTgt spid="45"/>
                                        </p:tgtEl>
                                        <p:attrNameLst>
                                          <p:attrName>ppt_y</p:attrName>
                                        </p:attrNameLst>
                                      </p:cBhvr>
                                      <p:tavLst>
                                        <p:tav tm="0">
                                          <p:val>
                                            <p:strVal val="#ppt_y+.06"/>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46"/>
                                        </p:tgtEl>
                                        <p:attrNameLst>
                                          <p:attrName>style.visibility</p:attrName>
                                        </p:attrNameLst>
                                      </p:cBhvr>
                                      <p:to>
                                        <p:strVal val="visible"/>
                                      </p:to>
                                    </p:set>
                                    <p:animEffect transition="in" filter="fade">
                                      <p:cBhvr>
                                        <p:cTn id="192" dur="500"/>
                                        <p:tgtEl>
                                          <p:spTgt spid="46"/>
                                        </p:tgtEl>
                                      </p:cBhvr>
                                    </p:animEffect>
                                    <p:anim calcmode="lin" valueType="num">
                                      <p:cBhvr>
                                        <p:cTn id="193" dur="500" fill="hold"/>
                                        <p:tgtEl>
                                          <p:spTgt spid="46"/>
                                        </p:tgtEl>
                                        <p:attrNameLst>
                                          <p:attrName>ppt_x</p:attrName>
                                        </p:attrNameLst>
                                      </p:cBhvr>
                                      <p:tavLst>
                                        <p:tav tm="0">
                                          <p:val>
                                            <p:strVal val="#ppt_x"/>
                                          </p:val>
                                        </p:tav>
                                        <p:tav tm="100000">
                                          <p:val>
                                            <p:strVal val="#ppt_x"/>
                                          </p:val>
                                        </p:tav>
                                      </p:tavLst>
                                    </p:anim>
                                    <p:anim calcmode="lin" valueType="num">
                                      <p:cBhvr>
                                        <p:cTn id="194" dur="500" decel="100000" fill="hold"/>
                                        <p:tgtEl>
                                          <p:spTgt spid="46"/>
                                        </p:tgtEl>
                                        <p:attrNameLst>
                                          <p:attrName>ppt_y</p:attrName>
                                        </p:attrNameLst>
                                      </p:cBhvr>
                                      <p:tavLst>
                                        <p:tav tm="0">
                                          <p:val>
                                            <p:strVal val="#ppt_y+.06"/>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47"/>
                                        </p:tgtEl>
                                        <p:attrNameLst>
                                          <p:attrName>style.visibility</p:attrName>
                                        </p:attrNameLst>
                                      </p:cBhvr>
                                      <p:to>
                                        <p:strVal val="visible"/>
                                      </p:to>
                                    </p:set>
                                    <p:animEffect transition="in" filter="fade">
                                      <p:cBhvr>
                                        <p:cTn id="197" dur="500"/>
                                        <p:tgtEl>
                                          <p:spTgt spid="47"/>
                                        </p:tgtEl>
                                      </p:cBhvr>
                                    </p:animEffect>
                                    <p:anim calcmode="lin" valueType="num">
                                      <p:cBhvr>
                                        <p:cTn id="198" dur="500" fill="hold"/>
                                        <p:tgtEl>
                                          <p:spTgt spid="47"/>
                                        </p:tgtEl>
                                        <p:attrNameLst>
                                          <p:attrName>ppt_x</p:attrName>
                                        </p:attrNameLst>
                                      </p:cBhvr>
                                      <p:tavLst>
                                        <p:tav tm="0">
                                          <p:val>
                                            <p:strVal val="#ppt_x"/>
                                          </p:val>
                                        </p:tav>
                                        <p:tav tm="100000">
                                          <p:val>
                                            <p:strVal val="#ppt_x"/>
                                          </p:val>
                                        </p:tav>
                                      </p:tavLst>
                                    </p:anim>
                                    <p:anim calcmode="lin" valueType="num">
                                      <p:cBhvr>
                                        <p:cTn id="199" dur="500" decel="100000" fill="hold"/>
                                        <p:tgtEl>
                                          <p:spTgt spid="47"/>
                                        </p:tgtEl>
                                        <p:attrNameLst>
                                          <p:attrName>ppt_y</p:attrName>
                                        </p:attrNameLst>
                                      </p:cBhvr>
                                      <p:tavLst>
                                        <p:tav tm="0">
                                          <p:val>
                                            <p:strVal val="#ppt_y+.06"/>
                                          </p:val>
                                        </p:tav>
                                        <p:tav tm="100000">
                                          <p:val>
                                            <p:strVal val="#ppt_y"/>
                                          </p:val>
                                        </p:tav>
                                      </p:tavLst>
                                    </p:anim>
                                  </p:childTnLst>
                                </p:cTn>
                              </p:par>
                              <p:par>
                                <p:cTn id="200" presetID="42" presetClass="entr" presetSubtype="0" fill="hold" grpId="0" nodeType="withEffect">
                                  <p:stCondLst>
                                    <p:cond delay="0"/>
                                  </p:stCondLst>
                                  <p:childTnLst>
                                    <p:set>
                                      <p:cBhvr>
                                        <p:cTn id="201" dur="1" fill="hold">
                                          <p:stCondLst>
                                            <p:cond delay="0"/>
                                          </p:stCondLst>
                                        </p:cTn>
                                        <p:tgtEl>
                                          <p:spTgt spid="48"/>
                                        </p:tgtEl>
                                        <p:attrNameLst>
                                          <p:attrName>style.visibility</p:attrName>
                                        </p:attrNameLst>
                                      </p:cBhvr>
                                      <p:to>
                                        <p:strVal val="visible"/>
                                      </p:to>
                                    </p:set>
                                    <p:animEffect transition="in" filter="fade">
                                      <p:cBhvr>
                                        <p:cTn id="202" dur="500"/>
                                        <p:tgtEl>
                                          <p:spTgt spid="48"/>
                                        </p:tgtEl>
                                      </p:cBhvr>
                                    </p:animEffect>
                                    <p:anim calcmode="lin" valueType="num">
                                      <p:cBhvr>
                                        <p:cTn id="203" dur="500" fill="hold"/>
                                        <p:tgtEl>
                                          <p:spTgt spid="48"/>
                                        </p:tgtEl>
                                        <p:attrNameLst>
                                          <p:attrName>ppt_x</p:attrName>
                                        </p:attrNameLst>
                                      </p:cBhvr>
                                      <p:tavLst>
                                        <p:tav tm="0">
                                          <p:val>
                                            <p:strVal val="#ppt_x"/>
                                          </p:val>
                                        </p:tav>
                                        <p:tav tm="100000">
                                          <p:val>
                                            <p:strVal val="#ppt_x"/>
                                          </p:val>
                                        </p:tav>
                                      </p:tavLst>
                                    </p:anim>
                                    <p:anim calcmode="lin" valueType="num">
                                      <p:cBhvr>
                                        <p:cTn id="204" dur="500" decel="100000" fill="hold"/>
                                        <p:tgtEl>
                                          <p:spTgt spid="4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05</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TODAY'S PROMISE</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In 60 minutes you will be able to…</a:t>
            </a:r>
            <a:endParaRPr lang="en-US" sz="3400" dirty="0"/>
          </a:p>
        </p:txBody>
      </p:sp>
      <p:sp>
        <p:nvSpPr>
          <p:cNvPr id="8" name="a1_p0_c"/>
          <p:cNvSpPr/>
          <p:nvPr/>
        </p:nvSpPr>
        <p:spPr>
          <a:xfrm>
            <a:off x="548640" y="1783080"/>
            <a:ext cx="822960" cy="822960"/>
          </a:xfrm>
          <a:prstGeom prst="ellipse">
            <a:avLst/>
          </a:prstGeom>
          <a:solidFill>
            <a:srgbClr val="4FC3F7">
              <a:alpha val="20000"/>
            </a:srgbClr>
          </a:solidFill>
          <a:ln w="19050">
            <a:solidFill>
              <a:srgbClr val="4FC3F7"/>
            </a:solidFill>
            <a:prstDash val="solid"/>
          </a:ln>
        </p:spPr>
      </p:sp>
      <p:pic>
        <p:nvPicPr>
          <p:cNvPr id="9" name="a1_p0_i" descr="preencoded.png">    </p:cNvPr>
          <p:cNvPicPr>
            <a:picLocks noChangeAspect="1"/>
          </p:cNvPicPr>
          <p:nvPr/>
        </p:nvPicPr>
        <p:blipFill>
          <a:blip r:embed="rId1"/>
          <a:stretch>
            <a:fillRect/>
          </a:stretch>
        </p:blipFill>
        <p:spPr>
          <a:xfrm>
            <a:off x="762610" y="1997050"/>
            <a:ext cx="395021" cy="395021"/>
          </a:xfrm>
          <a:prstGeom prst="rect">
            <a:avLst/>
          </a:prstGeom>
        </p:spPr>
      </p:pic>
      <p:sp>
        <p:nvSpPr>
          <p:cNvPr id="10" name="a1_pt0"/>
          <p:cNvSpPr txBox="1"/>
          <p:nvPr/>
        </p:nvSpPr>
        <p:spPr>
          <a:xfrm>
            <a:off x="1600200" y="1801368"/>
            <a:ext cx="594360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Place LLMs in the AI story</a:t>
            </a:r>
            <a:endParaRPr lang="en-US" sz="2000" dirty="0"/>
          </a:p>
        </p:txBody>
      </p:sp>
      <p:sp>
        <p:nvSpPr>
          <p:cNvPr id="11" name="a1_pd0"/>
          <p:cNvSpPr txBox="1"/>
          <p:nvPr/>
        </p:nvSpPr>
        <p:spPr>
          <a:xfrm>
            <a:off x="1600200" y="2212848"/>
            <a:ext cx="5943600" cy="4572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AI → ML → deep learning → GenAI → LLMs, and 70 years of history in 5 minutes.</a:t>
            </a:r>
            <a:endParaRPr lang="en-US" sz="1400" dirty="0"/>
          </a:p>
        </p:txBody>
      </p:sp>
      <p:sp>
        <p:nvSpPr>
          <p:cNvPr id="12" name="a2_p1_c"/>
          <p:cNvSpPr/>
          <p:nvPr/>
        </p:nvSpPr>
        <p:spPr>
          <a:xfrm>
            <a:off x="548640" y="2862072"/>
            <a:ext cx="822960" cy="822960"/>
          </a:xfrm>
          <a:prstGeom prst="ellipse">
            <a:avLst/>
          </a:prstGeom>
          <a:solidFill>
            <a:srgbClr val="2EE6A6">
              <a:alpha val="20000"/>
            </a:srgbClr>
          </a:solidFill>
          <a:ln w="19050">
            <a:solidFill>
              <a:srgbClr val="2EE6A6"/>
            </a:solidFill>
            <a:prstDash val="solid"/>
          </a:ln>
        </p:spPr>
      </p:sp>
      <p:pic>
        <p:nvPicPr>
          <p:cNvPr id="13" name="a2_p1_i" descr="preencoded.png">    </p:cNvPr>
          <p:cNvPicPr>
            <a:picLocks noChangeAspect="1"/>
          </p:cNvPicPr>
          <p:nvPr/>
        </p:nvPicPr>
        <p:blipFill>
          <a:blip r:embed="rId2"/>
          <a:stretch>
            <a:fillRect/>
          </a:stretch>
        </p:blipFill>
        <p:spPr>
          <a:xfrm>
            <a:off x="762610" y="3076042"/>
            <a:ext cx="395021" cy="395021"/>
          </a:xfrm>
          <a:prstGeom prst="rect">
            <a:avLst/>
          </a:prstGeom>
        </p:spPr>
      </p:pic>
      <p:sp>
        <p:nvSpPr>
          <p:cNvPr id="14" name="a2_pt1"/>
          <p:cNvSpPr txBox="1"/>
          <p:nvPr/>
        </p:nvSpPr>
        <p:spPr>
          <a:xfrm>
            <a:off x="1600200" y="2880360"/>
            <a:ext cx="594360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Explain what an LLM actually does</a:t>
            </a:r>
            <a:endParaRPr lang="en-US" sz="2000" dirty="0"/>
          </a:p>
        </p:txBody>
      </p:sp>
      <p:sp>
        <p:nvSpPr>
          <p:cNvPr id="15" name="a2_pd1"/>
          <p:cNvSpPr txBox="1"/>
          <p:nvPr/>
        </p:nvSpPr>
        <p:spPr>
          <a:xfrm>
            <a:off x="1600200" y="3291840"/>
            <a:ext cx="5943600" cy="4572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Next-token prediction, tokens, context windows, temperature, without the hype.</a:t>
            </a:r>
            <a:endParaRPr lang="en-US" sz="1400" dirty="0"/>
          </a:p>
        </p:txBody>
      </p:sp>
      <p:sp>
        <p:nvSpPr>
          <p:cNvPr id="16" name="a3_p2_c"/>
          <p:cNvSpPr/>
          <p:nvPr/>
        </p:nvSpPr>
        <p:spPr>
          <a:xfrm>
            <a:off x="548640" y="3941064"/>
            <a:ext cx="822960" cy="822960"/>
          </a:xfrm>
          <a:prstGeom prst="ellipse">
            <a:avLst/>
          </a:prstGeom>
          <a:solidFill>
            <a:srgbClr val="FFB547">
              <a:alpha val="20000"/>
            </a:srgbClr>
          </a:solidFill>
          <a:ln w="19050">
            <a:solidFill>
              <a:srgbClr val="FFB547"/>
            </a:solidFill>
            <a:prstDash val="solid"/>
          </a:ln>
        </p:spPr>
      </p:sp>
      <p:pic>
        <p:nvPicPr>
          <p:cNvPr id="17" name="a3_p2_i" descr="preencoded.png">    </p:cNvPr>
          <p:cNvPicPr>
            <a:picLocks noChangeAspect="1"/>
          </p:cNvPicPr>
          <p:nvPr/>
        </p:nvPicPr>
        <p:blipFill>
          <a:blip r:embed="rId3"/>
          <a:stretch>
            <a:fillRect/>
          </a:stretch>
        </p:blipFill>
        <p:spPr>
          <a:xfrm>
            <a:off x="762610" y="4155034"/>
            <a:ext cx="395021" cy="395021"/>
          </a:xfrm>
          <a:prstGeom prst="rect">
            <a:avLst/>
          </a:prstGeom>
        </p:spPr>
      </p:pic>
      <p:sp>
        <p:nvSpPr>
          <p:cNvPr id="18" name="a3_pt2"/>
          <p:cNvSpPr txBox="1"/>
          <p:nvPr/>
        </p:nvSpPr>
        <p:spPr>
          <a:xfrm>
            <a:off x="1600200" y="3959352"/>
            <a:ext cx="594360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Tell model types &amp; providers apart</a:t>
            </a:r>
            <a:endParaRPr lang="en-US" sz="2000" dirty="0"/>
          </a:p>
        </p:txBody>
      </p:sp>
      <p:sp>
        <p:nvSpPr>
          <p:cNvPr id="19" name="a3_pd2"/>
          <p:cNvSpPr txBox="1"/>
          <p:nvPr/>
        </p:nvSpPr>
        <p:spPr>
          <a:xfrm>
            <a:off x="1600200" y="4370832"/>
            <a:ext cx="5943600" cy="4572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Chat vs completion vs embedding, and the handful of providers you'll really use.</a:t>
            </a:r>
            <a:endParaRPr lang="en-US" sz="1400" dirty="0"/>
          </a:p>
        </p:txBody>
      </p:sp>
      <p:sp>
        <p:nvSpPr>
          <p:cNvPr id="20" name="a4_p3_c"/>
          <p:cNvSpPr/>
          <p:nvPr/>
        </p:nvSpPr>
        <p:spPr>
          <a:xfrm>
            <a:off x="548640" y="5020056"/>
            <a:ext cx="822960" cy="822960"/>
          </a:xfrm>
          <a:prstGeom prst="ellipse">
            <a:avLst/>
          </a:prstGeom>
          <a:solidFill>
            <a:srgbClr val="FF5C8A">
              <a:alpha val="20000"/>
            </a:srgbClr>
          </a:solidFill>
          <a:ln w="19050">
            <a:solidFill>
              <a:srgbClr val="FF5C8A"/>
            </a:solidFill>
            <a:prstDash val="solid"/>
          </a:ln>
        </p:spPr>
      </p:sp>
      <p:pic>
        <p:nvPicPr>
          <p:cNvPr id="21" name="a4_p3_i" descr="preencoded.png">    </p:cNvPr>
          <p:cNvPicPr>
            <a:picLocks noChangeAspect="1"/>
          </p:cNvPicPr>
          <p:nvPr/>
        </p:nvPicPr>
        <p:blipFill>
          <a:blip r:embed="rId4"/>
          <a:stretch>
            <a:fillRect/>
          </a:stretch>
        </p:blipFill>
        <p:spPr>
          <a:xfrm>
            <a:off x="762610" y="5234026"/>
            <a:ext cx="395021" cy="395021"/>
          </a:xfrm>
          <a:prstGeom prst="rect">
            <a:avLst/>
          </a:prstGeom>
        </p:spPr>
      </p:pic>
      <p:sp>
        <p:nvSpPr>
          <p:cNvPr id="22" name="a4_pt3"/>
          <p:cNvSpPr txBox="1"/>
          <p:nvPr/>
        </p:nvSpPr>
        <p:spPr>
          <a:xfrm>
            <a:off x="1600200" y="5038344"/>
            <a:ext cx="594360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Call an LLM from C# with HttpClient</a:t>
            </a:r>
            <a:endParaRPr lang="en-US" sz="2000" dirty="0"/>
          </a:p>
        </p:txBody>
      </p:sp>
      <p:sp>
        <p:nvSpPr>
          <p:cNvPr id="23" name="a4_pd3"/>
          <p:cNvSpPr txBox="1"/>
          <p:nvPr/>
        </p:nvSpPr>
        <p:spPr>
          <a:xfrm>
            <a:off x="1600200" y="5449824"/>
            <a:ext cx="5943600" cy="45720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Read every byte of the request and response. No SDK, no magic.</a:t>
            </a:r>
            <a:endParaRPr lang="en-US" sz="1400" dirty="0"/>
          </a:p>
        </p:txBody>
      </p:sp>
      <p:sp>
        <p:nvSpPr>
          <p:cNvPr id="24" name="a5_ag"/>
          <p:cNvSpPr/>
          <p:nvPr/>
        </p:nvSpPr>
        <p:spPr>
          <a:xfrm>
            <a:off x="7955280" y="1783080"/>
            <a:ext cx="3703320" cy="4206240"/>
          </a:xfrm>
          <a:prstGeom prst="roundRect">
            <a:avLst>
              <a:gd name="adj" fmla="val 2963"/>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5" name="a5_agh"/>
          <p:cNvSpPr txBox="1"/>
          <p:nvPr/>
        </p:nvSpPr>
        <p:spPr>
          <a:xfrm>
            <a:off x="8229600" y="2011680"/>
            <a:ext cx="2743200" cy="320040"/>
          </a:xfrm>
          <a:prstGeom prst="rect">
            <a:avLst/>
          </a:prstGeom>
          <a:noFill/>
          <a:ln/>
        </p:spPr>
        <p:txBody>
          <a:bodyPr wrap="square" lIns="0" tIns="0" rIns="0" bIns="0" rtlCol="0" anchor="t"/>
          <a:lstStyle/>
          <a:p>
            <a:pPr indent="0" marL="0">
              <a:buNone/>
            </a:pPr>
            <a:r>
              <a:rPr lang="en-US" sz="1200" b="1" spc="400" kern="0" dirty="0">
                <a:solidFill>
                  <a:srgbClr val="2EE6A6"/>
                </a:solidFill>
                <a:latin typeface="Arial" pitchFamily="34" charset="0"/>
                <a:ea typeface="Arial" pitchFamily="34" charset="-122"/>
                <a:cs typeface="Arial" pitchFamily="34" charset="-120"/>
              </a:rPr>
              <a:t>AGENDA</a:t>
            </a:r>
            <a:endParaRPr lang="en-US" sz="1200" dirty="0"/>
          </a:p>
        </p:txBody>
      </p:sp>
      <p:sp>
        <p:nvSpPr>
          <p:cNvPr id="26" name="a5_agl"/>
          <p:cNvSpPr txBox="1"/>
          <p:nvPr/>
        </p:nvSpPr>
        <p:spPr>
          <a:xfrm>
            <a:off x="8229600" y="2468880"/>
            <a:ext cx="3291840" cy="3291840"/>
          </a:xfrm>
          <a:prstGeom prst="rect">
            <a:avLst/>
          </a:prstGeom>
          <a:noFill/>
          <a:ln/>
        </p:spPr>
        <p:txBody>
          <a:bodyPr wrap="square" lIns="0" tIns="0" rIns="0" bIns="0" rtlCol="0" anchor="t"/>
          <a:lstStyle/>
          <a:p>
            <a:pPr indent="0" marL="0">
              <a:spcAft>
                <a:spcPts val="1000"/>
              </a:spcAft>
              <a:buNone/>
            </a:pPr>
            <a:r>
              <a:rPr lang="en-US" sz="1500" dirty="0">
                <a:solidFill>
                  <a:srgbClr val="E9E4FF"/>
                </a:solidFill>
                <a:latin typeface="Calibri" pitchFamily="34" charset="0"/>
                <a:ea typeface="Calibri" pitchFamily="34" charset="-122"/>
                <a:cs typeface="Calibri" pitchFamily="34" charset="-120"/>
              </a:rPr>
              <a:t>8 min   Big picture: AI → GenAI</a:t>
            </a:r>
            <a:endParaRPr lang="en-US" sz="1500" dirty="0"/>
          </a:p>
          <a:p>
            <a:pPr indent="0" marL="0">
              <a:spcAft>
                <a:spcPts val="1000"/>
              </a:spcAft>
              <a:buNone/>
            </a:pPr>
            <a:r>
              <a:rPr lang="en-US" sz="1500" dirty="0">
                <a:solidFill>
                  <a:srgbClr val="E9E4FF"/>
                </a:solidFill>
                <a:latin typeface="Calibri" pitchFamily="34" charset="0"/>
                <a:ea typeface="Calibri" pitchFamily="34" charset="-122"/>
                <a:cs typeface="Calibri" pitchFamily="34" charset="-120"/>
              </a:rPr>
              <a:t>13 min   How LLMs work</a:t>
            </a:r>
            <a:endParaRPr lang="en-US" sz="1500" dirty="0"/>
          </a:p>
          <a:p>
            <a:pPr indent="0" marL="0">
              <a:spcAft>
                <a:spcPts val="1000"/>
              </a:spcAft>
              <a:buNone/>
            </a:pPr>
            <a:r>
              <a:rPr lang="en-US" sz="1500" dirty="0">
                <a:solidFill>
                  <a:srgbClr val="E9E4FF"/>
                </a:solidFill>
                <a:latin typeface="Calibri" pitchFamily="34" charset="0"/>
                <a:ea typeface="Calibri" pitchFamily="34" charset="-122"/>
                <a:cs typeface="Calibri" pitchFamily="34" charset="-120"/>
              </a:rPr>
              <a:t>5 min   LLMs in .NET</a:t>
            </a:r>
            <a:endParaRPr lang="en-US" sz="1500" dirty="0"/>
          </a:p>
          <a:p>
            <a:pPr indent="0" marL="0">
              <a:spcAft>
                <a:spcPts val="1000"/>
              </a:spcAft>
              <a:buNone/>
            </a:pPr>
            <a:r>
              <a:rPr lang="en-US" sz="1500" dirty="0">
                <a:solidFill>
                  <a:srgbClr val="E9E4FF"/>
                </a:solidFill>
                <a:latin typeface="Calibri" pitchFamily="34" charset="0"/>
                <a:ea typeface="Calibri" pitchFamily="34" charset="-122"/>
                <a:cs typeface="Calibri" pitchFamily="34" charset="-120"/>
              </a:rPr>
              <a:t>15 min   Live: LLM from C#</a:t>
            </a:r>
            <a:endParaRPr lang="en-US" sz="1500" dirty="0"/>
          </a:p>
          <a:p>
            <a:pPr indent="0" marL="0">
              <a:spcAft>
                <a:spcPts val="1000"/>
              </a:spcAft>
              <a:buNone/>
            </a:pPr>
            <a:r>
              <a:rPr lang="en-US" sz="1500" dirty="0">
                <a:solidFill>
                  <a:srgbClr val="E9E4FF"/>
                </a:solidFill>
                <a:latin typeface="Calibri" pitchFamily="34" charset="0"/>
                <a:ea typeface="Calibri" pitchFamily="34" charset="-122"/>
                <a:cs typeface="Calibri" pitchFamily="34" charset="-120"/>
              </a:rPr>
              <a:t>11 min   Quiz, mission, Q&amp;A</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anim calcmode="lin" valueType="num">
                                      <p:cBhvr>
                                        <p:cTn id="28" dur="500" fill="hold"/>
                                        <p:tgtEl>
                                          <p:spTgt spid="12"/>
                                        </p:tgtEl>
                                        <p:attrNameLst>
                                          <p:attrName>ppt_x</p:attrName>
                                        </p:attrNameLst>
                                      </p:cBhvr>
                                      <p:tavLst>
                                        <p:tav tm="0">
                                          <p:val>
                                            <p:strVal val="#ppt_x"/>
                                          </p:val>
                                        </p:tav>
                                        <p:tav tm="100000">
                                          <p:val>
                                            <p:strVal val="#ppt_x"/>
                                          </p:val>
                                        </p:tav>
                                      </p:tavLst>
                                    </p:anim>
                                    <p:anim calcmode="lin" valueType="num">
                                      <p:cBhvr>
                                        <p:cTn id="29" dur="500" decel="100000" fill="hold"/>
                                        <p:tgtEl>
                                          <p:spTgt spid="12"/>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anim calcmode="lin" valueType="num">
                                      <p:cBhvr>
                                        <p:cTn id="50" dur="500" fill="hold"/>
                                        <p:tgtEl>
                                          <p:spTgt spid="16"/>
                                        </p:tgtEl>
                                        <p:attrNameLst>
                                          <p:attrName>ppt_x</p:attrName>
                                        </p:attrNameLst>
                                      </p:cBhvr>
                                      <p:tavLst>
                                        <p:tav tm="0">
                                          <p:val>
                                            <p:strVal val="#ppt_x"/>
                                          </p:val>
                                        </p:tav>
                                        <p:tav tm="100000">
                                          <p:val>
                                            <p:strVal val="#ppt_x"/>
                                          </p:val>
                                        </p:tav>
                                      </p:tavLst>
                                    </p:anim>
                                    <p:anim calcmode="lin" valueType="num">
                                      <p:cBhvr>
                                        <p:cTn id="51" dur="500" decel="100000" fill="hold"/>
                                        <p:tgtEl>
                                          <p:spTgt spid="16"/>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anim calcmode="lin" valueType="num">
                                      <p:cBhvr>
                                        <p:cTn id="55" dur="500" fill="hold"/>
                                        <p:tgtEl>
                                          <p:spTgt spid="17"/>
                                        </p:tgtEl>
                                        <p:attrNameLst>
                                          <p:attrName>ppt_x</p:attrName>
                                        </p:attrNameLst>
                                      </p:cBhvr>
                                      <p:tavLst>
                                        <p:tav tm="0">
                                          <p:val>
                                            <p:strVal val="#ppt_x"/>
                                          </p:val>
                                        </p:tav>
                                        <p:tav tm="100000">
                                          <p:val>
                                            <p:strVal val="#ppt_x"/>
                                          </p:val>
                                        </p:tav>
                                      </p:tavLst>
                                    </p:anim>
                                    <p:anim calcmode="lin" valueType="num">
                                      <p:cBhvr>
                                        <p:cTn id="56" dur="500" decel="100000" fill="hold"/>
                                        <p:tgtEl>
                                          <p:spTgt spid="17"/>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p:cTn id="60" dur="500" fill="hold"/>
                                        <p:tgtEl>
                                          <p:spTgt spid="18"/>
                                        </p:tgtEl>
                                        <p:attrNameLst>
                                          <p:attrName>ppt_x</p:attrName>
                                        </p:attrNameLst>
                                      </p:cBhvr>
                                      <p:tavLst>
                                        <p:tav tm="0">
                                          <p:val>
                                            <p:strVal val="#ppt_x"/>
                                          </p:val>
                                        </p:tav>
                                        <p:tav tm="100000">
                                          <p:val>
                                            <p:strVal val="#ppt_x"/>
                                          </p:val>
                                        </p:tav>
                                      </p:tavLst>
                                    </p:anim>
                                    <p:anim calcmode="lin" valueType="num">
                                      <p:cBhvr>
                                        <p:cTn id="61" dur="500" decel="1000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p:cTn id="65" dur="500" fill="hold"/>
                                        <p:tgtEl>
                                          <p:spTgt spid="19"/>
                                        </p:tgtEl>
                                        <p:attrNameLst>
                                          <p:attrName>ppt_x</p:attrName>
                                        </p:attrNameLst>
                                      </p:cBhvr>
                                      <p:tavLst>
                                        <p:tav tm="0">
                                          <p:val>
                                            <p:strVal val="#ppt_x"/>
                                          </p:val>
                                        </p:tav>
                                        <p:tav tm="100000">
                                          <p:val>
                                            <p:strVal val="#ppt_x"/>
                                          </p:val>
                                        </p:tav>
                                      </p:tavLst>
                                    </p:anim>
                                    <p:anim calcmode="lin" valueType="num">
                                      <p:cBhvr>
                                        <p:cTn id="66" dur="5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anim calcmode="lin" valueType="num">
                                      <p:cBhvr>
                                        <p:cTn id="72" dur="500" fill="hold"/>
                                        <p:tgtEl>
                                          <p:spTgt spid="20"/>
                                        </p:tgtEl>
                                        <p:attrNameLst>
                                          <p:attrName>ppt_x</p:attrName>
                                        </p:attrNameLst>
                                      </p:cBhvr>
                                      <p:tavLst>
                                        <p:tav tm="0">
                                          <p:val>
                                            <p:strVal val="#ppt_x"/>
                                          </p:val>
                                        </p:tav>
                                        <p:tav tm="100000">
                                          <p:val>
                                            <p:strVal val="#ppt_x"/>
                                          </p:val>
                                        </p:tav>
                                      </p:tavLst>
                                    </p:anim>
                                    <p:anim calcmode="lin" valueType="num">
                                      <p:cBhvr>
                                        <p:cTn id="73" dur="500" decel="1000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anim calcmode="lin" valueType="num">
                                      <p:cBhvr>
                                        <p:cTn id="77" dur="500" fill="hold"/>
                                        <p:tgtEl>
                                          <p:spTgt spid="21"/>
                                        </p:tgtEl>
                                        <p:attrNameLst>
                                          <p:attrName>ppt_x</p:attrName>
                                        </p:attrNameLst>
                                      </p:cBhvr>
                                      <p:tavLst>
                                        <p:tav tm="0">
                                          <p:val>
                                            <p:strVal val="#ppt_x"/>
                                          </p:val>
                                        </p:tav>
                                        <p:tav tm="100000">
                                          <p:val>
                                            <p:strVal val="#ppt_x"/>
                                          </p:val>
                                        </p:tav>
                                      </p:tavLst>
                                    </p:anim>
                                    <p:anim calcmode="lin" valueType="num">
                                      <p:cBhvr>
                                        <p:cTn id="78" dur="500" decel="1000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anim calcmode="lin" valueType="num">
                                      <p:cBhvr>
                                        <p:cTn id="82" dur="500" fill="hold"/>
                                        <p:tgtEl>
                                          <p:spTgt spid="22"/>
                                        </p:tgtEl>
                                        <p:attrNameLst>
                                          <p:attrName>ppt_x</p:attrName>
                                        </p:attrNameLst>
                                      </p:cBhvr>
                                      <p:tavLst>
                                        <p:tav tm="0">
                                          <p:val>
                                            <p:strVal val="#ppt_x"/>
                                          </p:val>
                                        </p:tav>
                                        <p:tav tm="100000">
                                          <p:val>
                                            <p:strVal val="#ppt_x"/>
                                          </p:val>
                                        </p:tav>
                                      </p:tavLst>
                                    </p:anim>
                                    <p:anim calcmode="lin" valueType="num">
                                      <p:cBhvr>
                                        <p:cTn id="83" dur="500" decel="1000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p:cTn id="87" dur="500" fill="hold"/>
                                        <p:tgtEl>
                                          <p:spTgt spid="23"/>
                                        </p:tgtEl>
                                        <p:attrNameLst>
                                          <p:attrName>ppt_x</p:attrName>
                                        </p:attrNameLst>
                                      </p:cBhvr>
                                      <p:tavLst>
                                        <p:tav tm="0">
                                          <p:val>
                                            <p:strVal val="#ppt_x"/>
                                          </p:val>
                                        </p:tav>
                                        <p:tav tm="100000">
                                          <p:val>
                                            <p:strVal val="#ppt_x"/>
                                          </p:val>
                                        </p:tav>
                                      </p:tavLst>
                                    </p:anim>
                                    <p:anim calcmode="lin" valueType="num">
                                      <p:cBhvr>
                                        <p:cTn id="88"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decel="100000" fill="hold"/>
                                        <p:tgtEl>
                                          <p:spTgt spid="24"/>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anim calcmode="lin" valueType="num">
                                      <p:cBhvr>
                                        <p:cTn id="99" dur="500" fill="hold"/>
                                        <p:tgtEl>
                                          <p:spTgt spid="25"/>
                                        </p:tgtEl>
                                        <p:attrNameLst>
                                          <p:attrName>ppt_x</p:attrName>
                                        </p:attrNameLst>
                                      </p:cBhvr>
                                      <p:tavLst>
                                        <p:tav tm="0">
                                          <p:val>
                                            <p:strVal val="#ppt_x"/>
                                          </p:val>
                                        </p:tav>
                                        <p:tav tm="100000">
                                          <p:val>
                                            <p:strVal val="#ppt_x"/>
                                          </p:val>
                                        </p:tav>
                                      </p:tavLst>
                                    </p:anim>
                                    <p:anim calcmode="lin" valueType="num">
                                      <p:cBhvr>
                                        <p:cTn id="100" dur="500" decel="100000" fill="hold"/>
                                        <p:tgtEl>
                                          <p:spTgt spid="25"/>
                                        </p:tgtEl>
                                        <p:attrNameLst>
                                          <p:attrName>ppt_y</p:attrName>
                                        </p:attrNameLst>
                                      </p:cBhvr>
                                      <p:tavLst>
                                        <p:tav tm="0">
                                          <p:val>
                                            <p:strVal val="#ppt_y+.06"/>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anim calcmode="lin" valueType="num">
                                      <p:cBhvr>
                                        <p:cTn id="104" dur="500" fill="hold"/>
                                        <p:tgtEl>
                                          <p:spTgt spid="26"/>
                                        </p:tgtEl>
                                        <p:attrNameLst>
                                          <p:attrName>ppt_x</p:attrName>
                                        </p:attrNameLst>
                                      </p:cBhvr>
                                      <p:tavLst>
                                        <p:tav tm="0">
                                          <p:val>
                                            <p:strVal val="#ppt_x"/>
                                          </p:val>
                                        </p:tav>
                                        <p:tav tm="100000">
                                          <p:val>
                                            <p:strVal val="#ppt_x"/>
                                          </p:val>
                                        </p:tav>
                                      </p:tavLst>
                                    </p:anim>
                                    <p:anim calcmode="lin" valueType="num">
                                      <p:cBhvr>
                                        <p:cTn id="105" dur="500" decel="100000" fill="hold"/>
                                        <p:tgtEl>
                                          <p:spTgt spid="2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1A"/>
        </a:solidFill>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3" name="Text 1"/>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06</a:t>
            </a:r>
            <a:endParaRPr lang="en-US" sz="1000" dirty="0"/>
          </a:p>
        </p:txBody>
      </p:sp>
      <p:sp>
        <p:nvSpPr>
          <p:cNvPr id="4" name="auto1_ring"/>
          <p:cNvSpPr/>
          <p:nvPr/>
        </p:nvSpPr>
        <p:spPr>
          <a:xfrm>
            <a:off x="7498080" y="822960"/>
            <a:ext cx="5120640" cy="5120640"/>
          </a:xfrm>
          <a:prstGeom prst="ellipse">
            <a:avLst/>
          </a:prstGeom>
          <a:solidFill>
            <a:srgbClr val="4FC3F7">
              <a:alpha val="15000"/>
            </a:srgbClr>
          </a:solidFill>
          <a:ln w="19050">
            <a:solidFill>
              <a:srgbClr val="4FC3F7"/>
            </a:solidFill>
            <a:prstDash val="solid"/>
          </a:ln>
        </p:spPr>
      </p:sp>
      <p:pic>
        <p:nvPicPr>
          <p:cNvPr id="5" name="auto2_ic" descr="preencoded.png">    </p:cNvPr>
          <p:cNvPicPr>
            <a:picLocks noChangeAspect="1"/>
          </p:cNvPicPr>
          <p:nvPr/>
        </p:nvPicPr>
        <p:blipFill>
          <a:blip r:embed="rId1"/>
          <a:stretch>
            <a:fillRect/>
          </a:stretch>
        </p:blipFill>
        <p:spPr>
          <a:xfrm>
            <a:off x="9052560" y="2377440"/>
            <a:ext cx="2011680" cy="2011680"/>
          </a:xfrm>
          <a:prstGeom prst="rect">
            <a:avLst/>
          </a:prstGeom>
        </p:spPr>
      </p:pic>
      <p:sp>
        <p:nvSpPr>
          <p:cNvPr id="6" name="auto1_n"/>
          <p:cNvSpPr txBox="1"/>
          <p:nvPr/>
        </p:nvSpPr>
        <p:spPr>
          <a:xfrm>
            <a:off x="548640" y="1463040"/>
            <a:ext cx="3657600" cy="1463040"/>
          </a:xfrm>
          <a:prstGeom prst="rect">
            <a:avLst/>
          </a:prstGeom>
          <a:noFill/>
          <a:ln/>
        </p:spPr>
        <p:txBody>
          <a:bodyPr wrap="square" lIns="0" tIns="0" rIns="0" bIns="0" rtlCol="0" anchor="t"/>
          <a:lstStyle/>
          <a:p>
            <a:pPr indent="0" marL="0">
              <a:buNone/>
            </a:pPr>
            <a:r>
              <a:rPr lang="en-US" sz="11000" b="1" dirty="0">
                <a:solidFill>
                  <a:srgbClr val="4FC3F7"/>
                </a:solidFill>
                <a:latin typeface="Arial" pitchFamily="34" charset="0"/>
                <a:ea typeface="Arial" pitchFamily="34" charset="-122"/>
                <a:cs typeface="Arial" pitchFamily="34" charset="-120"/>
              </a:rPr>
              <a:t>01</a:t>
            </a:r>
            <a:endParaRPr lang="en-US" sz="11000" dirty="0"/>
          </a:p>
        </p:txBody>
      </p:sp>
      <p:sp>
        <p:nvSpPr>
          <p:cNvPr id="7" name="auto2_t"/>
          <p:cNvSpPr txBox="1"/>
          <p:nvPr/>
        </p:nvSpPr>
        <p:spPr>
          <a:xfrm>
            <a:off x="548640" y="3017520"/>
            <a:ext cx="6766560" cy="137160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The big picture: from AI to GenAI</a:t>
            </a:r>
            <a:endParaRPr lang="en-US" sz="4200" dirty="0"/>
          </a:p>
        </p:txBody>
      </p:sp>
      <p:sp>
        <p:nvSpPr>
          <p:cNvPr id="8" name="auto3_s"/>
          <p:cNvSpPr txBox="1"/>
          <p:nvPr/>
        </p:nvSpPr>
        <p:spPr>
          <a:xfrm>
            <a:off x="548640" y="4480560"/>
            <a:ext cx="6583680" cy="731520"/>
          </a:xfrm>
          <a:prstGeom prst="rect">
            <a:avLst/>
          </a:prstGeom>
          <a:noFill/>
          <a:ln/>
        </p:spPr>
        <p:txBody>
          <a:bodyPr wrap="square" lIns="0" tIns="0" rIns="0" bIns="0" rtlCol="0" anchor="t"/>
          <a:lstStyle/>
          <a:p>
            <a:pPr indent="0" marL="0">
              <a:buNone/>
            </a:pPr>
            <a:r>
              <a:rPr lang="en-US" sz="1800" dirty="0">
                <a:solidFill>
                  <a:srgbClr val="A99BD6"/>
                </a:solidFill>
                <a:latin typeface="Calibri" pitchFamily="34" charset="0"/>
                <a:ea typeface="Calibri" pitchFamily="34" charset="-122"/>
                <a:cs typeface="Calibri" pitchFamily="34" charset="-120"/>
              </a:rPr>
              <a:t>70 years of ideas in 8 minutes. Where do LLMs actually sit?</a:t>
            </a:r>
            <a:endParaRPr lang="en-US" sz="18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1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p:cTn id="6" dur="500" fill="hold"/>
                                        <p:tgtEl>
                                          <p:spTgt spid="4"/>
                                        </p:tgtEl>
                                        <p:attrNameLst>
                                          <p:attrName>ppt_x</p:attrName>
                                        </p:attrNameLst>
                                      </p:cBhvr>
                                      <p:tavLst>
                                        <p:tav tm="0">
                                          <p:val>
                                            <p:strVal val="#ppt_x"/>
                                          </p:val>
                                        </p:tav>
                                        <p:tav tm="100000">
                                          <p:val>
                                            <p:strVal val="#ppt_x"/>
                                          </p:val>
                                        </p:tav>
                                      </p:tavLst>
                                    </p:anim>
                                    <p:anim calcmode="lin" valueType="num">
                                      <p:cBhvr>
                                        <p:cTn id="7" dur="500" decel="10000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decel="100000" fill="hold"/>
                                        <p:tgtEl>
                                          <p:spTgt spid="6"/>
                                        </p:tgtEl>
                                        <p:attrNameLst>
                                          <p:attrName>ppt_y</p:attrName>
                                        </p:attrNameLst>
                                      </p:cBhvr>
                                      <p:tavLst>
                                        <p:tav tm="0">
                                          <p:val>
                                            <p:strVal val="#ppt_y+.06"/>
                                          </p:val>
                                        </p:tav>
                                        <p:tav tm="100000">
                                          <p:val>
                                            <p:strVal val="#ppt_y"/>
                                          </p:val>
                                        </p:tav>
                                      </p:tavLst>
                                    </p:anim>
                                  </p:childTnLst>
                                </p:cTn>
                              </p:par>
                            </p:childTnLst>
                          </p:cTn>
                        </p:par>
                        <p:par>
                          <p:cTn id="24"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decel="100000" fill="hold"/>
                                        <p:tgtEl>
                                          <p:spTgt spid="7"/>
                                        </p:tgtEl>
                                        <p:attrNameLst>
                                          <p:attrName>ppt_y</p:attrName>
                                        </p:attrNameLst>
                                      </p:cBhvr>
                                      <p:tavLst>
                                        <p:tav tm="0">
                                          <p:val>
                                            <p:strVal val="#ppt_y+.06"/>
                                          </p:val>
                                        </p:tav>
                                        <p:tav tm="100000">
                                          <p:val>
                                            <p:strVal val="#ppt_y"/>
                                          </p:val>
                                        </p:tav>
                                      </p:tavLst>
                                    </p:anim>
                                  </p:childTnLst>
                                </p:cTn>
                              </p:par>
                            </p:childTnLst>
                          </p:cTn>
                        </p:par>
                        <p:par>
                          <p:cTn id="30" fill="hold">
                            <p:stCondLst>
                              <p:cond delay="700"/>
                            </p:stCondLst>
                            <p:childTnLst>
                              <p:par>
                                <p:cTn id="25" presetID="42"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07</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RUSSIAN DOLLS</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AI ⊃ ML ⊃ Deep Learning ⊃ GenAI ⊃ LLMs</a:t>
            </a:r>
            <a:endParaRPr lang="en-US" sz="3400" dirty="0"/>
          </a:p>
        </p:txBody>
      </p:sp>
      <p:sp>
        <p:nvSpPr>
          <p:cNvPr id="8" name="a1_r0"/>
          <p:cNvSpPr/>
          <p:nvPr/>
        </p:nvSpPr>
        <p:spPr>
          <a:xfrm>
            <a:off x="777240" y="1737360"/>
            <a:ext cx="4480560" cy="4480560"/>
          </a:xfrm>
          <a:prstGeom prst="ellipse">
            <a:avLst/>
          </a:prstGeom>
          <a:solidFill>
            <a:srgbClr val="7C4DFF">
              <a:alpha val="22000"/>
            </a:srgbClr>
          </a:solidFill>
          <a:ln w="25400">
            <a:solidFill>
              <a:srgbClr val="7C4DFF"/>
            </a:solidFill>
            <a:prstDash val="solid"/>
          </a:ln>
        </p:spPr>
      </p:sp>
      <p:sp>
        <p:nvSpPr>
          <p:cNvPr id="9" name="a1_rl0"/>
          <p:cNvSpPr txBox="1"/>
          <p:nvPr/>
        </p:nvSpPr>
        <p:spPr>
          <a:xfrm>
            <a:off x="1554480" y="1801368"/>
            <a:ext cx="2926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Artificial Intelligence</a:t>
            </a:r>
            <a:endParaRPr lang="en-US" sz="1300" dirty="0"/>
          </a:p>
        </p:txBody>
      </p:sp>
      <p:sp>
        <p:nvSpPr>
          <p:cNvPr id="10" name="a2_r1"/>
          <p:cNvSpPr/>
          <p:nvPr/>
        </p:nvSpPr>
        <p:spPr>
          <a:xfrm>
            <a:off x="1234440" y="2194560"/>
            <a:ext cx="3566160" cy="3566160"/>
          </a:xfrm>
          <a:prstGeom prst="ellipse">
            <a:avLst/>
          </a:prstGeom>
          <a:solidFill>
            <a:srgbClr val="4FC3F7">
              <a:alpha val="22000"/>
            </a:srgbClr>
          </a:solidFill>
          <a:ln w="25400">
            <a:solidFill>
              <a:srgbClr val="4FC3F7"/>
            </a:solidFill>
            <a:prstDash val="solid"/>
          </a:ln>
        </p:spPr>
      </p:sp>
      <p:sp>
        <p:nvSpPr>
          <p:cNvPr id="11" name="a2_rl1"/>
          <p:cNvSpPr txBox="1"/>
          <p:nvPr/>
        </p:nvSpPr>
        <p:spPr>
          <a:xfrm>
            <a:off x="1554480" y="2258568"/>
            <a:ext cx="2926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Machine Learning</a:t>
            </a:r>
            <a:endParaRPr lang="en-US" sz="1300" dirty="0"/>
          </a:p>
        </p:txBody>
      </p:sp>
      <p:sp>
        <p:nvSpPr>
          <p:cNvPr id="12" name="a3_r2"/>
          <p:cNvSpPr/>
          <p:nvPr/>
        </p:nvSpPr>
        <p:spPr>
          <a:xfrm>
            <a:off x="1691640" y="2651760"/>
            <a:ext cx="2651760" cy="2651760"/>
          </a:xfrm>
          <a:prstGeom prst="ellipse">
            <a:avLst/>
          </a:prstGeom>
          <a:solidFill>
            <a:srgbClr val="FFB547">
              <a:alpha val="22000"/>
            </a:srgbClr>
          </a:solidFill>
          <a:ln w="25400">
            <a:solidFill>
              <a:srgbClr val="FFB547"/>
            </a:solidFill>
            <a:prstDash val="solid"/>
          </a:ln>
        </p:spPr>
      </p:sp>
      <p:sp>
        <p:nvSpPr>
          <p:cNvPr id="13" name="a3_rl2"/>
          <p:cNvSpPr txBox="1"/>
          <p:nvPr/>
        </p:nvSpPr>
        <p:spPr>
          <a:xfrm>
            <a:off x="1554480" y="2715768"/>
            <a:ext cx="2926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Deep Learning</a:t>
            </a:r>
            <a:endParaRPr lang="en-US" sz="1300" dirty="0"/>
          </a:p>
        </p:txBody>
      </p:sp>
      <p:sp>
        <p:nvSpPr>
          <p:cNvPr id="14" name="a4_r3"/>
          <p:cNvSpPr/>
          <p:nvPr/>
        </p:nvSpPr>
        <p:spPr>
          <a:xfrm>
            <a:off x="2148840" y="3108960"/>
            <a:ext cx="1737360" cy="1737360"/>
          </a:xfrm>
          <a:prstGeom prst="ellipse">
            <a:avLst/>
          </a:prstGeom>
          <a:solidFill>
            <a:srgbClr val="FF5C8A">
              <a:alpha val="22000"/>
            </a:srgbClr>
          </a:solidFill>
          <a:ln w="25400">
            <a:solidFill>
              <a:srgbClr val="FF5C8A"/>
            </a:solidFill>
            <a:prstDash val="solid"/>
          </a:ln>
        </p:spPr>
      </p:sp>
      <p:sp>
        <p:nvSpPr>
          <p:cNvPr id="15" name="a4_rl3"/>
          <p:cNvSpPr txBox="1"/>
          <p:nvPr/>
        </p:nvSpPr>
        <p:spPr>
          <a:xfrm>
            <a:off x="1554480" y="3172968"/>
            <a:ext cx="2926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Generative AI</a:t>
            </a:r>
            <a:endParaRPr lang="en-US" sz="1300" dirty="0"/>
          </a:p>
        </p:txBody>
      </p:sp>
      <p:sp>
        <p:nvSpPr>
          <p:cNvPr id="16" name="a5_r4"/>
          <p:cNvSpPr/>
          <p:nvPr/>
        </p:nvSpPr>
        <p:spPr>
          <a:xfrm>
            <a:off x="2583180" y="3543300"/>
            <a:ext cx="868680" cy="868680"/>
          </a:xfrm>
          <a:prstGeom prst="ellipse">
            <a:avLst/>
          </a:prstGeom>
          <a:solidFill>
            <a:srgbClr val="2EE6A6">
              <a:alpha val="90000"/>
            </a:srgbClr>
          </a:solidFill>
          <a:ln w="25400">
            <a:solidFill>
              <a:srgbClr val="2EE6A6"/>
            </a:solidFill>
            <a:prstDash val="solid"/>
          </a:ln>
        </p:spPr>
      </p:sp>
      <p:sp>
        <p:nvSpPr>
          <p:cNvPr id="17" name="a5_rl4"/>
          <p:cNvSpPr txBox="1"/>
          <p:nvPr/>
        </p:nvSpPr>
        <p:spPr>
          <a:xfrm>
            <a:off x="2583180" y="3543300"/>
            <a:ext cx="868680" cy="868680"/>
          </a:xfrm>
          <a:prstGeom prst="rect">
            <a:avLst/>
          </a:prstGeom>
          <a:noFill/>
          <a:ln/>
        </p:spPr>
        <p:txBody>
          <a:bodyPr wrap="square" lIns="0" tIns="0" rIns="0" bIns="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LLMs</a:t>
            </a:r>
            <a:endParaRPr lang="en-US" sz="1300" dirty="0"/>
          </a:p>
        </p:txBody>
      </p:sp>
      <p:sp>
        <p:nvSpPr>
          <p:cNvPr id="18" name="a1_dd0"/>
          <p:cNvSpPr/>
          <p:nvPr/>
        </p:nvSpPr>
        <p:spPr>
          <a:xfrm>
            <a:off x="6035040" y="1847088"/>
            <a:ext cx="237744" cy="237744"/>
          </a:xfrm>
          <a:prstGeom prst="ellipse">
            <a:avLst/>
          </a:prstGeom>
          <a:solidFill>
            <a:srgbClr val="7C4DFF"/>
          </a:solidFill>
          <a:ln/>
        </p:spPr>
      </p:sp>
      <p:sp>
        <p:nvSpPr>
          <p:cNvPr id="19" name="a1_dt0"/>
          <p:cNvSpPr txBox="1"/>
          <p:nvPr/>
        </p:nvSpPr>
        <p:spPr>
          <a:xfrm>
            <a:off x="6446520" y="1755648"/>
            <a:ext cx="52120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Artificial Intelligence  </a:t>
            </a:r>
            <a:pPr indent="0" marL="0">
              <a:buNone/>
            </a:pPr>
            <a:r>
              <a:rPr lang="en-US" sz="1600" b="1" dirty="0">
                <a:solidFill>
                  <a:srgbClr val="7C4DFF"/>
                </a:solidFill>
                <a:latin typeface="Arial" pitchFamily="34" charset="0"/>
                <a:ea typeface="Arial" pitchFamily="34" charset="-122"/>
                <a:cs typeface="Arial" pitchFamily="34" charset="-120"/>
              </a:rPr>
              <a:t>1956 →</a:t>
            </a:r>
            <a:endParaRPr lang="en-US" sz="1600" dirty="0"/>
          </a:p>
        </p:txBody>
      </p:sp>
      <p:sp>
        <p:nvSpPr>
          <p:cNvPr id="20" name="a1_dx0"/>
          <p:cNvSpPr txBox="1"/>
          <p:nvPr/>
        </p:nvSpPr>
        <p:spPr>
          <a:xfrm>
            <a:off x="6446520" y="2103120"/>
            <a:ext cx="5212080" cy="27432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Machines doing tasks that normally need human intelligence.</a:t>
            </a:r>
            <a:endParaRPr lang="en-US" sz="1350" dirty="0"/>
          </a:p>
        </p:txBody>
      </p:sp>
      <p:sp>
        <p:nvSpPr>
          <p:cNvPr id="21" name="a1_de0"/>
          <p:cNvSpPr txBox="1"/>
          <p:nvPr/>
        </p:nvSpPr>
        <p:spPr>
          <a:xfrm>
            <a:off x="6446520" y="2340864"/>
            <a:ext cx="5212080" cy="256032"/>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chess engines · route planning · rules engines</a:t>
            </a:r>
            <a:endParaRPr lang="en-US" sz="1150" dirty="0"/>
          </a:p>
        </p:txBody>
      </p:sp>
      <p:sp>
        <p:nvSpPr>
          <p:cNvPr id="22" name="a2_dd1"/>
          <p:cNvSpPr/>
          <p:nvPr/>
        </p:nvSpPr>
        <p:spPr>
          <a:xfrm>
            <a:off x="6035040" y="2734056"/>
            <a:ext cx="237744" cy="237744"/>
          </a:xfrm>
          <a:prstGeom prst="ellipse">
            <a:avLst/>
          </a:prstGeom>
          <a:solidFill>
            <a:srgbClr val="4FC3F7"/>
          </a:solidFill>
          <a:ln/>
        </p:spPr>
      </p:sp>
      <p:sp>
        <p:nvSpPr>
          <p:cNvPr id="23" name="a2_dt1"/>
          <p:cNvSpPr txBox="1"/>
          <p:nvPr/>
        </p:nvSpPr>
        <p:spPr>
          <a:xfrm>
            <a:off x="6446520" y="2642616"/>
            <a:ext cx="52120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Machine Learning  </a:t>
            </a:r>
            <a:pPr indent="0" marL="0">
              <a:buNone/>
            </a:pPr>
            <a:r>
              <a:rPr lang="en-US" sz="1600" b="1" dirty="0">
                <a:solidFill>
                  <a:srgbClr val="4FC3F7"/>
                </a:solidFill>
                <a:latin typeface="Arial" pitchFamily="34" charset="0"/>
                <a:ea typeface="Arial" pitchFamily="34" charset="-122"/>
                <a:cs typeface="Arial" pitchFamily="34" charset="-120"/>
              </a:rPr>
              <a:t>1980s →</a:t>
            </a:r>
            <a:endParaRPr lang="en-US" sz="1600" dirty="0"/>
          </a:p>
        </p:txBody>
      </p:sp>
      <p:sp>
        <p:nvSpPr>
          <p:cNvPr id="24" name="a2_dx1"/>
          <p:cNvSpPr txBox="1"/>
          <p:nvPr/>
        </p:nvSpPr>
        <p:spPr>
          <a:xfrm>
            <a:off x="6446520" y="2990088"/>
            <a:ext cx="5212080" cy="27432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Learns patterns from data instead of hand-written rules.</a:t>
            </a:r>
            <a:endParaRPr lang="en-US" sz="1350" dirty="0"/>
          </a:p>
        </p:txBody>
      </p:sp>
      <p:sp>
        <p:nvSpPr>
          <p:cNvPr id="25" name="a2_de1"/>
          <p:cNvSpPr txBox="1"/>
          <p:nvPr/>
        </p:nvSpPr>
        <p:spPr>
          <a:xfrm>
            <a:off x="6446520" y="3227832"/>
            <a:ext cx="5212080" cy="256032"/>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spam filters · fraud detection · ML.NET</a:t>
            </a:r>
            <a:endParaRPr lang="en-US" sz="1150" dirty="0"/>
          </a:p>
        </p:txBody>
      </p:sp>
      <p:sp>
        <p:nvSpPr>
          <p:cNvPr id="26" name="a3_dd2"/>
          <p:cNvSpPr/>
          <p:nvPr/>
        </p:nvSpPr>
        <p:spPr>
          <a:xfrm>
            <a:off x="6035040" y="3621024"/>
            <a:ext cx="237744" cy="237744"/>
          </a:xfrm>
          <a:prstGeom prst="ellipse">
            <a:avLst/>
          </a:prstGeom>
          <a:solidFill>
            <a:srgbClr val="FFB547"/>
          </a:solidFill>
          <a:ln/>
        </p:spPr>
      </p:sp>
      <p:sp>
        <p:nvSpPr>
          <p:cNvPr id="27" name="a3_dt2"/>
          <p:cNvSpPr txBox="1"/>
          <p:nvPr/>
        </p:nvSpPr>
        <p:spPr>
          <a:xfrm>
            <a:off x="6446520" y="3529584"/>
            <a:ext cx="52120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Deep Learning  </a:t>
            </a:r>
            <a:pPr indent="0" marL="0">
              <a:buNone/>
            </a:pPr>
            <a:r>
              <a:rPr lang="en-US" sz="1600" b="1" dirty="0">
                <a:solidFill>
                  <a:srgbClr val="FFB547"/>
                </a:solidFill>
                <a:latin typeface="Arial" pitchFamily="34" charset="0"/>
                <a:ea typeface="Arial" pitchFamily="34" charset="-122"/>
                <a:cs typeface="Arial" pitchFamily="34" charset="-120"/>
              </a:rPr>
              <a:t>2012 →</a:t>
            </a:r>
            <a:endParaRPr lang="en-US" sz="1600" dirty="0"/>
          </a:p>
        </p:txBody>
      </p:sp>
      <p:sp>
        <p:nvSpPr>
          <p:cNvPr id="28" name="a3_dx2"/>
          <p:cNvSpPr txBox="1"/>
          <p:nvPr/>
        </p:nvSpPr>
        <p:spPr>
          <a:xfrm>
            <a:off x="6446520" y="3877056"/>
            <a:ext cx="5212080" cy="27432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Machine learning with many-layered neural networks.</a:t>
            </a:r>
            <a:endParaRPr lang="en-US" sz="1350" dirty="0"/>
          </a:p>
        </p:txBody>
      </p:sp>
      <p:sp>
        <p:nvSpPr>
          <p:cNvPr id="29" name="a3_de2"/>
          <p:cNvSpPr txBox="1"/>
          <p:nvPr/>
        </p:nvSpPr>
        <p:spPr>
          <a:xfrm>
            <a:off x="6446520" y="4114800"/>
            <a:ext cx="5212080" cy="256032"/>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face unlock · speech-to-text · self-driving</a:t>
            </a:r>
            <a:endParaRPr lang="en-US" sz="1150" dirty="0"/>
          </a:p>
        </p:txBody>
      </p:sp>
      <p:sp>
        <p:nvSpPr>
          <p:cNvPr id="30" name="a4_dd3"/>
          <p:cNvSpPr/>
          <p:nvPr/>
        </p:nvSpPr>
        <p:spPr>
          <a:xfrm>
            <a:off x="6035040" y="4507992"/>
            <a:ext cx="237744" cy="237744"/>
          </a:xfrm>
          <a:prstGeom prst="ellipse">
            <a:avLst/>
          </a:prstGeom>
          <a:solidFill>
            <a:srgbClr val="FF5C8A"/>
          </a:solidFill>
          <a:ln/>
        </p:spPr>
      </p:sp>
      <p:sp>
        <p:nvSpPr>
          <p:cNvPr id="31" name="a4_dt3"/>
          <p:cNvSpPr txBox="1"/>
          <p:nvPr/>
        </p:nvSpPr>
        <p:spPr>
          <a:xfrm>
            <a:off x="6446520" y="4416552"/>
            <a:ext cx="52120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Generative AI  </a:t>
            </a:r>
            <a:pPr indent="0" marL="0">
              <a:buNone/>
            </a:pPr>
            <a:r>
              <a:rPr lang="en-US" sz="1600" b="1" dirty="0">
                <a:solidFill>
                  <a:srgbClr val="FF5C8A"/>
                </a:solidFill>
                <a:latin typeface="Arial" pitchFamily="34" charset="0"/>
                <a:ea typeface="Arial" pitchFamily="34" charset="-122"/>
                <a:cs typeface="Arial" pitchFamily="34" charset="-120"/>
              </a:rPr>
              <a:t>2022 boom</a:t>
            </a:r>
            <a:endParaRPr lang="en-US" sz="1600" dirty="0"/>
          </a:p>
        </p:txBody>
      </p:sp>
      <p:sp>
        <p:nvSpPr>
          <p:cNvPr id="32" name="a4_dx3"/>
          <p:cNvSpPr txBox="1"/>
          <p:nvPr/>
        </p:nvSpPr>
        <p:spPr>
          <a:xfrm>
            <a:off x="6446520" y="4764024"/>
            <a:ext cx="5212080" cy="27432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Creates new content: text, images, code, audio, video.</a:t>
            </a:r>
            <a:endParaRPr lang="en-US" sz="1350" dirty="0"/>
          </a:p>
        </p:txBody>
      </p:sp>
      <p:sp>
        <p:nvSpPr>
          <p:cNvPr id="33" name="a4_de3"/>
          <p:cNvSpPr txBox="1"/>
          <p:nvPr/>
        </p:nvSpPr>
        <p:spPr>
          <a:xfrm>
            <a:off x="6446520" y="5001768"/>
            <a:ext cx="5212080" cy="256032"/>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image generators · Copilot · voice cloning</a:t>
            </a:r>
            <a:endParaRPr lang="en-US" sz="1150" dirty="0"/>
          </a:p>
        </p:txBody>
      </p:sp>
      <p:sp>
        <p:nvSpPr>
          <p:cNvPr id="34" name="a5_dd4"/>
          <p:cNvSpPr/>
          <p:nvPr/>
        </p:nvSpPr>
        <p:spPr>
          <a:xfrm>
            <a:off x="6035040" y="5394960"/>
            <a:ext cx="237744" cy="237744"/>
          </a:xfrm>
          <a:prstGeom prst="ellipse">
            <a:avLst/>
          </a:prstGeom>
          <a:solidFill>
            <a:srgbClr val="2EE6A6"/>
          </a:solidFill>
          <a:ln/>
        </p:spPr>
      </p:sp>
      <p:sp>
        <p:nvSpPr>
          <p:cNvPr id="35" name="a5_dt4"/>
          <p:cNvSpPr txBox="1"/>
          <p:nvPr/>
        </p:nvSpPr>
        <p:spPr>
          <a:xfrm>
            <a:off x="6446520" y="5303520"/>
            <a:ext cx="52120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Large Language Models  </a:t>
            </a:r>
            <a:pPr indent="0" marL="0">
              <a:buNone/>
            </a:pPr>
            <a:r>
              <a:rPr lang="en-US" sz="1600" b="1" dirty="0">
                <a:solidFill>
                  <a:srgbClr val="2EE6A6"/>
                </a:solidFill>
                <a:latin typeface="Arial" pitchFamily="34" charset="0"/>
                <a:ea typeface="Arial" pitchFamily="34" charset="-122"/>
                <a:cs typeface="Arial" pitchFamily="34" charset="-120"/>
              </a:rPr>
              <a:t>2018 →</a:t>
            </a:r>
            <a:endParaRPr lang="en-US" sz="1600" dirty="0"/>
          </a:p>
        </p:txBody>
      </p:sp>
      <p:sp>
        <p:nvSpPr>
          <p:cNvPr id="36" name="a5_dx4"/>
          <p:cNvSpPr txBox="1"/>
          <p:nvPr/>
        </p:nvSpPr>
        <p:spPr>
          <a:xfrm>
            <a:off x="6446520" y="5650992"/>
            <a:ext cx="5212080" cy="27432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GenAI for language, trained to predict the next token.</a:t>
            </a:r>
            <a:endParaRPr lang="en-US" sz="1350" dirty="0"/>
          </a:p>
        </p:txBody>
      </p:sp>
      <p:sp>
        <p:nvSpPr>
          <p:cNvPr id="37" name="a5_de4"/>
          <p:cNvSpPr txBox="1"/>
          <p:nvPr/>
        </p:nvSpPr>
        <p:spPr>
          <a:xfrm>
            <a:off x="6446520" y="5888736"/>
            <a:ext cx="5212080" cy="256032"/>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GPT · Claude · Llama · Gemini</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anim calcmode="lin" valueType="num">
                                      <p:cBhvr>
                                        <p:cTn id="16" dur="500" fill="hold"/>
                                        <p:tgtEl>
                                          <p:spTgt spid="18"/>
                                        </p:tgtEl>
                                        <p:attrNameLst>
                                          <p:attrName>ppt_x</p:attrName>
                                        </p:attrNameLst>
                                      </p:cBhvr>
                                      <p:tavLst>
                                        <p:tav tm="0">
                                          <p:val>
                                            <p:strVal val="#ppt_x"/>
                                          </p:val>
                                        </p:tav>
                                        <p:tav tm="100000">
                                          <p:val>
                                            <p:strVal val="#ppt_x"/>
                                          </p:val>
                                        </p:tav>
                                      </p:tavLst>
                                    </p:anim>
                                    <p:anim calcmode="lin" valueType="num">
                                      <p:cBhvr>
                                        <p:cTn id="17" dur="500" decel="100000" fill="hold"/>
                                        <p:tgtEl>
                                          <p:spTgt spid="18"/>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anim calcmode="lin" valueType="num">
                                      <p:cBhvr>
                                        <p:cTn id="21" dur="500" fill="hold"/>
                                        <p:tgtEl>
                                          <p:spTgt spid="19"/>
                                        </p:tgtEl>
                                        <p:attrNameLst>
                                          <p:attrName>ppt_x</p:attrName>
                                        </p:attrNameLst>
                                      </p:cBhvr>
                                      <p:tavLst>
                                        <p:tav tm="0">
                                          <p:val>
                                            <p:strVal val="#ppt_x"/>
                                          </p:val>
                                        </p:tav>
                                        <p:tav tm="100000">
                                          <p:val>
                                            <p:strVal val="#ppt_x"/>
                                          </p:val>
                                        </p:tav>
                                      </p:tavLst>
                                    </p:anim>
                                    <p:anim calcmode="lin" valueType="num">
                                      <p:cBhvr>
                                        <p:cTn id="22" dur="500" decel="100000" fill="hold"/>
                                        <p:tgtEl>
                                          <p:spTgt spid="19"/>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strVal val="#ppt_x"/>
                                          </p:val>
                                        </p:tav>
                                        <p:tav tm="100000">
                                          <p:val>
                                            <p:strVal val="#ppt_x"/>
                                          </p:val>
                                        </p:tav>
                                      </p:tavLst>
                                    </p:anim>
                                    <p:anim calcmode="lin" valueType="num">
                                      <p:cBhvr>
                                        <p:cTn id="27" dur="500" decel="100000" fill="hold"/>
                                        <p:tgtEl>
                                          <p:spTgt spid="20"/>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anim calcmode="lin" valueType="num">
                                      <p:cBhvr>
                                        <p:cTn id="31" dur="500" fill="hold"/>
                                        <p:tgtEl>
                                          <p:spTgt spid="21"/>
                                        </p:tgtEl>
                                        <p:attrNameLst>
                                          <p:attrName>ppt_x</p:attrName>
                                        </p:attrNameLst>
                                      </p:cBhvr>
                                      <p:tavLst>
                                        <p:tav tm="0">
                                          <p:val>
                                            <p:strVal val="#ppt_x"/>
                                          </p:val>
                                        </p:tav>
                                        <p:tav tm="100000">
                                          <p:val>
                                            <p:strVal val="#ppt_x"/>
                                          </p:val>
                                        </p:tav>
                                      </p:tavLst>
                                    </p:anim>
                                    <p:anim calcmode="lin" valueType="num">
                                      <p:cBhvr>
                                        <p:cTn id="32" dur="500" decel="100000" fill="hold"/>
                                        <p:tgtEl>
                                          <p:spTgt spid="21"/>
                                        </p:tgtEl>
                                        <p:attrNameLst>
                                          <p:attrName>ppt_y</p:attrName>
                                        </p:attrNameLst>
                                      </p:cBhvr>
                                      <p:tavLst>
                                        <p:tav tm="0">
                                          <p:val>
                                            <p:strVal val="#ppt_y+.06"/>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decel="10000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decel="10000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anim calcmode="lin" valueType="num">
                                      <p:cBhvr>
                                        <p:cTn id="48" dur="500" fill="hold"/>
                                        <p:tgtEl>
                                          <p:spTgt spid="22"/>
                                        </p:tgtEl>
                                        <p:attrNameLst>
                                          <p:attrName>ppt_x</p:attrName>
                                        </p:attrNameLst>
                                      </p:cBhvr>
                                      <p:tavLst>
                                        <p:tav tm="0">
                                          <p:val>
                                            <p:strVal val="#ppt_x"/>
                                          </p:val>
                                        </p:tav>
                                        <p:tav tm="100000">
                                          <p:val>
                                            <p:strVal val="#ppt_x"/>
                                          </p:val>
                                        </p:tav>
                                      </p:tavLst>
                                    </p:anim>
                                    <p:anim calcmode="lin" valueType="num">
                                      <p:cBhvr>
                                        <p:cTn id="49" dur="500" decel="100000" fill="hold"/>
                                        <p:tgtEl>
                                          <p:spTgt spid="2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anim calcmode="lin" valueType="num">
                                      <p:cBhvr>
                                        <p:cTn id="53" dur="500" fill="hold"/>
                                        <p:tgtEl>
                                          <p:spTgt spid="23"/>
                                        </p:tgtEl>
                                        <p:attrNameLst>
                                          <p:attrName>ppt_x</p:attrName>
                                        </p:attrNameLst>
                                      </p:cBhvr>
                                      <p:tavLst>
                                        <p:tav tm="0">
                                          <p:val>
                                            <p:strVal val="#ppt_x"/>
                                          </p:val>
                                        </p:tav>
                                        <p:tav tm="100000">
                                          <p:val>
                                            <p:strVal val="#ppt_x"/>
                                          </p:val>
                                        </p:tav>
                                      </p:tavLst>
                                    </p:anim>
                                    <p:anim calcmode="lin" valueType="num">
                                      <p:cBhvr>
                                        <p:cTn id="54" dur="500" decel="100000" fill="hold"/>
                                        <p:tgtEl>
                                          <p:spTgt spid="2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anim calcmode="lin" valueType="num">
                                      <p:cBhvr>
                                        <p:cTn id="58" dur="500" fill="hold"/>
                                        <p:tgtEl>
                                          <p:spTgt spid="24"/>
                                        </p:tgtEl>
                                        <p:attrNameLst>
                                          <p:attrName>ppt_x</p:attrName>
                                        </p:attrNameLst>
                                      </p:cBhvr>
                                      <p:tavLst>
                                        <p:tav tm="0">
                                          <p:val>
                                            <p:strVal val="#ppt_x"/>
                                          </p:val>
                                        </p:tav>
                                        <p:tav tm="100000">
                                          <p:val>
                                            <p:strVal val="#ppt_x"/>
                                          </p:val>
                                        </p:tav>
                                      </p:tavLst>
                                    </p:anim>
                                    <p:anim calcmode="lin" valueType="num">
                                      <p:cBhvr>
                                        <p:cTn id="59" dur="500" decel="100000" fill="hold"/>
                                        <p:tgtEl>
                                          <p:spTgt spid="2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anim calcmode="lin" valueType="num">
                                      <p:cBhvr>
                                        <p:cTn id="63" dur="500" fill="hold"/>
                                        <p:tgtEl>
                                          <p:spTgt spid="25"/>
                                        </p:tgtEl>
                                        <p:attrNameLst>
                                          <p:attrName>ppt_x</p:attrName>
                                        </p:attrNameLst>
                                      </p:cBhvr>
                                      <p:tavLst>
                                        <p:tav tm="0">
                                          <p:val>
                                            <p:strVal val="#ppt_x"/>
                                          </p:val>
                                        </p:tav>
                                        <p:tav tm="100000">
                                          <p:val>
                                            <p:strVal val="#ppt_x"/>
                                          </p:val>
                                        </p:tav>
                                      </p:tavLst>
                                    </p:anim>
                                    <p:anim calcmode="lin" valueType="num">
                                      <p:cBhvr>
                                        <p:cTn id="64" dur="500" decel="100000" fill="hold"/>
                                        <p:tgtEl>
                                          <p:spTgt spid="25"/>
                                        </p:tgtEl>
                                        <p:attrNameLst>
                                          <p:attrName>ppt_y</p:attrName>
                                        </p:attrNameLst>
                                      </p:cBhvr>
                                      <p:tavLst>
                                        <p:tav tm="0">
                                          <p:val>
                                            <p:strVal val="#ppt_y+.06"/>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500"/>
                                        <p:tgtEl>
                                          <p:spTgt spid="12"/>
                                        </p:tgtEl>
                                      </p:cBhvr>
                                    </p:animEffect>
                                    <p:anim calcmode="lin" valueType="num">
                                      <p:cBhvr>
                                        <p:cTn id="70" dur="500" fill="hold"/>
                                        <p:tgtEl>
                                          <p:spTgt spid="12"/>
                                        </p:tgtEl>
                                        <p:attrNameLst>
                                          <p:attrName>ppt_x</p:attrName>
                                        </p:attrNameLst>
                                      </p:cBhvr>
                                      <p:tavLst>
                                        <p:tav tm="0">
                                          <p:val>
                                            <p:strVal val="#ppt_x"/>
                                          </p:val>
                                        </p:tav>
                                        <p:tav tm="100000">
                                          <p:val>
                                            <p:strVal val="#ppt_x"/>
                                          </p:val>
                                        </p:tav>
                                      </p:tavLst>
                                    </p:anim>
                                    <p:anim calcmode="lin" valueType="num">
                                      <p:cBhvr>
                                        <p:cTn id="71" dur="500" decel="100000" fill="hold"/>
                                        <p:tgtEl>
                                          <p:spTgt spid="12"/>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p:tgtEl>
                                          <p:spTgt spid="13"/>
                                        </p:tgtEl>
                                      </p:cBhvr>
                                    </p:animEffect>
                                    <p:anim calcmode="lin" valueType="num">
                                      <p:cBhvr>
                                        <p:cTn id="75" dur="500" fill="hold"/>
                                        <p:tgtEl>
                                          <p:spTgt spid="13"/>
                                        </p:tgtEl>
                                        <p:attrNameLst>
                                          <p:attrName>ppt_x</p:attrName>
                                        </p:attrNameLst>
                                      </p:cBhvr>
                                      <p:tavLst>
                                        <p:tav tm="0">
                                          <p:val>
                                            <p:strVal val="#ppt_x"/>
                                          </p:val>
                                        </p:tav>
                                        <p:tav tm="100000">
                                          <p:val>
                                            <p:strVal val="#ppt_x"/>
                                          </p:val>
                                        </p:tav>
                                      </p:tavLst>
                                    </p:anim>
                                    <p:anim calcmode="lin" valueType="num">
                                      <p:cBhvr>
                                        <p:cTn id="76" dur="500" decel="100000" fill="hold"/>
                                        <p:tgtEl>
                                          <p:spTgt spid="13"/>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anim calcmode="lin" valueType="num">
                                      <p:cBhvr>
                                        <p:cTn id="80" dur="500" fill="hold"/>
                                        <p:tgtEl>
                                          <p:spTgt spid="26"/>
                                        </p:tgtEl>
                                        <p:attrNameLst>
                                          <p:attrName>ppt_x</p:attrName>
                                        </p:attrNameLst>
                                      </p:cBhvr>
                                      <p:tavLst>
                                        <p:tav tm="0">
                                          <p:val>
                                            <p:strVal val="#ppt_x"/>
                                          </p:val>
                                        </p:tav>
                                        <p:tav tm="100000">
                                          <p:val>
                                            <p:strVal val="#ppt_x"/>
                                          </p:val>
                                        </p:tav>
                                      </p:tavLst>
                                    </p:anim>
                                    <p:anim calcmode="lin" valueType="num">
                                      <p:cBhvr>
                                        <p:cTn id="81" dur="500" decel="100000" fill="hold"/>
                                        <p:tgtEl>
                                          <p:spTgt spid="26"/>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anim calcmode="lin" valueType="num">
                                      <p:cBhvr>
                                        <p:cTn id="85" dur="500" fill="hold"/>
                                        <p:tgtEl>
                                          <p:spTgt spid="27"/>
                                        </p:tgtEl>
                                        <p:attrNameLst>
                                          <p:attrName>ppt_x</p:attrName>
                                        </p:attrNameLst>
                                      </p:cBhvr>
                                      <p:tavLst>
                                        <p:tav tm="0">
                                          <p:val>
                                            <p:strVal val="#ppt_x"/>
                                          </p:val>
                                        </p:tav>
                                        <p:tav tm="100000">
                                          <p:val>
                                            <p:strVal val="#ppt_x"/>
                                          </p:val>
                                        </p:tav>
                                      </p:tavLst>
                                    </p:anim>
                                    <p:anim calcmode="lin" valueType="num">
                                      <p:cBhvr>
                                        <p:cTn id="86" dur="500" decel="100000" fill="hold"/>
                                        <p:tgtEl>
                                          <p:spTgt spid="27"/>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anim calcmode="lin" valueType="num">
                                      <p:cBhvr>
                                        <p:cTn id="90" dur="500" fill="hold"/>
                                        <p:tgtEl>
                                          <p:spTgt spid="28"/>
                                        </p:tgtEl>
                                        <p:attrNameLst>
                                          <p:attrName>ppt_x</p:attrName>
                                        </p:attrNameLst>
                                      </p:cBhvr>
                                      <p:tavLst>
                                        <p:tav tm="0">
                                          <p:val>
                                            <p:strVal val="#ppt_x"/>
                                          </p:val>
                                        </p:tav>
                                        <p:tav tm="100000">
                                          <p:val>
                                            <p:strVal val="#ppt_x"/>
                                          </p:val>
                                        </p:tav>
                                      </p:tavLst>
                                    </p:anim>
                                    <p:anim calcmode="lin" valueType="num">
                                      <p:cBhvr>
                                        <p:cTn id="91" dur="500" decel="100000" fill="hold"/>
                                        <p:tgtEl>
                                          <p:spTgt spid="28"/>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anim calcmode="lin" valueType="num">
                                      <p:cBhvr>
                                        <p:cTn id="95" dur="500" fill="hold"/>
                                        <p:tgtEl>
                                          <p:spTgt spid="29"/>
                                        </p:tgtEl>
                                        <p:attrNameLst>
                                          <p:attrName>ppt_x</p:attrName>
                                        </p:attrNameLst>
                                      </p:cBhvr>
                                      <p:tavLst>
                                        <p:tav tm="0">
                                          <p:val>
                                            <p:strVal val="#ppt_x"/>
                                          </p:val>
                                        </p:tav>
                                        <p:tav tm="100000">
                                          <p:val>
                                            <p:strVal val="#ppt_x"/>
                                          </p:val>
                                        </p:tav>
                                      </p:tavLst>
                                    </p:anim>
                                    <p:anim calcmode="lin" valueType="num">
                                      <p:cBhvr>
                                        <p:cTn id="96" dur="500" decel="100000" fill="hold"/>
                                        <p:tgtEl>
                                          <p:spTgt spid="29"/>
                                        </p:tgtEl>
                                        <p:attrNameLst>
                                          <p:attrName>ppt_y</p:attrName>
                                        </p:attrNameLst>
                                      </p:cBhvr>
                                      <p:tavLst>
                                        <p:tav tm="0">
                                          <p:val>
                                            <p:strVal val="#ppt_y+.06"/>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fade">
                                      <p:cBhvr>
                                        <p:cTn id="101" dur="500"/>
                                        <p:tgtEl>
                                          <p:spTgt spid="14"/>
                                        </p:tgtEl>
                                      </p:cBhvr>
                                    </p:animEffect>
                                    <p:anim calcmode="lin" valueType="num">
                                      <p:cBhvr>
                                        <p:cTn id="102" dur="500" fill="hold"/>
                                        <p:tgtEl>
                                          <p:spTgt spid="14"/>
                                        </p:tgtEl>
                                        <p:attrNameLst>
                                          <p:attrName>ppt_x</p:attrName>
                                        </p:attrNameLst>
                                      </p:cBhvr>
                                      <p:tavLst>
                                        <p:tav tm="0">
                                          <p:val>
                                            <p:strVal val="#ppt_x"/>
                                          </p:val>
                                        </p:tav>
                                        <p:tav tm="100000">
                                          <p:val>
                                            <p:strVal val="#ppt_x"/>
                                          </p:val>
                                        </p:tav>
                                      </p:tavLst>
                                    </p:anim>
                                    <p:anim calcmode="lin" valueType="num">
                                      <p:cBhvr>
                                        <p:cTn id="103" dur="500" decel="100000" fill="hold"/>
                                        <p:tgtEl>
                                          <p:spTgt spid="14"/>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fade">
                                      <p:cBhvr>
                                        <p:cTn id="106" dur="500"/>
                                        <p:tgtEl>
                                          <p:spTgt spid="15"/>
                                        </p:tgtEl>
                                      </p:cBhvr>
                                    </p:animEffect>
                                    <p:anim calcmode="lin" valueType="num">
                                      <p:cBhvr>
                                        <p:cTn id="107" dur="500" fill="hold"/>
                                        <p:tgtEl>
                                          <p:spTgt spid="15"/>
                                        </p:tgtEl>
                                        <p:attrNameLst>
                                          <p:attrName>ppt_x</p:attrName>
                                        </p:attrNameLst>
                                      </p:cBhvr>
                                      <p:tavLst>
                                        <p:tav tm="0">
                                          <p:val>
                                            <p:strVal val="#ppt_x"/>
                                          </p:val>
                                        </p:tav>
                                        <p:tav tm="100000">
                                          <p:val>
                                            <p:strVal val="#ppt_x"/>
                                          </p:val>
                                        </p:tav>
                                      </p:tavLst>
                                    </p:anim>
                                    <p:anim calcmode="lin" valueType="num">
                                      <p:cBhvr>
                                        <p:cTn id="108" dur="500" decel="100000" fill="hold"/>
                                        <p:tgtEl>
                                          <p:spTgt spid="15"/>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00"/>
                                        <p:tgtEl>
                                          <p:spTgt spid="30"/>
                                        </p:tgtEl>
                                      </p:cBhvr>
                                    </p:animEffect>
                                    <p:anim calcmode="lin" valueType="num">
                                      <p:cBhvr>
                                        <p:cTn id="112" dur="500" fill="hold"/>
                                        <p:tgtEl>
                                          <p:spTgt spid="30"/>
                                        </p:tgtEl>
                                        <p:attrNameLst>
                                          <p:attrName>ppt_x</p:attrName>
                                        </p:attrNameLst>
                                      </p:cBhvr>
                                      <p:tavLst>
                                        <p:tav tm="0">
                                          <p:val>
                                            <p:strVal val="#ppt_x"/>
                                          </p:val>
                                        </p:tav>
                                        <p:tav tm="100000">
                                          <p:val>
                                            <p:strVal val="#ppt_x"/>
                                          </p:val>
                                        </p:tav>
                                      </p:tavLst>
                                    </p:anim>
                                    <p:anim calcmode="lin" valueType="num">
                                      <p:cBhvr>
                                        <p:cTn id="113" dur="500" decel="100000" fill="hold"/>
                                        <p:tgtEl>
                                          <p:spTgt spid="30"/>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00"/>
                                        <p:tgtEl>
                                          <p:spTgt spid="31"/>
                                        </p:tgtEl>
                                      </p:cBhvr>
                                    </p:animEffect>
                                    <p:anim calcmode="lin" valueType="num">
                                      <p:cBhvr>
                                        <p:cTn id="117" dur="500" fill="hold"/>
                                        <p:tgtEl>
                                          <p:spTgt spid="31"/>
                                        </p:tgtEl>
                                        <p:attrNameLst>
                                          <p:attrName>ppt_x</p:attrName>
                                        </p:attrNameLst>
                                      </p:cBhvr>
                                      <p:tavLst>
                                        <p:tav tm="0">
                                          <p:val>
                                            <p:strVal val="#ppt_x"/>
                                          </p:val>
                                        </p:tav>
                                        <p:tav tm="100000">
                                          <p:val>
                                            <p:strVal val="#ppt_x"/>
                                          </p:val>
                                        </p:tav>
                                      </p:tavLst>
                                    </p:anim>
                                    <p:anim calcmode="lin" valueType="num">
                                      <p:cBhvr>
                                        <p:cTn id="118" dur="500" decel="100000" fill="hold"/>
                                        <p:tgtEl>
                                          <p:spTgt spid="31"/>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anim calcmode="lin" valueType="num">
                                      <p:cBhvr>
                                        <p:cTn id="122" dur="500" fill="hold"/>
                                        <p:tgtEl>
                                          <p:spTgt spid="32"/>
                                        </p:tgtEl>
                                        <p:attrNameLst>
                                          <p:attrName>ppt_x</p:attrName>
                                        </p:attrNameLst>
                                      </p:cBhvr>
                                      <p:tavLst>
                                        <p:tav tm="0">
                                          <p:val>
                                            <p:strVal val="#ppt_x"/>
                                          </p:val>
                                        </p:tav>
                                        <p:tav tm="100000">
                                          <p:val>
                                            <p:strVal val="#ppt_x"/>
                                          </p:val>
                                        </p:tav>
                                      </p:tavLst>
                                    </p:anim>
                                    <p:anim calcmode="lin" valueType="num">
                                      <p:cBhvr>
                                        <p:cTn id="123" dur="500" decel="100000" fill="hold"/>
                                        <p:tgtEl>
                                          <p:spTgt spid="32"/>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00"/>
                                        <p:tgtEl>
                                          <p:spTgt spid="33"/>
                                        </p:tgtEl>
                                      </p:cBhvr>
                                    </p:animEffect>
                                    <p:anim calcmode="lin" valueType="num">
                                      <p:cBhvr>
                                        <p:cTn id="127" dur="500" fill="hold"/>
                                        <p:tgtEl>
                                          <p:spTgt spid="33"/>
                                        </p:tgtEl>
                                        <p:attrNameLst>
                                          <p:attrName>ppt_x</p:attrName>
                                        </p:attrNameLst>
                                      </p:cBhvr>
                                      <p:tavLst>
                                        <p:tav tm="0">
                                          <p:val>
                                            <p:strVal val="#ppt_x"/>
                                          </p:val>
                                        </p:tav>
                                        <p:tav tm="100000">
                                          <p:val>
                                            <p:strVal val="#ppt_x"/>
                                          </p:val>
                                        </p:tav>
                                      </p:tavLst>
                                    </p:anim>
                                    <p:anim calcmode="lin" valueType="num">
                                      <p:cBhvr>
                                        <p:cTn id="128" dur="50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500"/>
                                        <p:tgtEl>
                                          <p:spTgt spid="16"/>
                                        </p:tgtEl>
                                      </p:cBhvr>
                                    </p:animEffect>
                                    <p:anim calcmode="lin" valueType="num">
                                      <p:cBhvr>
                                        <p:cTn id="134" dur="500" fill="hold"/>
                                        <p:tgtEl>
                                          <p:spTgt spid="16"/>
                                        </p:tgtEl>
                                        <p:attrNameLst>
                                          <p:attrName>ppt_x</p:attrName>
                                        </p:attrNameLst>
                                      </p:cBhvr>
                                      <p:tavLst>
                                        <p:tav tm="0">
                                          <p:val>
                                            <p:strVal val="#ppt_x"/>
                                          </p:val>
                                        </p:tav>
                                        <p:tav tm="100000">
                                          <p:val>
                                            <p:strVal val="#ppt_x"/>
                                          </p:val>
                                        </p:tav>
                                      </p:tavLst>
                                    </p:anim>
                                    <p:anim calcmode="lin" valueType="num">
                                      <p:cBhvr>
                                        <p:cTn id="135" dur="500" decel="100000" fill="hold"/>
                                        <p:tgtEl>
                                          <p:spTgt spid="16"/>
                                        </p:tgtEl>
                                        <p:attrNameLst>
                                          <p:attrName>ppt_y</p:attrName>
                                        </p:attrNameLst>
                                      </p:cBhvr>
                                      <p:tavLst>
                                        <p:tav tm="0">
                                          <p:val>
                                            <p:strVal val="#ppt_y+.06"/>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17"/>
                                        </p:tgtEl>
                                        <p:attrNameLst>
                                          <p:attrName>style.visibility</p:attrName>
                                        </p:attrNameLst>
                                      </p:cBhvr>
                                      <p:to>
                                        <p:strVal val="visible"/>
                                      </p:to>
                                    </p:set>
                                    <p:animEffect transition="in" filter="fade">
                                      <p:cBhvr>
                                        <p:cTn id="138" dur="500"/>
                                        <p:tgtEl>
                                          <p:spTgt spid="17"/>
                                        </p:tgtEl>
                                      </p:cBhvr>
                                    </p:animEffect>
                                    <p:anim calcmode="lin" valueType="num">
                                      <p:cBhvr>
                                        <p:cTn id="139" dur="500" fill="hold"/>
                                        <p:tgtEl>
                                          <p:spTgt spid="17"/>
                                        </p:tgtEl>
                                        <p:attrNameLst>
                                          <p:attrName>ppt_x</p:attrName>
                                        </p:attrNameLst>
                                      </p:cBhvr>
                                      <p:tavLst>
                                        <p:tav tm="0">
                                          <p:val>
                                            <p:strVal val="#ppt_x"/>
                                          </p:val>
                                        </p:tav>
                                        <p:tav tm="100000">
                                          <p:val>
                                            <p:strVal val="#ppt_x"/>
                                          </p:val>
                                        </p:tav>
                                      </p:tavLst>
                                    </p:anim>
                                    <p:anim calcmode="lin" valueType="num">
                                      <p:cBhvr>
                                        <p:cTn id="140" dur="500" decel="100000" fill="hold"/>
                                        <p:tgtEl>
                                          <p:spTgt spid="17"/>
                                        </p:tgtEl>
                                        <p:attrNameLst>
                                          <p:attrName>ppt_y</p:attrName>
                                        </p:attrNameLst>
                                      </p:cBhvr>
                                      <p:tavLst>
                                        <p:tav tm="0">
                                          <p:val>
                                            <p:strVal val="#ppt_y+.06"/>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34"/>
                                        </p:tgtEl>
                                        <p:attrNameLst>
                                          <p:attrName>style.visibility</p:attrName>
                                        </p:attrNameLst>
                                      </p:cBhvr>
                                      <p:to>
                                        <p:strVal val="visible"/>
                                      </p:to>
                                    </p:set>
                                    <p:animEffect transition="in" filter="fade">
                                      <p:cBhvr>
                                        <p:cTn id="143" dur="500"/>
                                        <p:tgtEl>
                                          <p:spTgt spid="34"/>
                                        </p:tgtEl>
                                      </p:cBhvr>
                                    </p:animEffect>
                                    <p:anim calcmode="lin" valueType="num">
                                      <p:cBhvr>
                                        <p:cTn id="144" dur="500" fill="hold"/>
                                        <p:tgtEl>
                                          <p:spTgt spid="34"/>
                                        </p:tgtEl>
                                        <p:attrNameLst>
                                          <p:attrName>ppt_x</p:attrName>
                                        </p:attrNameLst>
                                      </p:cBhvr>
                                      <p:tavLst>
                                        <p:tav tm="0">
                                          <p:val>
                                            <p:strVal val="#ppt_x"/>
                                          </p:val>
                                        </p:tav>
                                        <p:tav tm="100000">
                                          <p:val>
                                            <p:strVal val="#ppt_x"/>
                                          </p:val>
                                        </p:tav>
                                      </p:tavLst>
                                    </p:anim>
                                    <p:anim calcmode="lin" valueType="num">
                                      <p:cBhvr>
                                        <p:cTn id="145" dur="500" decel="100000" fill="hold"/>
                                        <p:tgtEl>
                                          <p:spTgt spid="34"/>
                                        </p:tgtEl>
                                        <p:attrNameLst>
                                          <p:attrName>ppt_y</p:attrName>
                                        </p:attrNameLst>
                                      </p:cBhvr>
                                      <p:tavLst>
                                        <p:tav tm="0">
                                          <p:val>
                                            <p:strVal val="#ppt_y+.06"/>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35"/>
                                        </p:tgtEl>
                                        <p:attrNameLst>
                                          <p:attrName>style.visibility</p:attrName>
                                        </p:attrNameLst>
                                      </p:cBhvr>
                                      <p:to>
                                        <p:strVal val="visible"/>
                                      </p:to>
                                    </p:set>
                                    <p:animEffect transition="in" filter="fade">
                                      <p:cBhvr>
                                        <p:cTn id="148" dur="500"/>
                                        <p:tgtEl>
                                          <p:spTgt spid="35"/>
                                        </p:tgtEl>
                                      </p:cBhvr>
                                    </p:animEffect>
                                    <p:anim calcmode="lin" valueType="num">
                                      <p:cBhvr>
                                        <p:cTn id="149" dur="500" fill="hold"/>
                                        <p:tgtEl>
                                          <p:spTgt spid="35"/>
                                        </p:tgtEl>
                                        <p:attrNameLst>
                                          <p:attrName>ppt_x</p:attrName>
                                        </p:attrNameLst>
                                      </p:cBhvr>
                                      <p:tavLst>
                                        <p:tav tm="0">
                                          <p:val>
                                            <p:strVal val="#ppt_x"/>
                                          </p:val>
                                        </p:tav>
                                        <p:tav tm="100000">
                                          <p:val>
                                            <p:strVal val="#ppt_x"/>
                                          </p:val>
                                        </p:tav>
                                      </p:tavLst>
                                    </p:anim>
                                    <p:anim calcmode="lin" valueType="num">
                                      <p:cBhvr>
                                        <p:cTn id="150" dur="500" decel="100000" fill="hold"/>
                                        <p:tgtEl>
                                          <p:spTgt spid="35"/>
                                        </p:tgtEl>
                                        <p:attrNameLst>
                                          <p:attrName>ppt_y</p:attrName>
                                        </p:attrNameLst>
                                      </p:cBhvr>
                                      <p:tavLst>
                                        <p:tav tm="0">
                                          <p:val>
                                            <p:strVal val="#ppt_y+.06"/>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6"/>
                                        </p:tgtEl>
                                        <p:attrNameLst>
                                          <p:attrName>style.visibility</p:attrName>
                                        </p:attrNameLst>
                                      </p:cBhvr>
                                      <p:to>
                                        <p:strVal val="visible"/>
                                      </p:to>
                                    </p:set>
                                    <p:animEffect transition="in" filter="fade">
                                      <p:cBhvr>
                                        <p:cTn id="153" dur="500"/>
                                        <p:tgtEl>
                                          <p:spTgt spid="36"/>
                                        </p:tgtEl>
                                      </p:cBhvr>
                                    </p:animEffect>
                                    <p:anim calcmode="lin" valueType="num">
                                      <p:cBhvr>
                                        <p:cTn id="154" dur="500" fill="hold"/>
                                        <p:tgtEl>
                                          <p:spTgt spid="36"/>
                                        </p:tgtEl>
                                        <p:attrNameLst>
                                          <p:attrName>ppt_x</p:attrName>
                                        </p:attrNameLst>
                                      </p:cBhvr>
                                      <p:tavLst>
                                        <p:tav tm="0">
                                          <p:val>
                                            <p:strVal val="#ppt_x"/>
                                          </p:val>
                                        </p:tav>
                                        <p:tav tm="100000">
                                          <p:val>
                                            <p:strVal val="#ppt_x"/>
                                          </p:val>
                                        </p:tav>
                                      </p:tavLst>
                                    </p:anim>
                                    <p:anim calcmode="lin" valueType="num">
                                      <p:cBhvr>
                                        <p:cTn id="155" dur="500" decel="100000" fill="hold"/>
                                        <p:tgtEl>
                                          <p:spTgt spid="36"/>
                                        </p:tgtEl>
                                        <p:attrNameLst>
                                          <p:attrName>ppt_y</p:attrName>
                                        </p:attrNameLst>
                                      </p:cBhvr>
                                      <p:tavLst>
                                        <p:tav tm="0">
                                          <p:val>
                                            <p:strVal val="#ppt_y+.06"/>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500"/>
                                        <p:tgtEl>
                                          <p:spTgt spid="37"/>
                                        </p:tgtEl>
                                      </p:cBhvr>
                                    </p:animEffect>
                                    <p:anim calcmode="lin" valueType="num">
                                      <p:cBhvr>
                                        <p:cTn id="159" dur="500" fill="hold"/>
                                        <p:tgtEl>
                                          <p:spTgt spid="37"/>
                                        </p:tgtEl>
                                        <p:attrNameLst>
                                          <p:attrName>ppt_x</p:attrName>
                                        </p:attrNameLst>
                                      </p:cBhvr>
                                      <p:tavLst>
                                        <p:tav tm="0">
                                          <p:val>
                                            <p:strVal val="#ppt_x"/>
                                          </p:val>
                                        </p:tav>
                                        <p:tav tm="100000">
                                          <p:val>
                                            <p:strVal val="#ppt_x"/>
                                          </p:val>
                                        </p:tav>
                                      </p:tavLst>
                                    </p:anim>
                                    <p:anim calcmode="lin" valueType="num">
                                      <p:cBhvr>
                                        <p:cTn id="160" dur="500" decel="100000" fill="hold"/>
                                        <p:tgtEl>
                                          <p:spTgt spid="3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08</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MINDSET FLIP</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Traditional programming vs machine learning</a:t>
            </a:r>
            <a:endParaRPr lang="en-US" sz="3400" dirty="0"/>
          </a:p>
        </p:txBody>
      </p:sp>
      <p:sp>
        <p:nvSpPr>
          <p:cNvPr id="8" name="a1_l"/>
          <p:cNvSpPr txBox="1"/>
          <p:nvPr/>
        </p:nvSpPr>
        <p:spPr>
          <a:xfrm>
            <a:off x="548640" y="1920240"/>
            <a:ext cx="2011680"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Traditional</a:t>
            </a:r>
            <a:endParaRPr lang="en-US" sz="1700" dirty="0"/>
          </a:p>
          <a:p>
            <a:pPr indent="0" marL="0">
              <a:buNone/>
            </a:pPr>
            <a:r>
              <a:rPr lang="en-US" sz="1700" dirty="0">
                <a:solidFill>
                  <a:srgbClr val="A99BD6"/>
                </a:solidFill>
                <a:latin typeface="Arial" pitchFamily="34" charset="0"/>
                <a:ea typeface="Arial" pitchFamily="34" charset="-122"/>
                <a:cs typeface="Arial" pitchFamily="34" charset="-120"/>
              </a:rPr>
              <a:t>programming</a:t>
            </a:r>
            <a:endParaRPr lang="en-US" sz="1700" dirty="0"/>
          </a:p>
        </p:txBody>
      </p:sp>
      <p:sp>
        <p:nvSpPr>
          <p:cNvPr id="9" name="a1_b0"/>
          <p:cNvSpPr/>
          <p:nvPr/>
        </p:nvSpPr>
        <p:spPr>
          <a:xfrm>
            <a:off x="2651760" y="1783080"/>
            <a:ext cx="2240280" cy="1051560"/>
          </a:xfrm>
          <a:prstGeom prst="roundRect">
            <a:avLst>
              <a:gd name="adj" fmla="val 1043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0" name="a1_bt0"/>
          <p:cNvSpPr txBox="1"/>
          <p:nvPr/>
        </p:nvSpPr>
        <p:spPr>
          <a:xfrm>
            <a:off x="2834640" y="1920240"/>
            <a:ext cx="1920240" cy="411480"/>
          </a:xfrm>
          <a:prstGeom prst="rect">
            <a:avLst/>
          </a:prstGeom>
          <a:noFill/>
          <a:ln/>
        </p:spPr>
        <p:txBody>
          <a:bodyPr wrap="square" lIns="0" tIns="0" rIns="0" bIns="0" rtlCol="0" anchor="t"/>
          <a:lstStyle/>
          <a:p>
            <a:pPr indent="0" marL="0">
              <a:buNone/>
            </a:pPr>
            <a:r>
              <a:rPr lang="en-US" sz="1900" b="1" dirty="0">
                <a:solidFill>
                  <a:srgbClr val="7C4DFF"/>
                </a:solidFill>
                <a:latin typeface="Arial" pitchFamily="34" charset="0"/>
                <a:ea typeface="Arial" pitchFamily="34" charset="-122"/>
                <a:cs typeface="Arial" pitchFamily="34" charset="-120"/>
              </a:rPr>
              <a:t>Rules</a:t>
            </a:r>
            <a:endParaRPr lang="en-US" sz="1900" dirty="0"/>
          </a:p>
        </p:txBody>
      </p:sp>
      <p:sp>
        <p:nvSpPr>
          <p:cNvPr id="11" name="a1_bd0"/>
          <p:cNvSpPr txBox="1"/>
          <p:nvPr/>
        </p:nvSpPr>
        <p:spPr>
          <a:xfrm>
            <a:off x="2834640" y="2331720"/>
            <a:ext cx="19202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your if / else in C#</a:t>
            </a:r>
            <a:endParaRPr lang="en-US" sz="1300" dirty="0"/>
          </a:p>
        </p:txBody>
      </p:sp>
      <p:sp>
        <p:nvSpPr>
          <p:cNvPr id="12" name="a1_b1"/>
          <p:cNvSpPr/>
          <p:nvPr/>
        </p:nvSpPr>
        <p:spPr>
          <a:xfrm>
            <a:off x="5349240" y="1783080"/>
            <a:ext cx="2240280" cy="1051560"/>
          </a:xfrm>
          <a:prstGeom prst="roundRect">
            <a:avLst>
              <a:gd name="adj" fmla="val 1043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3" name="a1_bt1"/>
          <p:cNvSpPr txBox="1"/>
          <p:nvPr/>
        </p:nvSpPr>
        <p:spPr>
          <a:xfrm>
            <a:off x="5532120" y="1920240"/>
            <a:ext cx="1920240" cy="411480"/>
          </a:xfrm>
          <a:prstGeom prst="rect">
            <a:avLst/>
          </a:prstGeom>
          <a:noFill/>
          <a:ln/>
        </p:spPr>
        <p:txBody>
          <a:bodyPr wrap="square" lIns="0" tIns="0" rIns="0" bIns="0" rtlCol="0" anchor="t"/>
          <a:lstStyle/>
          <a:p>
            <a:pPr indent="0" marL="0">
              <a:buNone/>
            </a:pPr>
            <a:r>
              <a:rPr lang="en-US" sz="1900" b="1" dirty="0">
                <a:solidFill>
                  <a:srgbClr val="4FC3F7"/>
                </a:solidFill>
                <a:latin typeface="Arial" pitchFamily="34" charset="0"/>
                <a:ea typeface="Arial" pitchFamily="34" charset="-122"/>
                <a:cs typeface="Arial" pitchFamily="34" charset="-120"/>
              </a:rPr>
              <a:t>Data</a:t>
            </a:r>
            <a:endParaRPr lang="en-US" sz="1900" dirty="0"/>
          </a:p>
        </p:txBody>
      </p:sp>
      <p:sp>
        <p:nvSpPr>
          <p:cNvPr id="14" name="a1_bd1"/>
          <p:cNvSpPr txBox="1"/>
          <p:nvPr/>
        </p:nvSpPr>
        <p:spPr>
          <a:xfrm>
            <a:off x="5532120" y="2331720"/>
            <a:ext cx="19202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one email</a:t>
            </a:r>
            <a:endParaRPr lang="en-US" sz="1300" dirty="0"/>
          </a:p>
        </p:txBody>
      </p:sp>
      <p:sp>
        <p:nvSpPr>
          <p:cNvPr id="15" name="a1_plus"/>
          <p:cNvSpPr txBox="1"/>
          <p:nvPr/>
        </p:nvSpPr>
        <p:spPr>
          <a:xfrm>
            <a:off x="4892040" y="2011680"/>
            <a:ext cx="457200" cy="548640"/>
          </a:xfrm>
          <a:prstGeom prst="rect">
            <a:avLst/>
          </a:prstGeom>
          <a:noFill/>
          <a:ln/>
        </p:spPr>
        <p:txBody>
          <a:bodyPr wrap="square" lIns="0" tIns="0" rIns="0" bIns="0" rtlCol="0" anchor="t"/>
          <a:lstStyle/>
          <a:p>
            <a:pPr algn="ctr" indent="0" marL="0">
              <a:buNone/>
            </a:pPr>
            <a:r>
              <a:rPr lang="en-US" sz="3000" b="1" dirty="0">
                <a:solidFill>
                  <a:srgbClr val="A99BD6"/>
                </a:solidFill>
                <a:latin typeface="Arial" pitchFamily="34" charset="0"/>
                <a:ea typeface="Arial" pitchFamily="34" charset="-122"/>
                <a:cs typeface="Arial" pitchFamily="34" charset="-120"/>
              </a:rPr>
              <a:t>+</a:t>
            </a:r>
            <a:endParaRPr lang="en-US" sz="3000" dirty="0"/>
          </a:p>
        </p:txBody>
      </p:sp>
      <p:sp>
        <p:nvSpPr>
          <p:cNvPr id="16" name="a1_arr"/>
          <p:cNvSpPr/>
          <p:nvPr/>
        </p:nvSpPr>
        <p:spPr>
          <a:xfrm>
            <a:off x="7726680" y="2103120"/>
            <a:ext cx="594360" cy="411480"/>
          </a:xfrm>
          <a:prstGeom prst="rightArrow">
            <a:avLst/>
          </a:prstGeom>
          <a:solidFill>
            <a:srgbClr val="2EE6A6"/>
          </a:solidFill>
          <a:ln/>
        </p:spPr>
      </p:sp>
      <p:sp>
        <p:nvSpPr>
          <p:cNvPr id="17" name="a1_o"/>
          <p:cNvSpPr/>
          <p:nvPr/>
        </p:nvSpPr>
        <p:spPr>
          <a:xfrm>
            <a:off x="8503920" y="1783080"/>
            <a:ext cx="3136392" cy="1051560"/>
          </a:xfrm>
          <a:prstGeom prst="roundRect">
            <a:avLst>
              <a:gd name="adj" fmla="val 10435"/>
            </a:avLst>
          </a:prstGeom>
          <a:solidFill>
            <a:srgbClr val="2EE6A6">
              <a:alpha val="20000"/>
            </a:srgbClr>
          </a:solidFill>
          <a:ln w="25400">
            <a:solidFill>
              <a:srgbClr val="2EE6A6"/>
            </a:solidFill>
            <a:prstDash val="solid"/>
          </a:ln>
        </p:spPr>
      </p:sp>
      <p:sp>
        <p:nvSpPr>
          <p:cNvPr id="18" name="a1_ot"/>
          <p:cNvSpPr txBox="1"/>
          <p:nvPr/>
        </p:nvSpPr>
        <p:spPr>
          <a:xfrm>
            <a:off x="8686800" y="1920240"/>
            <a:ext cx="283464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Answers</a:t>
            </a:r>
            <a:endParaRPr lang="en-US" sz="1900" dirty="0"/>
          </a:p>
        </p:txBody>
      </p:sp>
      <p:sp>
        <p:nvSpPr>
          <p:cNvPr id="19" name="a1_od"/>
          <p:cNvSpPr txBox="1"/>
          <p:nvPr/>
        </p:nvSpPr>
        <p:spPr>
          <a:xfrm>
            <a:off x="8686800" y="2331720"/>
            <a:ext cx="28346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spam / not spam</a:t>
            </a:r>
            <a:endParaRPr lang="en-US" sz="1300" dirty="0"/>
          </a:p>
        </p:txBody>
      </p:sp>
      <p:sp>
        <p:nvSpPr>
          <p:cNvPr id="20" name="a2_l"/>
          <p:cNvSpPr txBox="1"/>
          <p:nvPr/>
        </p:nvSpPr>
        <p:spPr>
          <a:xfrm>
            <a:off x="548640" y="3291840"/>
            <a:ext cx="2011680"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Machine</a:t>
            </a:r>
            <a:endParaRPr lang="en-US" sz="1700" dirty="0"/>
          </a:p>
          <a:p>
            <a:pPr indent="0" marL="0">
              <a:buNone/>
            </a:pPr>
            <a:r>
              <a:rPr lang="en-US" sz="1700" dirty="0">
                <a:solidFill>
                  <a:srgbClr val="A99BD6"/>
                </a:solidFill>
                <a:latin typeface="Arial" pitchFamily="34" charset="0"/>
                <a:ea typeface="Arial" pitchFamily="34" charset="-122"/>
                <a:cs typeface="Arial" pitchFamily="34" charset="-120"/>
              </a:rPr>
              <a:t>learning</a:t>
            </a:r>
            <a:endParaRPr lang="en-US" sz="1700" dirty="0"/>
          </a:p>
        </p:txBody>
      </p:sp>
      <p:sp>
        <p:nvSpPr>
          <p:cNvPr id="21" name="a2_b0"/>
          <p:cNvSpPr/>
          <p:nvPr/>
        </p:nvSpPr>
        <p:spPr>
          <a:xfrm>
            <a:off x="2651760" y="3154680"/>
            <a:ext cx="2240280" cy="1051560"/>
          </a:xfrm>
          <a:prstGeom prst="roundRect">
            <a:avLst>
              <a:gd name="adj" fmla="val 1043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2" name="a2_bt0"/>
          <p:cNvSpPr txBox="1"/>
          <p:nvPr/>
        </p:nvSpPr>
        <p:spPr>
          <a:xfrm>
            <a:off x="2834640" y="3291840"/>
            <a:ext cx="1920240" cy="411480"/>
          </a:xfrm>
          <a:prstGeom prst="rect">
            <a:avLst/>
          </a:prstGeom>
          <a:noFill/>
          <a:ln/>
        </p:spPr>
        <p:txBody>
          <a:bodyPr wrap="square" lIns="0" tIns="0" rIns="0" bIns="0" rtlCol="0" anchor="t"/>
          <a:lstStyle/>
          <a:p>
            <a:pPr indent="0" marL="0">
              <a:buNone/>
            </a:pPr>
            <a:r>
              <a:rPr lang="en-US" sz="1900" b="1" dirty="0">
                <a:solidFill>
                  <a:srgbClr val="4FC3F7"/>
                </a:solidFill>
                <a:latin typeface="Arial" pitchFamily="34" charset="0"/>
                <a:ea typeface="Arial" pitchFamily="34" charset="-122"/>
                <a:cs typeface="Arial" pitchFamily="34" charset="-120"/>
              </a:rPr>
              <a:t>Data</a:t>
            </a:r>
            <a:endParaRPr lang="en-US" sz="1900" dirty="0"/>
          </a:p>
        </p:txBody>
      </p:sp>
      <p:sp>
        <p:nvSpPr>
          <p:cNvPr id="23" name="a2_bd0"/>
          <p:cNvSpPr txBox="1"/>
          <p:nvPr/>
        </p:nvSpPr>
        <p:spPr>
          <a:xfrm>
            <a:off x="2834640" y="3703320"/>
            <a:ext cx="19202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10,000 emails</a:t>
            </a:r>
            <a:endParaRPr lang="en-US" sz="1300" dirty="0"/>
          </a:p>
        </p:txBody>
      </p:sp>
      <p:sp>
        <p:nvSpPr>
          <p:cNvPr id="24" name="a2_b1"/>
          <p:cNvSpPr/>
          <p:nvPr/>
        </p:nvSpPr>
        <p:spPr>
          <a:xfrm>
            <a:off x="5349240" y="3154680"/>
            <a:ext cx="2240280" cy="1051560"/>
          </a:xfrm>
          <a:prstGeom prst="roundRect">
            <a:avLst>
              <a:gd name="adj" fmla="val 1043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5" name="a2_bt1"/>
          <p:cNvSpPr txBox="1"/>
          <p:nvPr/>
        </p:nvSpPr>
        <p:spPr>
          <a:xfrm>
            <a:off x="5532120" y="3291840"/>
            <a:ext cx="1920240" cy="411480"/>
          </a:xfrm>
          <a:prstGeom prst="rect">
            <a:avLst/>
          </a:prstGeom>
          <a:noFill/>
          <a:ln/>
        </p:spPr>
        <p:txBody>
          <a:bodyPr wrap="square" lIns="0" tIns="0" rIns="0" bIns="0" rtlCol="0" anchor="t"/>
          <a:lstStyle/>
          <a:p>
            <a:pPr indent="0" marL="0">
              <a:buNone/>
            </a:pPr>
            <a:r>
              <a:rPr lang="en-US" sz="1900" b="1" dirty="0">
                <a:solidFill>
                  <a:srgbClr val="2EE6A6"/>
                </a:solidFill>
                <a:latin typeface="Arial" pitchFamily="34" charset="0"/>
                <a:ea typeface="Arial" pitchFamily="34" charset="-122"/>
                <a:cs typeface="Arial" pitchFamily="34" charset="-120"/>
              </a:rPr>
              <a:t>Answers</a:t>
            </a:r>
            <a:endParaRPr lang="en-US" sz="1900" dirty="0"/>
          </a:p>
        </p:txBody>
      </p:sp>
      <p:sp>
        <p:nvSpPr>
          <p:cNvPr id="26" name="a2_bd1"/>
          <p:cNvSpPr txBox="1"/>
          <p:nvPr/>
        </p:nvSpPr>
        <p:spPr>
          <a:xfrm>
            <a:off x="5532120" y="3703320"/>
            <a:ext cx="19202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each labelled spam / not</a:t>
            </a:r>
            <a:endParaRPr lang="en-US" sz="1300" dirty="0"/>
          </a:p>
        </p:txBody>
      </p:sp>
      <p:sp>
        <p:nvSpPr>
          <p:cNvPr id="27" name="a2_plus"/>
          <p:cNvSpPr txBox="1"/>
          <p:nvPr/>
        </p:nvSpPr>
        <p:spPr>
          <a:xfrm>
            <a:off x="4892040" y="3383280"/>
            <a:ext cx="457200" cy="548640"/>
          </a:xfrm>
          <a:prstGeom prst="rect">
            <a:avLst/>
          </a:prstGeom>
          <a:noFill/>
          <a:ln/>
        </p:spPr>
        <p:txBody>
          <a:bodyPr wrap="square" lIns="0" tIns="0" rIns="0" bIns="0" rtlCol="0" anchor="t"/>
          <a:lstStyle/>
          <a:p>
            <a:pPr algn="ctr" indent="0" marL="0">
              <a:buNone/>
            </a:pPr>
            <a:r>
              <a:rPr lang="en-US" sz="3000" b="1" dirty="0">
                <a:solidFill>
                  <a:srgbClr val="A99BD6"/>
                </a:solidFill>
                <a:latin typeface="Arial" pitchFamily="34" charset="0"/>
                <a:ea typeface="Arial" pitchFamily="34" charset="-122"/>
                <a:cs typeface="Arial" pitchFamily="34" charset="-120"/>
              </a:rPr>
              <a:t>+</a:t>
            </a:r>
            <a:endParaRPr lang="en-US" sz="3000" dirty="0"/>
          </a:p>
        </p:txBody>
      </p:sp>
      <p:sp>
        <p:nvSpPr>
          <p:cNvPr id="28" name="a2_arr"/>
          <p:cNvSpPr/>
          <p:nvPr/>
        </p:nvSpPr>
        <p:spPr>
          <a:xfrm>
            <a:off x="7726680" y="3474720"/>
            <a:ext cx="594360" cy="411480"/>
          </a:xfrm>
          <a:prstGeom prst="rightArrow">
            <a:avLst/>
          </a:prstGeom>
          <a:solidFill>
            <a:srgbClr val="FFB547"/>
          </a:solidFill>
          <a:ln/>
        </p:spPr>
      </p:sp>
      <p:sp>
        <p:nvSpPr>
          <p:cNvPr id="29" name="a2_o"/>
          <p:cNvSpPr/>
          <p:nvPr/>
        </p:nvSpPr>
        <p:spPr>
          <a:xfrm>
            <a:off x="8503920" y="3154680"/>
            <a:ext cx="3136392" cy="1051560"/>
          </a:xfrm>
          <a:prstGeom prst="roundRect">
            <a:avLst>
              <a:gd name="adj" fmla="val 10435"/>
            </a:avLst>
          </a:prstGeom>
          <a:solidFill>
            <a:srgbClr val="FFB547">
              <a:alpha val="20000"/>
            </a:srgbClr>
          </a:solidFill>
          <a:ln w="25400">
            <a:solidFill>
              <a:srgbClr val="FFB547"/>
            </a:solidFill>
            <a:prstDash val="solid"/>
          </a:ln>
        </p:spPr>
      </p:sp>
      <p:sp>
        <p:nvSpPr>
          <p:cNvPr id="30" name="a2_ot"/>
          <p:cNvSpPr txBox="1"/>
          <p:nvPr/>
        </p:nvSpPr>
        <p:spPr>
          <a:xfrm>
            <a:off x="8686800" y="3291840"/>
            <a:ext cx="283464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Rules</a:t>
            </a:r>
            <a:endParaRPr lang="en-US" sz="1900" dirty="0"/>
          </a:p>
        </p:txBody>
      </p:sp>
      <p:sp>
        <p:nvSpPr>
          <p:cNvPr id="31" name="a2_od"/>
          <p:cNvSpPr txBox="1"/>
          <p:nvPr/>
        </p:nvSpPr>
        <p:spPr>
          <a:xfrm>
            <a:off x="8686800" y="3703320"/>
            <a:ext cx="2834640" cy="411480"/>
          </a:xfrm>
          <a:prstGeom prst="rect">
            <a:avLst/>
          </a:prstGeom>
          <a:noFill/>
          <a:ln/>
        </p:spPr>
        <p:txBody>
          <a:bodyPr wrap="square" lIns="0" tIns="0" rIns="0" bIns="0" rtlCol="0" anchor="t"/>
          <a:lstStyle/>
          <a:p>
            <a:pPr indent="0" marL="0">
              <a:buNone/>
            </a:pPr>
            <a:r>
              <a:rPr lang="en-US" sz="1300" dirty="0">
                <a:solidFill>
                  <a:srgbClr val="E9E4FF"/>
                </a:solidFill>
                <a:latin typeface="Calibri" pitchFamily="34" charset="0"/>
                <a:ea typeface="Calibri" pitchFamily="34" charset="-122"/>
                <a:cs typeface="Calibri" pitchFamily="34" charset="-120"/>
              </a:rPr>
              <a:t>a trained model</a:t>
            </a:r>
            <a:endParaRPr lang="en-US" sz="1300" dirty="0"/>
          </a:p>
        </p:txBody>
      </p:sp>
      <p:sp>
        <p:nvSpPr>
          <p:cNvPr id="32" name="a3_t0"/>
          <p:cNvSpPr/>
          <p:nvPr/>
        </p:nvSpPr>
        <p:spPr>
          <a:xfrm>
            <a:off x="548640" y="4572000"/>
            <a:ext cx="2606040" cy="1600200"/>
          </a:xfrm>
          <a:prstGeom prst="roundRect">
            <a:avLst>
              <a:gd name="adj" fmla="val 685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33" name="a3_ti0" descr="preencoded.png">    </p:cNvPr>
          <p:cNvPicPr>
            <a:picLocks noChangeAspect="1"/>
          </p:cNvPicPr>
          <p:nvPr/>
        </p:nvPicPr>
        <p:blipFill>
          <a:blip r:embed="rId1"/>
          <a:stretch>
            <a:fillRect/>
          </a:stretch>
        </p:blipFill>
        <p:spPr>
          <a:xfrm>
            <a:off x="749808" y="4754880"/>
            <a:ext cx="347472" cy="347472"/>
          </a:xfrm>
          <a:prstGeom prst="rect">
            <a:avLst/>
          </a:prstGeom>
        </p:spPr>
      </p:pic>
      <p:sp>
        <p:nvSpPr>
          <p:cNvPr id="34" name="a3_tt0"/>
          <p:cNvSpPr txBox="1"/>
          <p:nvPr/>
        </p:nvSpPr>
        <p:spPr>
          <a:xfrm>
            <a:off x="1207008" y="4727448"/>
            <a:ext cx="18745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Supervised</a:t>
            </a:r>
            <a:endParaRPr lang="en-US" sz="1600" dirty="0"/>
          </a:p>
        </p:txBody>
      </p:sp>
      <p:sp>
        <p:nvSpPr>
          <p:cNvPr id="35" name="a3_td0"/>
          <p:cNvSpPr txBox="1"/>
          <p:nvPr/>
        </p:nvSpPr>
        <p:spPr>
          <a:xfrm>
            <a:off x="749808" y="5212080"/>
            <a:ext cx="2286000" cy="548640"/>
          </a:xfrm>
          <a:prstGeom prst="rect">
            <a:avLst/>
          </a:prstGeom>
          <a:noFill/>
          <a:ln/>
        </p:spPr>
        <p:txBody>
          <a:bodyPr wrap="square" lIns="0" tIns="0" rIns="0" bIns="0" rtlCol="0" anchor="t"/>
          <a:lstStyle/>
          <a:p>
            <a:pPr indent="0" marL="0">
              <a:buNone/>
            </a:pPr>
            <a:r>
              <a:rPr lang="en-US" sz="1250" dirty="0">
                <a:solidFill>
                  <a:srgbClr val="E9E4FF"/>
                </a:solidFill>
                <a:latin typeface="Calibri" pitchFamily="34" charset="0"/>
                <a:ea typeface="Calibri" pitchFamily="34" charset="-122"/>
                <a:cs typeface="Calibri" pitchFamily="34" charset="-120"/>
              </a:rPr>
              <a:t>Learns from labelled examples</a:t>
            </a:r>
            <a:endParaRPr lang="en-US" sz="1250" dirty="0"/>
          </a:p>
        </p:txBody>
      </p:sp>
      <p:sp>
        <p:nvSpPr>
          <p:cNvPr id="36" name="a3_te0"/>
          <p:cNvSpPr txBox="1"/>
          <p:nvPr/>
        </p:nvSpPr>
        <p:spPr>
          <a:xfrm>
            <a:off x="749808" y="5779008"/>
            <a:ext cx="2286000" cy="320040"/>
          </a:xfrm>
          <a:prstGeom prst="rect">
            <a:avLst/>
          </a:prstGeom>
          <a:noFill/>
          <a:ln/>
        </p:spPr>
        <p:txBody>
          <a:bodyPr wrap="square" lIns="0" tIns="0" rIns="0" bIns="0" rtlCol="0" anchor="t"/>
          <a:lstStyle/>
          <a:p>
            <a:pPr indent="0" marL="0">
              <a:buNone/>
            </a:pPr>
            <a:r>
              <a:rPr lang="en-US" sz="1100" i="1" dirty="0">
                <a:solidFill>
                  <a:srgbClr val="6F63A0"/>
                </a:solidFill>
                <a:latin typeface="Calibri" pitchFamily="34" charset="0"/>
                <a:ea typeface="Calibri" pitchFamily="34" charset="-122"/>
                <a:cs typeface="Calibri" pitchFamily="34" charset="-120"/>
              </a:rPr>
              <a:t>house prices · spam · churn</a:t>
            </a:r>
            <a:endParaRPr lang="en-US" sz="1100" dirty="0"/>
          </a:p>
        </p:txBody>
      </p:sp>
      <p:sp>
        <p:nvSpPr>
          <p:cNvPr id="37" name="a3_t1"/>
          <p:cNvSpPr/>
          <p:nvPr/>
        </p:nvSpPr>
        <p:spPr>
          <a:xfrm>
            <a:off x="3383280" y="4572000"/>
            <a:ext cx="2606040" cy="1600200"/>
          </a:xfrm>
          <a:prstGeom prst="roundRect">
            <a:avLst>
              <a:gd name="adj" fmla="val 685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38" name="a3_ti1" descr="preencoded.png">    </p:cNvPr>
          <p:cNvPicPr>
            <a:picLocks noChangeAspect="1"/>
          </p:cNvPicPr>
          <p:nvPr/>
        </p:nvPicPr>
        <p:blipFill>
          <a:blip r:embed="rId2"/>
          <a:stretch>
            <a:fillRect/>
          </a:stretch>
        </p:blipFill>
        <p:spPr>
          <a:xfrm>
            <a:off x="3584448" y="4754880"/>
            <a:ext cx="347472" cy="347472"/>
          </a:xfrm>
          <a:prstGeom prst="rect">
            <a:avLst/>
          </a:prstGeom>
        </p:spPr>
      </p:pic>
      <p:sp>
        <p:nvSpPr>
          <p:cNvPr id="39" name="a3_tt1"/>
          <p:cNvSpPr txBox="1"/>
          <p:nvPr/>
        </p:nvSpPr>
        <p:spPr>
          <a:xfrm>
            <a:off x="4041648" y="4727448"/>
            <a:ext cx="18745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Unsupervised</a:t>
            </a:r>
            <a:endParaRPr lang="en-US" sz="1600" dirty="0"/>
          </a:p>
        </p:txBody>
      </p:sp>
      <p:sp>
        <p:nvSpPr>
          <p:cNvPr id="40" name="a3_td1"/>
          <p:cNvSpPr txBox="1"/>
          <p:nvPr/>
        </p:nvSpPr>
        <p:spPr>
          <a:xfrm>
            <a:off x="3584448" y="5212080"/>
            <a:ext cx="2286000" cy="548640"/>
          </a:xfrm>
          <a:prstGeom prst="rect">
            <a:avLst/>
          </a:prstGeom>
          <a:noFill/>
          <a:ln/>
        </p:spPr>
        <p:txBody>
          <a:bodyPr wrap="square" lIns="0" tIns="0" rIns="0" bIns="0" rtlCol="0" anchor="t"/>
          <a:lstStyle/>
          <a:p>
            <a:pPr indent="0" marL="0">
              <a:buNone/>
            </a:pPr>
            <a:r>
              <a:rPr lang="en-US" sz="1250" dirty="0">
                <a:solidFill>
                  <a:srgbClr val="E9E4FF"/>
                </a:solidFill>
                <a:latin typeface="Calibri" pitchFamily="34" charset="0"/>
                <a:ea typeface="Calibri" pitchFamily="34" charset="-122"/>
                <a:cs typeface="Calibri" pitchFamily="34" charset="-120"/>
              </a:rPr>
              <a:t>Finds groups with no labels</a:t>
            </a:r>
            <a:endParaRPr lang="en-US" sz="1250" dirty="0"/>
          </a:p>
        </p:txBody>
      </p:sp>
      <p:sp>
        <p:nvSpPr>
          <p:cNvPr id="41" name="a3_te1"/>
          <p:cNvSpPr txBox="1"/>
          <p:nvPr/>
        </p:nvSpPr>
        <p:spPr>
          <a:xfrm>
            <a:off x="3584448" y="5779008"/>
            <a:ext cx="2286000" cy="320040"/>
          </a:xfrm>
          <a:prstGeom prst="rect">
            <a:avLst/>
          </a:prstGeom>
          <a:noFill/>
          <a:ln/>
        </p:spPr>
        <p:txBody>
          <a:bodyPr wrap="square" lIns="0" tIns="0" rIns="0" bIns="0" rtlCol="0" anchor="t"/>
          <a:lstStyle/>
          <a:p>
            <a:pPr indent="0" marL="0">
              <a:buNone/>
            </a:pPr>
            <a:r>
              <a:rPr lang="en-US" sz="1100" i="1" dirty="0">
                <a:solidFill>
                  <a:srgbClr val="6F63A0"/>
                </a:solidFill>
                <a:latin typeface="Calibri" pitchFamily="34" charset="0"/>
                <a:ea typeface="Calibri" pitchFamily="34" charset="-122"/>
                <a:cs typeface="Calibri" pitchFamily="34" charset="-120"/>
              </a:rPr>
              <a:t>customer segments · anomalies</a:t>
            </a:r>
            <a:endParaRPr lang="en-US" sz="1100" dirty="0"/>
          </a:p>
        </p:txBody>
      </p:sp>
      <p:sp>
        <p:nvSpPr>
          <p:cNvPr id="42" name="a3_t2"/>
          <p:cNvSpPr/>
          <p:nvPr/>
        </p:nvSpPr>
        <p:spPr>
          <a:xfrm>
            <a:off x="6217920" y="4572000"/>
            <a:ext cx="2606040" cy="1600200"/>
          </a:xfrm>
          <a:prstGeom prst="roundRect">
            <a:avLst>
              <a:gd name="adj" fmla="val 685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43" name="a3_ti2" descr="preencoded.png">    </p:cNvPr>
          <p:cNvPicPr>
            <a:picLocks noChangeAspect="1"/>
          </p:cNvPicPr>
          <p:nvPr/>
        </p:nvPicPr>
        <p:blipFill>
          <a:blip r:embed="rId3"/>
          <a:stretch>
            <a:fillRect/>
          </a:stretch>
        </p:blipFill>
        <p:spPr>
          <a:xfrm>
            <a:off x="6419088" y="4754880"/>
            <a:ext cx="347472" cy="347472"/>
          </a:xfrm>
          <a:prstGeom prst="rect">
            <a:avLst/>
          </a:prstGeom>
        </p:spPr>
      </p:pic>
      <p:sp>
        <p:nvSpPr>
          <p:cNvPr id="44" name="a3_tt2"/>
          <p:cNvSpPr txBox="1"/>
          <p:nvPr/>
        </p:nvSpPr>
        <p:spPr>
          <a:xfrm>
            <a:off x="6876288" y="4727448"/>
            <a:ext cx="18745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Reinforcement</a:t>
            </a:r>
            <a:endParaRPr lang="en-US" sz="1600" dirty="0"/>
          </a:p>
        </p:txBody>
      </p:sp>
      <p:sp>
        <p:nvSpPr>
          <p:cNvPr id="45" name="a3_td2"/>
          <p:cNvSpPr txBox="1"/>
          <p:nvPr/>
        </p:nvSpPr>
        <p:spPr>
          <a:xfrm>
            <a:off x="6419088" y="5212080"/>
            <a:ext cx="2286000" cy="548640"/>
          </a:xfrm>
          <a:prstGeom prst="rect">
            <a:avLst/>
          </a:prstGeom>
          <a:noFill/>
          <a:ln/>
        </p:spPr>
        <p:txBody>
          <a:bodyPr wrap="square" lIns="0" tIns="0" rIns="0" bIns="0" rtlCol="0" anchor="t"/>
          <a:lstStyle/>
          <a:p>
            <a:pPr indent="0" marL="0">
              <a:buNone/>
            </a:pPr>
            <a:r>
              <a:rPr lang="en-US" sz="1250" dirty="0">
                <a:solidFill>
                  <a:srgbClr val="E9E4FF"/>
                </a:solidFill>
                <a:latin typeface="Calibri" pitchFamily="34" charset="0"/>
                <a:ea typeface="Calibri" pitchFamily="34" charset="-122"/>
                <a:cs typeface="Calibri" pitchFamily="34" charset="-120"/>
              </a:rPr>
              <a:t>Learns by trial, error &amp; reward</a:t>
            </a:r>
            <a:endParaRPr lang="en-US" sz="1250" dirty="0"/>
          </a:p>
        </p:txBody>
      </p:sp>
      <p:sp>
        <p:nvSpPr>
          <p:cNvPr id="46" name="a3_te2"/>
          <p:cNvSpPr txBox="1"/>
          <p:nvPr/>
        </p:nvSpPr>
        <p:spPr>
          <a:xfrm>
            <a:off x="6419088" y="5779008"/>
            <a:ext cx="2286000" cy="320040"/>
          </a:xfrm>
          <a:prstGeom prst="rect">
            <a:avLst/>
          </a:prstGeom>
          <a:noFill/>
          <a:ln/>
        </p:spPr>
        <p:txBody>
          <a:bodyPr wrap="square" lIns="0" tIns="0" rIns="0" bIns="0" rtlCol="0" anchor="t"/>
          <a:lstStyle/>
          <a:p>
            <a:pPr indent="0" marL="0">
              <a:buNone/>
            </a:pPr>
            <a:r>
              <a:rPr lang="en-US" sz="1100" i="1" dirty="0">
                <a:solidFill>
                  <a:srgbClr val="6F63A0"/>
                </a:solidFill>
                <a:latin typeface="Calibri" pitchFamily="34" charset="0"/>
                <a:ea typeface="Calibri" pitchFamily="34" charset="-122"/>
                <a:cs typeface="Calibri" pitchFamily="34" charset="-120"/>
              </a:rPr>
              <a:t>AlphaGo · robotics · RLHF</a:t>
            </a:r>
            <a:endParaRPr lang="en-US" sz="1100" dirty="0"/>
          </a:p>
        </p:txBody>
      </p:sp>
      <p:sp>
        <p:nvSpPr>
          <p:cNvPr id="47" name="a4_t3"/>
          <p:cNvSpPr/>
          <p:nvPr/>
        </p:nvSpPr>
        <p:spPr>
          <a:xfrm>
            <a:off x="9052560" y="4572000"/>
            <a:ext cx="2606040" cy="1600200"/>
          </a:xfrm>
          <a:prstGeom prst="roundRect">
            <a:avLst>
              <a:gd name="adj" fmla="val 6857"/>
            </a:avLst>
          </a:prstGeom>
          <a:solidFill>
            <a:srgbClr val="1E3B3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48" name="a4_ti3" descr="preencoded.png">    </p:cNvPr>
          <p:cNvPicPr>
            <a:picLocks noChangeAspect="1"/>
          </p:cNvPicPr>
          <p:nvPr/>
        </p:nvPicPr>
        <p:blipFill>
          <a:blip r:embed="rId4"/>
          <a:stretch>
            <a:fillRect/>
          </a:stretch>
        </p:blipFill>
        <p:spPr>
          <a:xfrm>
            <a:off x="9253728" y="4754880"/>
            <a:ext cx="347472" cy="347472"/>
          </a:xfrm>
          <a:prstGeom prst="rect">
            <a:avLst/>
          </a:prstGeom>
        </p:spPr>
      </p:pic>
      <p:sp>
        <p:nvSpPr>
          <p:cNvPr id="49" name="a4_tt3"/>
          <p:cNvSpPr txBox="1"/>
          <p:nvPr/>
        </p:nvSpPr>
        <p:spPr>
          <a:xfrm>
            <a:off x="9710928" y="4727448"/>
            <a:ext cx="1874520" cy="411480"/>
          </a:xfrm>
          <a:prstGeom prst="rect">
            <a:avLst/>
          </a:prstGeom>
          <a:noFill/>
          <a:ln/>
        </p:spPr>
        <p:txBody>
          <a:bodyPr wrap="square" lIns="0" tIns="0" rIns="0" bIns="0" rtlCol="0" anchor="ctr"/>
          <a:lstStyle/>
          <a:p>
            <a:pPr indent="0" marL="0">
              <a:buNone/>
            </a:pPr>
            <a:r>
              <a:rPr lang="en-US" sz="1600" b="1" dirty="0">
                <a:solidFill>
                  <a:srgbClr val="2EE6A6"/>
                </a:solidFill>
                <a:latin typeface="Arial" pitchFamily="34" charset="0"/>
                <a:ea typeface="Arial" pitchFamily="34" charset="-122"/>
                <a:cs typeface="Arial" pitchFamily="34" charset="-120"/>
              </a:rPr>
              <a:t>Self-supervised</a:t>
            </a:r>
            <a:endParaRPr lang="en-US" sz="1600" dirty="0"/>
          </a:p>
        </p:txBody>
      </p:sp>
      <p:sp>
        <p:nvSpPr>
          <p:cNvPr id="50" name="a4_td3"/>
          <p:cNvSpPr txBox="1"/>
          <p:nvPr/>
        </p:nvSpPr>
        <p:spPr>
          <a:xfrm>
            <a:off x="9253728" y="5212080"/>
            <a:ext cx="2286000" cy="548640"/>
          </a:xfrm>
          <a:prstGeom prst="rect">
            <a:avLst/>
          </a:prstGeom>
          <a:noFill/>
          <a:ln/>
        </p:spPr>
        <p:txBody>
          <a:bodyPr wrap="square" lIns="0" tIns="0" rIns="0" bIns="0" rtlCol="0" anchor="t"/>
          <a:lstStyle/>
          <a:p>
            <a:pPr indent="0" marL="0">
              <a:buNone/>
            </a:pPr>
            <a:r>
              <a:rPr lang="en-US" sz="1250" dirty="0">
                <a:solidFill>
                  <a:srgbClr val="E9E4FF"/>
                </a:solidFill>
                <a:latin typeface="Calibri" pitchFamily="34" charset="0"/>
                <a:ea typeface="Calibri" pitchFamily="34" charset="-122"/>
                <a:cs typeface="Calibri" pitchFamily="34" charset="-120"/>
              </a:rPr>
              <a:t>The data labels itself: hide the next word, predict it</a:t>
            </a:r>
            <a:endParaRPr lang="en-US" sz="1250" dirty="0"/>
          </a:p>
        </p:txBody>
      </p:sp>
      <p:sp>
        <p:nvSpPr>
          <p:cNvPr id="51" name="a4_te3"/>
          <p:cNvSpPr txBox="1"/>
          <p:nvPr/>
        </p:nvSpPr>
        <p:spPr>
          <a:xfrm>
            <a:off x="9253728" y="5779008"/>
            <a:ext cx="2286000" cy="320040"/>
          </a:xfrm>
          <a:prstGeom prst="rect">
            <a:avLst/>
          </a:prstGeom>
          <a:noFill/>
          <a:ln/>
        </p:spPr>
        <p:txBody>
          <a:bodyPr wrap="square" lIns="0" tIns="0" rIns="0" bIns="0" rtlCol="0" anchor="t"/>
          <a:lstStyle/>
          <a:p>
            <a:pPr indent="0" marL="0">
              <a:buNone/>
            </a:pPr>
            <a:r>
              <a:rPr lang="en-US" sz="1100" i="1" dirty="0">
                <a:solidFill>
                  <a:srgbClr val="2EE6A6"/>
                </a:solidFill>
                <a:latin typeface="Calibri" pitchFamily="34" charset="0"/>
                <a:ea typeface="Calibri" pitchFamily="34" charset="-122"/>
                <a:cs typeface="Calibri" pitchFamily="34" charset="-120"/>
              </a:rPr>
              <a:t>→ how every LLM is trained</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decel="1000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anim calcmode="lin" valueType="num">
                                      <p:cBhvr>
                                        <p:cTn id="73" dur="500" fill="hold"/>
                                        <p:tgtEl>
                                          <p:spTgt spid="21"/>
                                        </p:tgtEl>
                                        <p:attrNameLst>
                                          <p:attrName>ppt_x</p:attrName>
                                        </p:attrNameLst>
                                      </p:cBhvr>
                                      <p:tavLst>
                                        <p:tav tm="0">
                                          <p:val>
                                            <p:strVal val="#ppt_x"/>
                                          </p:val>
                                        </p:tav>
                                        <p:tav tm="100000">
                                          <p:val>
                                            <p:strVal val="#ppt_x"/>
                                          </p:val>
                                        </p:tav>
                                      </p:tavLst>
                                    </p:anim>
                                    <p:anim calcmode="lin" valueType="num">
                                      <p:cBhvr>
                                        <p:cTn id="74" dur="500" decel="1000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decel="1000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p:cTn id="83" dur="500" fill="hold"/>
                                        <p:tgtEl>
                                          <p:spTgt spid="23"/>
                                        </p:tgtEl>
                                        <p:attrNameLst>
                                          <p:attrName>ppt_x</p:attrName>
                                        </p:attrNameLst>
                                      </p:cBhvr>
                                      <p:tavLst>
                                        <p:tav tm="0">
                                          <p:val>
                                            <p:strVal val="#ppt_x"/>
                                          </p:val>
                                        </p:tav>
                                        <p:tav tm="100000">
                                          <p:val>
                                            <p:strVal val="#ppt_x"/>
                                          </p:val>
                                        </p:tav>
                                      </p:tavLst>
                                    </p:anim>
                                    <p:anim calcmode="lin" valueType="num">
                                      <p:cBhvr>
                                        <p:cTn id="84" dur="500" decel="1000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anim calcmode="lin" valueType="num">
                                      <p:cBhvr>
                                        <p:cTn id="88" dur="500" fill="hold"/>
                                        <p:tgtEl>
                                          <p:spTgt spid="24"/>
                                        </p:tgtEl>
                                        <p:attrNameLst>
                                          <p:attrName>ppt_x</p:attrName>
                                        </p:attrNameLst>
                                      </p:cBhvr>
                                      <p:tavLst>
                                        <p:tav tm="0">
                                          <p:val>
                                            <p:strVal val="#ppt_x"/>
                                          </p:val>
                                        </p:tav>
                                        <p:tav tm="100000">
                                          <p:val>
                                            <p:strVal val="#ppt_x"/>
                                          </p:val>
                                        </p:tav>
                                      </p:tavLst>
                                    </p:anim>
                                    <p:anim calcmode="lin" valueType="num">
                                      <p:cBhvr>
                                        <p:cTn id="89" dur="500" decel="1000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anim calcmode="lin" valueType="num">
                                      <p:cBhvr>
                                        <p:cTn id="103" dur="500" fill="hold"/>
                                        <p:tgtEl>
                                          <p:spTgt spid="27"/>
                                        </p:tgtEl>
                                        <p:attrNameLst>
                                          <p:attrName>ppt_x</p:attrName>
                                        </p:attrNameLst>
                                      </p:cBhvr>
                                      <p:tavLst>
                                        <p:tav tm="0">
                                          <p:val>
                                            <p:strVal val="#ppt_x"/>
                                          </p:val>
                                        </p:tav>
                                        <p:tav tm="100000">
                                          <p:val>
                                            <p:strVal val="#ppt_x"/>
                                          </p:val>
                                        </p:tav>
                                      </p:tavLst>
                                    </p:anim>
                                    <p:anim calcmode="lin" valueType="num">
                                      <p:cBhvr>
                                        <p:cTn id="104" dur="500" decel="100000" fill="hold"/>
                                        <p:tgtEl>
                                          <p:spTgt spid="27"/>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anim calcmode="lin" valueType="num">
                                      <p:cBhvr>
                                        <p:cTn id="108" dur="500" fill="hold"/>
                                        <p:tgtEl>
                                          <p:spTgt spid="28"/>
                                        </p:tgtEl>
                                        <p:attrNameLst>
                                          <p:attrName>ppt_x</p:attrName>
                                        </p:attrNameLst>
                                      </p:cBhvr>
                                      <p:tavLst>
                                        <p:tav tm="0">
                                          <p:val>
                                            <p:strVal val="#ppt_x"/>
                                          </p:val>
                                        </p:tav>
                                        <p:tav tm="100000">
                                          <p:val>
                                            <p:strVal val="#ppt_x"/>
                                          </p:val>
                                        </p:tav>
                                      </p:tavLst>
                                    </p:anim>
                                    <p:anim calcmode="lin" valueType="num">
                                      <p:cBhvr>
                                        <p:cTn id="109" dur="500" decel="100000" fill="hold"/>
                                        <p:tgtEl>
                                          <p:spTgt spid="28"/>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anim calcmode="lin" valueType="num">
                                      <p:cBhvr>
                                        <p:cTn id="113" dur="500" fill="hold"/>
                                        <p:tgtEl>
                                          <p:spTgt spid="29"/>
                                        </p:tgtEl>
                                        <p:attrNameLst>
                                          <p:attrName>ppt_x</p:attrName>
                                        </p:attrNameLst>
                                      </p:cBhvr>
                                      <p:tavLst>
                                        <p:tav tm="0">
                                          <p:val>
                                            <p:strVal val="#ppt_x"/>
                                          </p:val>
                                        </p:tav>
                                        <p:tav tm="100000">
                                          <p:val>
                                            <p:strVal val="#ppt_x"/>
                                          </p:val>
                                        </p:tav>
                                      </p:tavLst>
                                    </p:anim>
                                    <p:anim calcmode="lin" valueType="num">
                                      <p:cBhvr>
                                        <p:cTn id="114" dur="500" decel="100000" fill="hold"/>
                                        <p:tgtEl>
                                          <p:spTgt spid="29"/>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anim calcmode="lin" valueType="num">
                                      <p:cBhvr>
                                        <p:cTn id="118" dur="500" fill="hold"/>
                                        <p:tgtEl>
                                          <p:spTgt spid="30"/>
                                        </p:tgtEl>
                                        <p:attrNameLst>
                                          <p:attrName>ppt_x</p:attrName>
                                        </p:attrNameLst>
                                      </p:cBhvr>
                                      <p:tavLst>
                                        <p:tav tm="0">
                                          <p:val>
                                            <p:strVal val="#ppt_x"/>
                                          </p:val>
                                        </p:tav>
                                        <p:tav tm="100000">
                                          <p:val>
                                            <p:strVal val="#ppt_x"/>
                                          </p:val>
                                        </p:tav>
                                      </p:tavLst>
                                    </p:anim>
                                    <p:anim calcmode="lin" valueType="num">
                                      <p:cBhvr>
                                        <p:cTn id="119" dur="500" decel="100000" fill="hold"/>
                                        <p:tgtEl>
                                          <p:spTgt spid="30"/>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500"/>
                                        <p:tgtEl>
                                          <p:spTgt spid="31"/>
                                        </p:tgtEl>
                                      </p:cBhvr>
                                    </p:animEffect>
                                    <p:anim calcmode="lin" valueType="num">
                                      <p:cBhvr>
                                        <p:cTn id="123" dur="500" fill="hold"/>
                                        <p:tgtEl>
                                          <p:spTgt spid="31"/>
                                        </p:tgtEl>
                                        <p:attrNameLst>
                                          <p:attrName>ppt_x</p:attrName>
                                        </p:attrNameLst>
                                      </p:cBhvr>
                                      <p:tavLst>
                                        <p:tav tm="0">
                                          <p:val>
                                            <p:strVal val="#ppt_x"/>
                                          </p:val>
                                        </p:tav>
                                        <p:tav tm="100000">
                                          <p:val>
                                            <p:strVal val="#ppt_x"/>
                                          </p:val>
                                        </p:tav>
                                      </p:tavLst>
                                    </p:anim>
                                    <p:anim calcmode="lin" valueType="num">
                                      <p:cBhvr>
                                        <p:cTn id="124" dur="500" decel="100000" fill="hold"/>
                                        <p:tgtEl>
                                          <p:spTgt spid="31"/>
                                        </p:tgtEl>
                                        <p:attrNameLst>
                                          <p:attrName>ppt_y</p:attrName>
                                        </p:attrNameLst>
                                      </p:cBhvr>
                                      <p:tavLst>
                                        <p:tav tm="0">
                                          <p:val>
                                            <p:strVal val="#ppt_y+.06"/>
                                          </p:val>
                                        </p:tav>
                                        <p:tav tm="100000">
                                          <p:val>
                                            <p:strVal val="#ppt_y"/>
                                          </p:val>
                                        </p:tav>
                                      </p:tavLst>
                                    </p:anim>
                                  </p:childTnLst>
                                </p:cTn>
                              </p:par>
                            </p:childTnLst>
                          </p:cTn>
                        </p:par>
                      </p:childTnLst>
                    </p:cTn>
                  </p:par>
                  <p:par>
                    <p:cTn id="202" fill="hold">
                      <p:stCondLst>
                        <p:cond delay="indefinite"/>
                      </p:stCondLst>
                      <p:childTnLst>
                        <p:par>
                          <p:cTn id="203" fill="hold">
                            <p:stCondLst>
                              <p:cond delay="0"/>
                            </p:stCondLst>
                            <p:childTnLst>
                              <p:par>
                                <p:cTn id="127" presetID="42" presetClass="entr" presetSubtype="0" fill="hold" grpId="0" nodeType="clickEffect">
                                  <p:stCondLst>
                                    <p:cond delay="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p:cTn id="130" dur="500" fill="hold"/>
                                        <p:tgtEl>
                                          <p:spTgt spid="32"/>
                                        </p:tgtEl>
                                        <p:attrNameLst>
                                          <p:attrName>ppt_x</p:attrName>
                                        </p:attrNameLst>
                                      </p:cBhvr>
                                      <p:tavLst>
                                        <p:tav tm="0">
                                          <p:val>
                                            <p:strVal val="#ppt_x"/>
                                          </p:val>
                                        </p:tav>
                                        <p:tav tm="100000">
                                          <p:val>
                                            <p:strVal val="#ppt_x"/>
                                          </p:val>
                                        </p:tav>
                                      </p:tavLst>
                                    </p:anim>
                                    <p:anim calcmode="lin" valueType="num">
                                      <p:cBhvr>
                                        <p:cTn id="131" dur="500" decel="1000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anim calcmode="lin" valueType="num">
                                      <p:cBhvr>
                                        <p:cTn id="135" dur="500" fill="hold"/>
                                        <p:tgtEl>
                                          <p:spTgt spid="33"/>
                                        </p:tgtEl>
                                        <p:attrNameLst>
                                          <p:attrName>ppt_x</p:attrName>
                                        </p:attrNameLst>
                                      </p:cBhvr>
                                      <p:tavLst>
                                        <p:tav tm="0">
                                          <p:val>
                                            <p:strVal val="#ppt_x"/>
                                          </p:val>
                                        </p:tav>
                                        <p:tav tm="100000">
                                          <p:val>
                                            <p:strVal val="#ppt_x"/>
                                          </p:val>
                                        </p:tav>
                                      </p:tavLst>
                                    </p:anim>
                                    <p:anim calcmode="lin" valueType="num">
                                      <p:cBhvr>
                                        <p:cTn id="136" dur="500" decel="1000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anim calcmode="lin" valueType="num">
                                      <p:cBhvr>
                                        <p:cTn id="140" dur="500" fill="hold"/>
                                        <p:tgtEl>
                                          <p:spTgt spid="34"/>
                                        </p:tgtEl>
                                        <p:attrNameLst>
                                          <p:attrName>ppt_x</p:attrName>
                                        </p:attrNameLst>
                                      </p:cBhvr>
                                      <p:tavLst>
                                        <p:tav tm="0">
                                          <p:val>
                                            <p:strVal val="#ppt_x"/>
                                          </p:val>
                                        </p:tav>
                                        <p:tav tm="100000">
                                          <p:val>
                                            <p:strVal val="#ppt_x"/>
                                          </p:val>
                                        </p:tav>
                                      </p:tavLst>
                                    </p:anim>
                                    <p:anim calcmode="lin" valueType="num">
                                      <p:cBhvr>
                                        <p:cTn id="141" dur="500" decel="1000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anim calcmode="lin" valueType="num">
                                      <p:cBhvr>
                                        <p:cTn id="145" dur="500" fill="hold"/>
                                        <p:tgtEl>
                                          <p:spTgt spid="35"/>
                                        </p:tgtEl>
                                        <p:attrNameLst>
                                          <p:attrName>ppt_x</p:attrName>
                                        </p:attrNameLst>
                                      </p:cBhvr>
                                      <p:tavLst>
                                        <p:tav tm="0">
                                          <p:val>
                                            <p:strVal val="#ppt_x"/>
                                          </p:val>
                                        </p:tav>
                                        <p:tav tm="100000">
                                          <p:val>
                                            <p:strVal val="#ppt_x"/>
                                          </p:val>
                                        </p:tav>
                                      </p:tavLst>
                                    </p:anim>
                                    <p:anim calcmode="lin" valueType="num">
                                      <p:cBhvr>
                                        <p:cTn id="146" dur="500" decel="1000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500"/>
                                        <p:tgtEl>
                                          <p:spTgt spid="36"/>
                                        </p:tgtEl>
                                      </p:cBhvr>
                                    </p:animEffect>
                                    <p:anim calcmode="lin" valueType="num">
                                      <p:cBhvr>
                                        <p:cTn id="150" dur="500" fill="hold"/>
                                        <p:tgtEl>
                                          <p:spTgt spid="36"/>
                                        </p:tgtEl>
                                        <p:attrNameLst>
                                          <p:attrName>ppt_x</p:attrName>
                                        </p:attrNameLst>
                                      </p:cBhvr>
                                      <p:tavLst>
                                        <p:tav tm="0">
                                          <p:val>
                                            <p:strVal val="#ppt_x"/>
                                          </p:val>
                                        </p:tav>
                                        <p:tav tm="100000">
                                          <p:val>
                                            <p:strVal val="#ppt_x"/>
                                          </p:val>
                                        </p:tav>
                                      </p:tavLst>
                                    </p:anim>
                                    <p:anim calcmode="lin" valueType="num">
                                      <p:cBhvr>
                                        <p:cTn id="151" dur="500" decel="1000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500"/>
                                        <p:tgtEl>
                                          <p:spTgt spid="37"/>
                                        </p:tgtEl>
                                      </p:cBhvr>
                                    </p:animEffect>
                                    <p:anim calcmode="lin" valueType="num">
                                      <p:cBhvr>
                                        <p:cTn id="155" dur="500" fill="hold"/>
                                        <p:tgtEl>
                                          <p:spTgt spid="37"/>
                                        </p:tgtEl>
                                        <p:attrNameLst>
                                          <p:attrName>ppt_x</p:attrName>
                                        </p:attrNameLst>
                                      </p:cBhvr>
                                      <p:tavLst>
                                        <p:tav tm="0">
                                          <p:val>
                                            <p:strVal val="#ppt_x"/>
                                          </p:val>
                                        </p:tav>
                                        <p:tav tm="100000">
                                          <p:val>
                                            <p:strVal val="#ppt_x"/>
                                          </p:val>
                                        </p:tav>
                                      </p:tavLst>
                                    </p:anim>
                                    <p:anim calcmode="lin" valueType="num">
                                      <p:cBhvr>
                                        <p:cTn id="156" dur="500" decel="1000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500"/>
                                        <p:tgtEl>
                                          <p:spTgt spid="38"/>
                                        </p:tgtEl>
                                      </p:cBhvr>
                                    </p:animEffect>
                                    <p:anim calcmode="lin" valueType="num">
                                      <p:cBhvr>
                                        <p:cTn id="160" dur="500" fill="hold"/>
                                        <p:tgtEl>
                                          <p:spTgt spid="38"/>
                                        </p:tgtEl>
                                        <p:attrNameLst>
                                          <p:attrName>ppt_x</p:attrName>
                                        </p:attrNameLst>
                                      </p:cBhvr>
                                      <p:tavLst>
                                        <p:tav tm="0">
                                          <p:val>
                                            <p:strVal val="#ppt_x"/>
                                          </p:val>
                                        </p:tav>
                                        <p:tav tm="100000">
                                          <p:val>
                                            <p:strVal val="#ppt_x"/>
                                          </p:val>
                                        </p:tav>
                                      </p:tavLst>
                                    </p:anim>
                                    <p:anim calcmode="lin" valueType="num">
                                      <p:cBhvr>
                                        <p:cTn id="161" dur="500" decel="1000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500"/>
                                        <p:tgtEl>
                                          <p:spTgt spid="39"/>
                                        </p:tgtEl>
                                      </p:cBhvr>
                                    </p:animEffect>
                                    <p:anim calcmode="lin" valueType="num">
                                      <p:cBhvr>
                                        <p:cTn id="165" dur="500" fill="hold"/>
                                        <p:tgtEl>
                                          <p:spTgt spid="39"/>
                                        </p:tgtEl>
                                        <p:attrNameLst>
                                          <p:attrName>ppt_x</p:attrName>
                                        </p:attrNameLst>
                                      </p:cBhvr>
                                      <p:tavLst>
                                        <p:tav tm="0">
                                          <p:val>
                                            <p:strVal val="#ppt_x"/>
                                          </p:val>
                                        </p:tav>
                                        <p:tav tm="100000">
                                          <p:val>
                                            <p:strVal val="#ppt_x"/>
                                          </p:val>
                                        </p:tav>
                                      </p:tavLst>
                                    </p:anim>
                                    <p:anim calcmode="lin" valueType="num">
                                      <p:cBhvr>
                                        <p:cTn id="166" dur="500" decel="1000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Effect transition="in" filter="fade">
                                      <p:cBhvr>
                                        <p:cTn id="169" dur="500"/>
                                        <p:tgtEl>
                                          <p:spTgt spid="40"/>
                                        </p:tgtEl>
                                      </p:cBhvr>
                                    </p:animEffect>
                                    <p:anim calcmode="lin" valueType="num">
                                      <p:cBhvr>
                                        <p:cTn id="170" dur="500" fill="hold"/>
                                        <p:tgtEl>
                                          <p:spTgt spid="40"/>
                                        </p:tgtEl>
                                        <p:attrNameLst>
                                          <p:attrName>ppt_x</p:attrName>
                                        </p:attrNameLst>
                                      </p:cBhvr>
                                      <p:tavLst>
                                        <p:tav tm="0">
                                          <p:val>
                                            <p:strVal val="#ppt_x"/>
                                          </p:val>
                                        </p:tav>
                                        <p:tav tm="100000">
                                          <p:val>
                                            <p:strVal val="#ppt_x"/>
                                          </p:val>
                                        </p:tav>
                                      </p:tavLst>
                                    </p:anim>
                                    <p:anim calcmode="lin" valueType="num">
                                      <p:cBhvr>
                                        <p:cTn id="171" dur="500" decel="1000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500"/>
                                        <p:tgtEl>
                                          <p:spTgt spid="41"/>
                                        </p:tgtEl>
                                      </p:cBhvr>
                                    </p:animEffect>
                                    <p:anim calcmode="lin" valueType="num">
                                      <p:cBhvr>
                                        <p:cTn id="175" dur="500" fill="hold"/>
                                        <p:tgtEl>
                                          <p:spTgt spid="41"/>
                                        </p:tgtEl>
                                        <p:attrNameLst>
                                          <p:attrName>ppt_x</p:attrName>
                                        </p:attrNameLst>
                                      </p:cBhvr>
                                      <p:tavLst>
                                        <p:tav tm="0">
                                          <p:val>
                                            <p:strVal val="#ppt_x"/>
                                          </p:val>
                                        </p:tav>
                                        <p:tav tm="100000">
                                          <p:val>
                                            <p:strVal val="#ppt_x"/>
                                          </p:val>
                                        </p:tav>
                                      </p:tavLst>
                                    </p:anim>
                                    <p:anim calcmode="lin" valueType="num">
                                      <p:cBhvr>
                                        <p:cTn id="176" dur="500" decel="1000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79" dur="500"/>
                                        <p:tgtEl>
                                          <p:spTgt spid="42"/>
                                        </p:tgtEl>
                                      </p:cBhvr>
                                    </p:animEffect>
                                    <p:anim calcmode="lin" valueType="num">
                                      <p:cBhvr>
                                        <p:cTn id="180" dur="500" fill="hold"/>
                                        <p:tgtEl>
                                          <p:spTgt spid="42"/>
                                        </p:tgtEl>
                                        <p:attrNameLst>
                                          <p:attrName>ppt_x</p:attrName>
                                        </p:attrNameLst>
                                      </p:cBhvr>
                                      <p:tavLst>
                                        <p:tav tm="0">
                                          <p:val>
                                            <p:strVal val="#ppt_x"/>
                                          </p:val>
                                        </p:tav>
                                        <p:tav tm="100000">
                                          <p:val>
                                            <p:strVal val="#ppt_x"/>
                                          </p:val>
                                        </p:tav>
                                      </p:tavLst>
                                    </p:anim>
                                    <p:anim calcmode="lin" valueType="num">
                                      <p:cBhvr>
                                        <p:cTn id="181" dur="500" decel="100000" fill="hold"/>
                                        <p:tgtEl>
                                          <p:spTgt spid="42"/>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4" dur="500"/>
                                        <p:tgtEl>
                                          <p:spTgt spid="43"/>
                                        </p:tgtEl>
                                      </p:cBhvr>
                                    </p:animEffect>
                                    <p:anim calcmode="lin" valueType="num">
                                      <p:cBhvr>
                                        <p:cTn id="185" dur="500" fill="hold"/>
                                        <p:tgtEl>
                                          <p:spTgt spid="43"/>
                                        </p:tgtEl>
                                        <p:attrNameLst>
                                          <p:attrName>ppt_x</p:attrName>
                                        </p:attrNameLst>
                                      </p:cBhvr>
                                      <p:tavLst>
                                        <p:tav tm="0">
                                          <p:val>
                                            <p:strVal val="#ppt_x"/>
                                          </p:val>
                                        </p:tav>
                                        <p:tav tm="100000">
                                          <p:val>
                                            <p:strVal val="#ppt_x"/>
                                          </p:val>
                                        </p:tav>
                                      </p:tavLst>
                                    </p:anim>
                                    <p:anim calcmode="lin" valueType="num">
                                      <p:cBhvr>
                                        <p:cTn id="186" dur="500" decel="100000" fill="hold"/>
                                        <p:tgtEl>
                                          <p:spTgt spid="43"/>
                                        </p:tgtEl>
                                        <p:attrNameLst>
                                          <p:attrName>ppt_y</p:attrName>
                                        </p:attrNameLst>
                                      </p:cBhvr>
                                      <p:tavLst>
                                        <p:tav tm="0">
                                          <p:val>
                                            <p:strVal val="#ppt_y+.06"/>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44"/>
                                        </p:tgtEl>
                                        <p:attrNameLst>
                                          <p:attrName>style.visibility</p:attrName>
                                        </p:attrNameLst>
                                      </p:cBhvr>
                                      <p:to>
                                        <p:strVal val="visible"/>
                                      </p:to>
                                    </p:set>
                                    <p:animEffect transition="in" filter="fade">
                                      <p:cBhvr>
                                        <p:cTn id="189" dur="500"/>
                                        <p:tgtEl>
                                          <p:spTgt spid="44"/>
                                        </p:tgtEl>
                                      </p:cBhvr>
                                    </p:animEffect>
                                    <p:anim calcmode="lin" valueType="num">
                                      <p:cBhvr>
                                        <p:cTn id="190" dur="500" fill="hold"/>
                                        <p:tgtEl>
                                          <p:spTgt spid="44"/>
                                        </p:tgtEl>
                                        <p:attrNameLst>
                                          <p:attrName>ppt_x</p:attrName>
                                        </p:attrNameLst>
                                      </p:cBhvr>
                                      <p:tavLst>
                                        <p:tav tm="0">
                                          <p:val>
                                            <p:strVal val="#ppt_x"/>
                                          </p:val>
                                        </p:tav>
                                        <p:tav tm="100000">
                                          <p:val>
                                            <p:strVal val="#ppt_x"/>
                                          </p:val>
                                        </p:tav>
                                      </p:tavLst>
                                    </p:anim>
                                    <p:anim calcmode="lin" valueType="num">
                                      <p:cBhvr>
                                        <p:cTn id="191" dur="500" decel="100000" fill="hold"/>
                                        <p:tgtEl>
                                          <p:spTgt spid="44"/>
                                        </p:tgtEl>
                                        <p:attrNameLst>
                                          <p:attrName>ppt_y</p:attrName>
                                        </p:attrNameLst>
                                      </p:cBhvr>
                                      <p:tavLst>
                                        <p:tav tm="0">
                                          <p:val>
                                            <p:strVal val="#ppt_y+.06"/>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5"/>
                                        </p:tgtEl>
                                        <p:attrNameLst>
                                          <p:attrName>style.visibility</p:attrName>
                                        </p:attrNameLst>
                                      </p:cBhvr>
                                      <p:to>
                                        <p:strVal val="visible"/>
                                      </p:to>
                                    </p:set>
                                    <p:animEffect transition="in" filter="fade">
                                      <p:cBhvr>
                                        <p:cTn id="194" dur="500"/>
                                        <p:tgtEl>
                                          <p:spTgt spid="45"/>
                                        </p:tgtEl>
                                      </p:cBhvr>
                                    </p:animEffect>
                                    <p:anim calcmode="lin" valueType="num">
                                      <p:cBhvr>
                                        <p:cTn id="195" dur="500" fill="hold"/>
                                        <p:tgtEl>
                                          <p:spTgt spid="45"/>
                                        </p:tgtEl>
                                        <p:attrNameLst>
                                          <p:attrName>ppt_x</p:attrName>
                                        </p:attrNameLst>
                                      </p:cBhvr>
                                      <p:tavLst>
                                        <p:tav tm="0">
                                          <p:val>
                                            <p:strVal val="#ppt_x"/>
                                          </p:val>
                                        </p:tav>
                                        <p:tav tm="100000">
                                          <p:val>
                                            <p:strVal val="#ppt_x"/>
                                          </p:val>
                                        </p:tav>
                                      </p:tavLst>
                                    </p:anim>
                                    <p:anim calcmode="lin" valueType="num">
                                      <p:cBhvr>
                                        <p:cTn id="196" dur="500" decel="100000" fill="hold"/>
                                        <p:tgtEl>
                                          <p:spTgt spid="45"/>
                                        </p:tgtEl>
                                        <p:attrNameLst>
                                          <p:attrName>ppt_y</p:attrName>
                                        </p:attrNameLst>
                                      </p:cBhvr>
                                      <p:tavLst>
                                        <p:tav tm="0">
                                          <p:val>
                                            <p:strVal val="#ppt_y+.06"/>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6"/>
                                        </p:tgtEl>
                                        <p:attrNameLst>
                                          <p:attrName>style.visibility</p:attrName>
                                        </p:attrNameLst>
                                      </p:cBhvr>
                                      <p:to>
                                        <p:strVal val="visible"/>
                                      </p:to>
                                    </p:set>
                                    <p:animEffect transition="in" filter="fade">
                                      <p:cBhvr>
                                        <p:cTn id="199" dur="500"/>
                                        <p:tgtEl>
                                          <p:spTgt spid="46"/>
                                        </p:tgtEl>
                                      </p:cBhvr>
                                    </p:animEffect>
                                    <p:anim calcmode="lin" valueType="num">
                                      <p:cBhvr>
                                        <p:cTn id="200" dur="500" fill="hold"/>
                                        <p:tgtEl>
                                          <p:spTgt spid="46"/>
                                        </p:tgtEl>
                                        <p:attrNameLst>
                                          <p:attrName>ppt_x</p:attrName>
                                        </p:attrNameLst>
                                      </p:cBhvr>
                                      <p:tavLst>
                                        <p:tav tm="0">
                                          <p:val>
                                            <p:strVal val="#ppt_x"/>
                                          </p:val>
                                        </p:tav>
                                        <p:tav tm="100000">
                                          <p:val>
                                            <p:strVal val="#ppt_x"/>
                                          </p:val>
                                        </p:tav>
                                      </p:tavLst>
                                    </p:anim>
                                    <p:anim calcmode="lin" valueType="num">
                                      <p:cBhvr>
                                        <p:cTn id="201" dur="500" decel="100000" fill="hold"/>
                                        <p:tgtEl>
                                          <p:spTgt spid="46"/>
                                        </p:tgtEl>
                                        <p:attrNameLst>
                                          <p:attrName>ppt_y</p:attrName>
                                        </p:attrNameLst>
                                      </p:cBhvr>
                                      <p:tavLst>
                                        <p:tav tm="0">
                                          <p:val>
                                            <p:strVal val="#ppt_y+.06"/>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04" presetID="42" presetClass="entr" presetSubtype="0" fill="hold" grpId="0" nodeType="clickEffect">
                                  <p:stCondLst>
                                    <p:cond delay="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00"/>
                                        <p:tgtEl>
                                          <p:spTgt spid="47"/>
                                        </p:tgtEl>
                                      </p:cBhvr>
                                    </p:animEffect>
                                    <p:anim calcmode="lin" valueType="num">
                                      <p:cBhvr>
                                        <p:cTn id="207" dur="500" fill="hold"/>
                                        <p:tgtEl>
                                          <p:spTgt spid="47"/>
                                        </p:tgtEl>
                                        <p:attrNameLst>
                                          <p:attrName>ppt_x</p:attrName>
                                        </p:attrNameLst>
                                      </p:cBhvr>
                                      <p:tavLst>
                                        <p:tav tm="0">
                                          <p:val>
                                            <p:strVal val="#ppt_x"/>
                                          </p:val>
                                        </p:tav>
                                        <p:tav tm="100000">
                                          <p:val>
                                            <p:strVal val="#ppt_x"/>
                                          </p:val>
                                        </p:tav>
                                      </p:tavLst>
                                    </p:anim>
                                    <p:anim calcmode="lin" valueType="num">
                                      <p:cBhvr>
                                        <p:cTn id="208" dur="500" decel="100000" fill="hold"/>
                                        <p:tgtEl>
                                          <p:spTgt spid="47"/>
                                        </p:tgtEl>
                                        <p:attrNameLst>
                                          <p:attrName>ppt_y</p:attrName>
                                        </p:attrNameLst>
                                      </p:cBhvr>
                                      <p:tavLst>
                                        <p:tav tm="0">
                                          <p:val>
                                            <p:strVal val="#ppt_y+.06"/>
                                          </p:val>
                                        </p:tav>
                                        <p:tav tm="100000">
                                          <p:val>
                                            <p:strVal val="#ppt_y"/>
                                          </p:val>
                                        </p:tav>
                                      </p:tavLst>
                                    </p:anim>
                                  </p:childTnLst>
                                </p:cTn>
                              </p:par>
                              <p:par>
                                <p:cTn id="209" presetID="42" presetClass="entr" presetSubtype="0" fill="hold" grpId="0" nodeType="withEffect">
                                  <p:stCondLst>
                                    <p:cond delay="0"/>
                                  </p:stCondLst>
                                  <p:childTnLst>
                                    <p:set>
                                      <p:cBhvr>
                                        <p:cTn id="210" dur="1" fill="hold">
                                          <p:stCondLst>
                                            <p:cond delay="0"/>
                                          </p:stCondLst>
                                        </p:cTn>
                                        <p:tgtEl>
                                          <p:spTgt spid="48"/>
                                        </p:tgtEl>
                                        <p:attrNameLst>
                                          <p:attrName>style.visibility</p:attrName>
                                        </p:attrNameLst>
                                      </p:cBhvr>
                                      <p:to>
                                        <p:strVal val="visible"/>
                                      </p:to>
                                    </p:set>
                                    <p:animEffect transition="in" filter="fade">
                                      <p:cBhvr>
                                        <p:cTn id="211" dur="500"/>
                                        <p:tgtEl>
                                          <p:spTgt spid="48"/>
                                        </p:tgtEl>
                                      </p:cBhvr>
                                    </p:animEffect>
                                    <p:anim calcmode="lin" valueType="num">
                                      <p:cBhvr>
                                        <p:cTn id="212" dur="500" fill="hold"/>
                                        <p:tgtEl>
                                          <p:spTgt spid="48"/>
                                        </p:tgtEl>
                                        <p:attrNameLst>
                                          <p:attrName>ppt_x</p:attrName>
                                        </p:attrNameLst>
                                      </p:cBhvr>
                                      <p:tavLst>
                                        <p:tav tm="0">
                                          <p:val>
                                            <p:strVal val="#ppt_x"/>
                                          </p:val>
                                        </p:tav>
                                        <p:tav tm="100000">
                                          <p:val>
                                            <p:strVal val="#ppt_x"/>
                                          </p:val>
                                        </p:tav>
                                      </p:tavLst>
                                    </p:anim>
                                    <p:anim calcmode="lin" valueType="num">
                                      <p:cBhvr>
                                        <p:cTn id="213" dur="500" decel="100000" fill="hold"/>
                                        <p:tgtEl>
                                          <p:spTgt spid="48"/>
                                        </p:tgtEl>
                                        <p:attrNameLst>
                                          <p:attrName>ppt_y</p:attrName>
                                        </p:attrNameLst>
                                      </p:cBhvr>
                                      <p:tavLst>
                                        <p:tav tm="0">
                                          <p:val>
                                            <p:strVal val="#ppt_y+.06"/>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49"/>
                                        </p:tgtEl>
                                        <p:attrNameLst>
                                          <p:attrName>style.visibility</p:attrName>
                                        </p:attrNameLst>
                                      </p:cBhvr>
                                      <p:to>
                                        <p:strVal val="visible"/>
                                      </p:to>
                                    </p:set>
                                    <p:animEffect transition="in" filter="fade">
                                      <p:cBhvr>
                                        <p:cTn id="216" dur="500"/>
                                        <p:tgtEl>
                                          <p:spTgt spid="49"/>
                                        </p:tgtEl>
                                      </p:cBhvr>
                                    </p:animEffect>
                                    <p:anim calcmode="lin" valueType="num">
                                      <p:cBhvr>
                                        <p:cTn id="217" dur="500" fill="hold"/>
                                        <p:tgtEl>
                                          <p:spTgt spid="49"/>
                                        </p:tgtEl>
                                        <p:attrNameLst>
                                          <p:attrName>ppt_x</p:attrName>
                                        </p:attrNameLst>
                                      </p:cBhvr>
                                      <p:tavLst>
                                        <p:tav tm="0">
                                          <p:val>
                                            <p:strVal val="#ppt_x"/>
                                          </p:val>
                                        </p:tav>
                                        <p:tav tm="100000">
                                          <p:val>
                                            <p:strVal val="#ppt_x"/>
                                          </p:val>
                                        </p:tav>
                                      </p:tavLst>
                                    </p:anim>
                                    <p:anim calcmode="lin" valueType="num">
                                      <p:cBhvr>
                                        <p:cTn id="218" dur="500" decel="100000" fill="hold"/>
                                        <p:tgtEl>
                                          <p:spTgt spid="49"/>
                                        </p:tgtEl>
                                        <p:attrNameLst>
                                          <p:attrName>ppt_y</p:attrName>
                                        </p:attrNameLst>
                                      </p:cBhvr>
                                      <p:tavLst>
                                        <p:tav tm="0">
                                          <p:val>
                                            <p:strVal val="#ppt_y+.06"/>
                                          </p:val>
                                        </p:tav>
                                        <p:tav tm="100000">
                                          <p:val>
                                            <p:strVal val="#ppt_y"/>
                                          </p:val>
                                        </p:tav>
                                      </p:tavLst>
                                    </p:anim>
                                  </p:childTnLst>
                                </p:cTn>
                              </p:par>
                              <p:par>
                                <p:cTn id="219" presetID="42" presetClass="entr" presetSubtype="0" fill="hold" grpId="0" nodeType="withEffect">
                                  <p:stCondLst>
                                    <p:cond delay="0"/>
                                  </p:stCondLst>
                                  <p:childTnLst>
                                    <p:set>
                                      <p:cBhvr>
                                        <p:cTn id="220" dur="1" fill="hold">
                                          <p:stCondLst>
                                            <p:cond delay="0"/>
                                          </p:stCondLst>
                                        </p:cTn>
                                        <p:tgtEl>
                                          <p:spTgt spid="50"/>
                                        </p:tgtEl>
                                        <p:attrNameLst>
                                          <p:attrName>style.visibility</p:attrName>
                                        </p:attrNameLst>
                                      </p:cBhvr>
                                      <p:to>
                                        <p:strVal val="visible"/>
                                      </p:to>
                                    </p:set>
                                    <p:animEffect transition="in" filter="fade">
                                      <p:cBhvr>
                                        <p:cTn id="221" dur="500"/>
                                        <p:tgtEl>
                                          <p:spTgt spid="50"/>
                                        </p:tgtEl>
                                      </p:cBhvr>
                                    </p:animEffect>
                                    <p:anim calcmode="lin" valueType="num">
                                      <p:cBhvr>
                                        <p:cTn id="222" dur="500" fill="hold"/>
                                        <p:tgtEl>
                                          <p:spTgt spid="50"/>
                                        </p:tgtEl>
                                        <p:attrNameLst>
                                          <p:attrName>ppt_x</p:attrName>
                                        </p:attrNameLst>
                                      </p:cBhvr>
                                      <p:tavLst>
                                        <p:tav tm="0">
                                          <p:val>
                                            <p:strVal val="#ppt_x"/>
                                          </p:val>
                                        </p:tav>
                                        <p:tav tm="100000">
                                          <p:val>
                                            <p:strVal val="#ppt_x"/>
                                          </p:val>
                                        </p:tav>
                                      </p:tavLst>
                                    </p:anim>
                                    <p:anim calcmode="lin" valueType="num">
                                      <p:cBhvr>
                                        <p:cTn id="223" dur="500" decel="100000" fill="hold"/>
                                        <p:tgtEl>
                                          <p:spTgt spid="50"/>
                                        </p:tgtEl>
                                        <p:attrNameLst>
                                          <p:attrName>ppt_y</p:attrName>
                                        </p:attrNameLst>
                                      </p:cBhvr>
                                      <p:tavLst>
                                        <p:tav tm="0">
                                          <p:val>
                                            <p:strVal val="#ppt_y+.06"/>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51"/>
                                        </p:tgtEl>
                                        <p:attrNameLst>
                                          <p:attrName>style.visibility</p:attrName>
                                        </p:attrNameLst>
                                      </p:cBhvr>
                                      <p:to>
                                        <p:strVal val="visible"/>
                                      </p:to>
                                    </p:set>
                                    <p:animEffect transition="in" filter="fade">
                                      <p:cBhvr>
                                        <p:cTn id="226" dur="500"/>
                                        <p:tgtEl>
                                          <p:spTgt spid="51"/>
                                        </p:tgtEl>
                                      </p:cBhvr>
                                    </p:animEffect>
                                    <p:anim calcmode="lin" valueType="num">
                                      <p:cBhvr>
                                        <p:cTn id="227" dur="500" fill="hold"/>
                                        <p:tgtEl>
                                          <p:spTgt spid="51"/>
                                        </p:tgtEl>
                                        <p:attrNameLst>
                                          <p:attrName>ppt_x</p:attrName>
                                        </p:attrNameLst>
                                      </p:cBhvr>
                                      <p:tavLst>
                                        <p:tav tm="0">
                                          <p:val>
                                            <p:strVal val="#ppt_x"/>
                                          </p:val>
                                        </p:tav>
                                        <p:tav tm="100000">
                                          <p:val>
                                            <p:strVal val="#ppt_x"/>
                                          </p:val>
                                        </p:tav>
                                      </p:tavLst>
                                    </p:anim>
                                    <p:anim calcmode="lin" valueType="num">
                                      <p:cBhvr>
                                        <p:cTn id="228" dur="500" decel="100000" fill="hold"/>
                                        <p:tgtEl>
                                          <p:spTgt spid="5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7" grpId="0" animBg="1"/>
      <p:bldP spid="39" grpId="0" animBg="1"/>
      <p:bldP spid="40" grpId="0" animBg="1"/>
      <p:bldP spid="41" grpId="0" animBg="1"/>
      <p:bldP spid="42" grpId="0" animBg="1"/>
      <p:bldP spid="44" grpId="0" animBg="1"/>
      <p:bldP spid="45" grpId="0" animBg="1"/>
      <p:bldP spid="46" grpId="0" animBg="1"/>
      <p:bldP spid="47" grpId="0" animBg="1"/>
      <p:bldP spid="49" grpId="0" animBg="1"/>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09</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A 70-YEAR OVERNIGHT SUCCESS</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How we got here</a:t>
            </a:r>
            <a:endParaRPr lang="en-US" sz="3400" dirty="0"/>
          </a:p>
        </p:txBody>
      </p:sp>
      <p:sp>
        <p:nvSpPr>
          <p:cNvPr id="8" name="Shape 6"/>
          <p:cNvSpPr/>
          <p:nvPr/>
        </p:nvSpPr>
        <p:spPr>
          <a:xfrm>
            <a:off x="731520" y="3657600"/>
            <a:ext cx="10698480" cy="0"/>
          </a:xfrm>
          <a:prstGeom prst="line">
            <a:avLst/>
          </a:prstGeom>
          <a:noFill/>
          <a:ln w="38100">
            <a:solidFill>
              <a:srgbClr val="3A2F6B"/>
            </a:solidFill>
            <a:prstDash val="solid"/>
          </a:ln>
        </p:spPr>
      </p:sp>
      <p:sp>
        <p:nvSpPr>
          <p:cNvPr id="9" name="a3_era"/>
          <p:cNvSpPr/>
          <p:nvPr/>
        </p:nvSpPr>
        <p:spPr>
          <a:xfrm>
            <a:off x="7269480" y="3529584"/>
            <a:ext cx="4069080" cy="256032"/>
          </a:xfrm>
          <a:prstGeom prst="roundRect">
            <a:avLst>
              <a:gd name="adj" fmla="val 50000"/>
            </a:avLst>
          </a:prstGeom>
          <a:solidFill>
            <a:srgbClr val="2EE6A6">
              <a:alpha val="25000"/>
            </a:srgbClr>
          </a:solidFill>
          <a:ln/>
        </p:spPr>
      </p:sp>
      <p:sp>
        <p:nvSpPr>
          <p:cNvPr id="10" name="a1_k0"/>
          <p:cNvSpPr/>
          <p:nvPr/>
        </p:nvSpPr>
        <p:spPr>
          <a:xfrm>
            <a:off x="1188720" y="3154680"/>
            <a:ext cx="0" cy="411480"/>
          </a:xfrm>
          <a:prstGeom prst="line">
            <a:avLst/>
          </a:prstGeom>
          <a:noFill/>
          <a:ln w="15875">
            <a:solidFill>
              <a:srgbClr val="7C4DFF"/>
            </a:solidFill>
            <a:prstDash val="solid"/>
          </a:ln>
        </p:spPr>
      </p:sp>
      <p:sp>
        <p:nvSpPr>
          <p:cNvPr id="11" name="a1_p0"/>
          <p:cNvSpPr/>
          <p:nvPr/>
        </p:nvSpPr>
        <p:spPr>
          <a:xfrm>
            <a:off x="1078992" y="3547872"/>
            <a:ext cx="219456" cy="219456"/>
          </a:xfrm>
          <a:prstGeom prst="ellipse">
            <a:avLst/>
          </a:prstGeom>
          <a:solidFill>
            <a:srgbClr val="7C4DFF"/>
          </a:solidFill>
          <a:ln w="19050">
            <a:solidFill>
              <a:srgbClr val="0D0A1A"/>
            </a:solidFill>
            <a:prstDash val="solid"/>
          </a:ln>
        </p:spPr>
      </p:sp>
      <p:sp>
        <p:nvSpPr>
          <p:cNvPr id="12" name="a1_d0"/>
          <p:cNvSpPr txBox="1"/>
          <p:nvPr/>
        </p:nvSpPr>
        <p:spPr>
          <a:xfrm>
            <a:off x="347472"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Turing asks “Can machines think?”</a:t>
            </a:r>
            <a:endParaRPr lang="en-US" sz="1150" dirty="0"/>
          </a:p>
        </p:txBody>
      </p:sp>
      <p:sp>
        <p:nvSpPr>
          <p:cNvPr id="13" name="a1_y0"/>
          <p:cNvSpPr txBox="1"/>
          <p:nvPr/>
        </p:nvSpPr>
        <p:spPr>
          <a:xfrm>
            <a:off x="347472" y="2761488"/>
            <a:ext cx="1682496" cy="347472"/>
          </a:xfrm>
          <a:prstGeom prst="rect">
            <a:avLst/>
          </a:prstGeom>
          <a:noFill/>
          <a:ln/>
        </p:spPr>
        <p:txBody>
          <a:bodyPr wrap="square" lIns="0" tIns="0" rIns="0" bIns="0" rtlCol="0" anchor="ctr"/>
          <a:lstStyle/>
          <a:p>
            <a:pPr algn="ctr" indent="0" marL="0">
              <a:buNone/>
            </a:pPr>
            <a:r>
              <a:rPr lang="en-US" sz="1500" b="1" dirty="0">
                <a:solidFill>
                  <a:srgbClr val="7C4DFF"/>
                </a:solidFill>
                <a:latin typeface="Arial" pitchFamily="34" charset="0"/>
                <a:ea typeface="Arial" pitchFamily="34" charset="-122"/>
                <a:cs typeface="Arial" pitchFamily="34" charset="-120"/>
              </a:rPr>
              <a:t>1950</a:t>
            </a:r>
            <a:endParaRPr lang="en-US" sz="1500" dirty="0"/>
          </a:p>
        </p:txBody>
      </p:sp>
      <p:sp>
        <p:nvSpPr>
          <p:cNvPr id="14" name="a1_k1"/>
          <p:cNvSpPr/>
          <p:nvPr/>
        </p:nvSpPr>
        <p:spPr>
          <a:xfrm>
            <a:off x="2089404" y="3749040"/>
            <a:ext cx="0" cy="411480"/>
          </a:xfrm>
          <a:prstGeom prst="line">
            <a:avLst/>
          </a:prstGeom>
          <a:noFill/>
          <a:ln w="15875">
            <a:solidFill>
              <a:srgbClr val="7C4DFF"/>
            </a:solidFill>
            <a:prstDash val="solid"/>
          </a:ln>
        </p:spPr>
      </p:sp>
      <p:sp>
        <p:nvSpPr>
          <p:cNvPr id="15" name="a1_p1"/>
          <p:cNvSpPr/>
          <p:nvPr/>
        </p:nvSpPr>
        <p:spPr>
          <a:xfrm>
            <a:off x="1979676" y="3547872"/>
            <a:ext cx="219456" cy="219456"/>
          </a:xfrm>
          <a:prstGeom prst="ellipse">
            <a:avLst/>
          </a:prstGeom>
          <a:solidFill>
            <a:srgbClr val="7C4DFF"/>
          </a:solidFill>
          <a:ln w="19050">
            <a:solidFill>
              <a:srgbClr val="0D0A1A"/>
            </a:solidFill>
            <a:prstDash val="solid"/>
          </a:ln>
        </p:spPr>
      </p:sp>
      <p:sp>
        <p:nvSpPr>
          <p:cNvPr id="16" name="a1_y1"/>
          <p:cNvSpPr txBox="1"/>
          <p:nvPr/>
        </p:nvSpPr>
        <p:spPr>
          <a:xfrm>
            <a:off x="1248156" y="4206240"/>
            <a:ext cx="1682496" cy="347472"/>
          </a:xfrm>
          <a:prstGeom prst="rect">
            <a:avLst/>
          </a:prstGeom>
          <a:noFill/>
          <a:ln/>
        </p:spPr>
        <p:txBody>
          <a:bodyPr wrap="square" lIns="0" tIns="0" rIns="0" bIns="0" rtlCol="0" anchor="ctr"/>
          <a:lstStyle/>
          <a:p>
            <a:pPr algn="ctr" indent="0" marL="0">
              <a:buNone/>
            </a:pPr>
            <a:r>
              <a:rPr lang="en-US" sz="1500" b="1" dirty="0">
                <a:solidFill>
                  <a:srgbClr val="7C4DFF"/>
                </a:solidFill>
                <a:latin typeface="Arial" pitchFamily="34" charset="0"/>
                <a:ea typeface="Arial" pitchFamily="34" charset="-122"/>
                <a:cs typeface="Arial" pitchFamily="34" charset="-120"/>
              </a:rPr>
              <a:t>1956</a:t>
            </a:r>
            <a:endParaRPr lang="en-US" sz="1500" dirty="0"/>
          </a:p>
        </p:txBody>
      </p:sp>
      <p:sp>
        <p:nvSpPr>
          <p:cNvPr id="17" name="a1_d1"/>
          <p:cNvSpPr txBox="1"/>
          <p:nvPr/>
        </p:nvSpPr>
        <p:spPr>
          <a:xfrm>
            <a:off x="1248156"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Dartmouth workshop: the term “AI” is born</a:t>
            </a:r>
            <a:endParaRPr lang="en-US" sz="1150" dirty="0"/>
          </a:p>
        </p:txBody>
      </p:sp>
      <p:sp>
        <p:nvSpPr>
          <p:cNvPr id="18" name="a1_k2"/>
          <p:cNvSpPr/>
          <p:nvPr/>
        </p:nvSpPr>
        <p:spPr>
          <a:xfrm>
            <a:off x="2990088" y="3154680"/>
            <a:ext cx="0" cy="411480"/>
          </a:xfrm>
          <a:prstGeom prst="line">
            <a:avLst/>
          </a:prstGeom>
          <a:noFill/>
          <a:ln w="15875">
            <a:solidFill>
              <a:srgbClr val="7C4DFF"/>
            </a:solidFill>
            <a:prstDash val="solid"/>
          </a:ln>
        </p:spPr>
      </p:sp>
      <p:sp>
        <p:nvSpPr>
          <p:cNvPr id="19" name="a1_p2"/>
          <p:cNvSpPr/>
          <p:nvPr/>
        </p:nvSpPr>
        <p:spPr>
          <a:xfrm>
            <a:off x="2880360" y="3547872"/>
            <a:ext cx="219456" cy="219456"/>
          </a:xfrm>
          <a:prstGeom prst="ellipse">
            <a:avLst/>
          </a:prstGeom>
          <a:solidFill>
            <a:srgbClr val="7C4DFF"/>
          </a:solidFill>
          <a:ln w="19050">
            <a:solidFill>
              <a:srgbClr val="0D0A1A"/>
            </a:solidFill>
            <a:prstDash val="solid"/>
          </a:ln>
        </p:spPr>
      </p:sp>
      <p:sp>
        <p:nvSpPr>
          <p:cNvPr id="20" name="a1_d2"/>
          <p:cNvSpPr txBox="1"/>
          <p:nvPr/>
        </p:nvSpPr>
        <p:spPr>
          <a:xfrm>
            <a:off x="2148840"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ELIZA, the first chatbot</a:t>
            </a:r>
            <a:endParaRPr lang="en-US" sz="1150" dirty="0"/>
          </a:p>
        </p:txBody>
      </p:sp>
      <p:sp>
        <p:nvSpPr>
          <p:cNvPr id="21" name="a1_y2"/>
          <p:cNvSpPr txBox="1"/>
          <p:nvPr/>
        </p:nvSpPr>
        <p:spPr>
          <a:xfrm>
            <a:off x="2148840" y="2761488"/>
            <a:ext cx="1682496" cy="347472"/>
          </a:xfrm>
          <a:prstGeom prst="rect">
            <a:avLst/>
          </a:prstGeom>
          <a:noFill/>
          <a:ln/>
        </p:spPr>
        <p:txBody>
          <a:bodyPr wrap="square" lIns="0" tIns="0" rIns="0" bIns="0" rtlCol="0" anchor="ctr"/>
          <a:lstStyle/>
          <a:p>
            <a:pPr algn="ctr" indent="0" marL="0">
              <a:buNone/>
            </a:pPr>
            <a:r>
              <a:rPr lang="en-US" sz="1500" b="1" dirty="0">
                <a:solidFill>
                  <a:srgbClr val="7C4DFF"/>
                </a:solidFill>
                <a:latin typeface="Arial" pitchFamily="34" charset="0"/>
                <a:ea typeface="Arial" pitchFamily="34" charset="-122"/>
                <a:cs typeface="Arial" pitchFamily="34" charset="-120"/>
              </a:rPr>
              <a:t>1966</a:t>
            </a:r>
            <a:endParaRPr lang="en-US" sz="1500" dirty="0"/>
          </a:p>
        </p:txBody>
      </p:sp>
      <p:sp>
        <p:nvSpPr>
          <p:cNvPr id="22" name="a2_k3"/>
          <p:cNvSpPr/>
          <p:nvPr/>
        </p:nvSpPr>
        <p:spPr>
          <a:xfrm>
            <a:off x="3890772" y="3749040"/>
            <a:ext cx="0" cy="411480"/>
          </a:xfrm>
          <a:prstGeom prst="line">
            <a:avLst/>
          </a:prstGeom>
          <a:noFill/>
          <a:ln w="15875">
            <a:solidFill>
              <a:srgbClr val="4FC3F7"/>
            </a:solidFill>
            <a:prstDash val="solid"/>
          </a:ln>
        </p:spPr>
      </p:sp>
      <p:sp>
        <p:nvSpPr>
          <p:cNvPr id="23" name="a2_p3"/>
          <p:cNvSpPr/>
          <p:nvPr/>
        </p:nvSpPr>
        <p:spPr>
          <a:xfrm>
            <a:off x="3781044" y="3547872"/>
            <a:ext cx="219456" cy="219456"/>
          </a:xfrm>
          <a:prstGeom prst="ellipse">
            <a:avLst/>
          </a:prstGeom>
          <a:solidFill>
            <a:srgbClr val="4FC3F7"/>
          </a:solidFill>
          <a:ln w="19050">
            <a:solidFill>
              <a:srgbClr val="0D0A1A"/>
            </a:solidFill>
            <a:prstDash val="solid"/>
          </a:ln>
        </p:spPr>
      </p:sp>
      <p:sp>
        <p:nvSpPr>
          <p:cNvPr id="24" name="a2_y3"/>
          <p:cNvSpPr txBox="1"/>
          <p:nvPr/>
        </p:nvSpPr>
        <p:spPr>
          <a:xfrm>
            <a:off x="3049524" y="4206240"/>
            <a:ext cx="1682496" cy="347472"/>
          </a:xfrm>
          <a:prstGeom prst="rect">
            <a:avLst/>
          </a:prstGeom>
          <a:noFill/>
          <a:ln/>
        </p:spPr>
        <p:txBody>
          <a:bodyPr wrap="square" lIns="0" tIns="0" rIns="0" bIns="0" rtlCol="0" anchor="ctr"/>
          <a:lstStyle/>
          <a:p>
            <a:pPr algn="ctr" indent="0" marL="0">
              <a:buNone/>
            </a:pPr>
            <a:r>
              <a:rPr lang="en-US" sz="1500" b="1" dirty="0">
                <a:solidFill>
                  <a:srgbClr val="4FC3F7"/>
                </a:solidFill>
                <a:latin typeface="Arial" pitchFamily="34" charset="0"/>
                <a:ea typeface="Arial" pitchFamily="34" charset="-122"/>
                <a:cs typeface="Arial" pitchFamily="34" charset="-120"/>
              </a:rPr>
              <a:t>1974–93</a:t>
            </a:r>
            <a:endParaRPr lang="en-US" sz="1500" dirty="0"/>
          </a:p>
        </p:txBody>
      </p:sp>
      <p:sp>
        <p:nvSpPr>
          <p:cNvPr id="25" name="a2_d3"/>
          <p:cNvSpPr txBox="1"/>
          <p:nvPr/>
        </p:nvSpPr>
        <p:spPr>
          <a:xfrm>
            <a:off x="3049524"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Two AI winters: hype beats results</a:t>
            </a:r>
            <a:endParaRPr lang="en-US" sz="1150" dirty="0"/>
          </a:p>
        </p:txBody>
      </p:sp>
      <p:sp>
        <p:nvSpPr>
          <p:cNvPr id="26" name="a2_k4"/>
          <p:cNvSpPr/>
          <p:nvPr/>
        </p:nvSpPr>
        <p:spPr>
          <a:xfrm>
            <a:off x="4791456" y="3154680"/>
            <a:ext cx="0" cy="411480"/>
          </a:xfrm>
          <a:prstGeom prst="line">
            <a:avLst/>
          </a:prstGeom>
          <a:noFill/>
          <a:ln w="15875">
            <a:solidFill>
              <a:srgbClr val="7C4DFF"/>
            </a:solidFill>
            <a:prstDash val="solid"/>
          </a:ln>
        </p:spPr>
      </p:sp>
      <p:sp>
        <p:nvSpPr>
          <p:cNvPr id="27" name="a2_p4"/>
          <p:cNvSpPr/>
          <p:nvPr/>
        </p:nvSpPr>
        <p:spPr>
          <a:xfrm>
            <a:off x="4681728" y="3547872"/>
            <a:ext cx="219456" cy="219456"/>
          </a:xfrm>
          <a:prstGeom prst="ellipse">
            <a:avLst/>
          </a:prstGeom>
          <a:solidFill>
            <a:srgbClr val="7C4DFF"/>
          </a:solidFill>
          <a:ln w="19050">
            <a:solidFill>
              <a:srgbClr val="0D0A1A"/>
            </a:solidFill>
            <a:prstDash val="solid"/>
          </a:ln>
        </p:spPr>
      </p:sp>
      <p:sp>
        <p:nvSpPr>
          <p:cNvPr id="28" name="a2_d4"/>
          <p:cNvSpPr txBox="1"/>
          <p:nvPr/>
        </p:nvSpPr>
        <p:spPr>
          <a:xfrm>
            <a:off x="3950208"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Deep Blue beats Kasparov at chess</a:t>
            </a:r>
            <a:endParaRPr lang="en-US" sz="1150" dirty="0"/>
          </a:p>
        </p:txBody>
      </p:sp>
      <p:sp>
        <p:nvSpPr>
          <p:cNvPr id="29" name="a2_y4"/>
          <p:cNvSpPr txBox="1"/>
          <p:nvPr/>
        </p:nvSpPr>
        <p:spPr>
          <a:xfrm>
            <a:off x="3950208" y="2761488"/>
            <a:ext cx="1682496" cy="347472"/>
          </a:xfrm>
          <a:prstGeom prst="rect">
            <a:avLst/>
          </a:prstGeom>
          <a:noFill/>
          <a:ln/>
        </p:spPr>
        <p:txBody>
          <a:bodyPr wrap="square" lIns="0" tIns="0" rIns="0" bIns="0" rtlCol="0" anchor="ctr"/>
          <a:lstStyle/>
          <a:p>
            <a:pPr algn="ctr" indent="0" marL="0">
              <a:buNone/>
            </a:pPr>
            <a:r>
              <a:rPr lang="en-US" sz="1500" b="1" dirty="0">
                <a:solidFill>
                  <a:srgbClr val="7C4DFF"/>
                </a:solidFill>
                <a:latin typeface="Arial" pitchFamily="34" charset="0"/>
                <a:ea typeface="Arial" pitchFamily="34" charset="-122"/>
                <a:cs typeface="Arial" pitchFamily="34" charset="-120"/>
              </a:rPr>
              <a:t>1997</a:t>
            </a:r>
            <a:endParaRPr lang="en-US" sz="1500" dirty="0"/>
          </a:p>
        </p:txBody>
      </p:sp>
      <p:sp>
        <p:nvSpPr>
          <p:cNvPr id="30" name="a2_k5"/>
          <p:cNvSpPr/>
          <p:nvPr/>
        </p:nvSpPr>
        <p:spPr>
          <a:xfrm>
            <a:off x="5692140" y="3749040"/>
            <a:ext cx="0" cy="411480"/>
          </a:xfrm>
          <a:prstGeom prst="line">
            <a:avLst/>
          </a:prstGeom>
          <a:noFill/>
          <a:ln w="15875">
            <a:solidFill>
              <a:srgbClr val="FFB547"/>
            </a:solidFill>
            <a:prstDash val="solid"/>
          </a:ln>
        </p:spPr>
      </p:sp>
      <p:sp>
        <p:nvSpPr>
          <p:cNvPr id="31" name="a2_p5"/>
          <p:cNvSpPr/>
          <p:nvPr/>
        </p:nvSpPr>
        <p:spPr>
          <a:xfrm>
            <a:off x="5582412" y="3547872"/>
            <a:ext cx="219456" cy="219456"/>
          </a:xfrm>
          <a:prstGeom prst="ellipse">
            <a:avLst/>
          </a:prstGeom>
          <a:solidFill>
            <a:srgbClr val="FFB547"/>
          </a:solidFill>
          <a:ln w="19050">
            <a:solidFill>
              <a:srgbClr val="0D0A1A"/>
            </a:solidFill>
            <a:prstDash val="solid"/>
          </a:ln>
        </p:spPr>
      </p:sp>
      <p:sp>
        <p:nvSpPr>
          <p:cNvPr id="32" name="a2_y5"/>
          <p:cNvSpPr txBox="1"/>
          <p:nvPr/>
        </p:nvSpPr>
        <p:spPr>
          <a:xfrm>
            <a:off x="4850892" y="4206240"/>
            <a:ext cx="1682496" cy="347472"/>
          </a:xfrm>
          <a:prstGeom prst="rect">
            <a:avLst/>
          </a:prstGeom>
          <a:noFill/>
          <a:ln/>
        </p:spPr>
        <p:txBody>
          <a:bodyPr wrap="square" lIns="0" tIns="0" rIns="0" bIns="0" rtlCol="0" anchor="ctr"/>
          <a:lstStyle/>
          <a:p>
            <a:pPr algn="ctr" indent="0" marL="0">
              <a:buNone/>
            </a:pPr>
            <a:r>
              <a:rPr lang="en-US" sz="1500" b="1" dirty="0">
                <a:solidFill>
                  <a:srgbClr val="FFB547"/>
                </a:solidFill>
                <a:latin typeface="Arial" pitchFamily="34" charset="0"/>
                <a:ea typeface="Arial" pitchFamily="34" charset="-122"/>
                <a:cs typeface="Arial" pitchFamily="34" charset="-120"/>
              </a:rPr>
              <a:t>2012</a:t>
            </a:r>
            <a:endParaRPr lang="en-US" sz="1500" dirty="0"/>
          </a:p>
        </p:txBody>
      </p:sp>
      <p:sp>
        <p:nvSpPr>
          <p:cNvPr id="33" name="a2_d5"/>
          <p:cNvSpPr txBox="1"/>
          <p:nvPr/>
        </p:nvSpPr>
        <p:spPr>
          <a:xfrm>
            <a:off x="4850892"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AlexNet: deep learning + GPUs take off</a:t>
            </a:r>
            <a:endParaRPr lang="en-US" sz="1150" dirty="0"/>
          </a:p>
        </p:txBody>
      </p:sp>
      <p:sp>
        <p:nvSpPr>
          <p:cNvPr id="34" name="a3_k6"/>
          <p:cNvSpPr/>
          <p:nvPr/>
        </p:nvSpPr>
        <p:spPr>
          <a:xfrm>
            <a:off x="6592824" y="3154680"/>
            <a:ext cx="0" cy="411480"/>
          </a:xfrm>
          <a:prstGeom prst="line">
            <a:avLst/>
          </a:prstGeom>
          <a:noFill/>
          <a:ln w="15875">
            <a:solidFill>
              <a:srgbClr val="FFB547"/>
            </a:solidFill>
            <a:prstDash val="solid"/>
          </a:ln>
        </p:spPr>
      </p:sp>
      <p:sp>
        <p:nvSpPr>
          <p:cNvPr id="35" name="a3_p6"/>
          <p:cNvSpPr/>
          <p:nvPr/>
        </p:nvSpPr>
        <p:spPr>
          <a:xfrm>
            <a:off x="6483096" y="3547872"/>
            <a:ext cx="219456" cy="219456"/>
          </a:xfrm>
          <a:prstGeom prst="ellipse">
            <a:avLst/>
          </a:prstGeom>
          <a:solidFill>
            <a:srgbClr val="FFB547"/>
          </a:solidFill>
          <a:ln w="19050">
            <a:solidFill>
              <a:srgbClr val="0D0A1A"/>
            </a:solidFill>
            <a:prstDash val="solid"/>
          </a:ln>
        </p:spPr>
      </p:sp>
      <p:sp>
        <p:nvSpPr>
          <p:cNvPr id="36" name="a3_d6"/>
          <p:cNvSpPr txBox="1"/>
          <p:nvPr/>
        </p:nvSpPr>
        <p:spPr>
          <a:xfrm>
            <a:off x="5751576"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AlphaGo beats Lee Sedol at Go</a:t>
            </a:r>
            <a:endParaRPr lang="en-US" sz="1150" dirty="0"/>
          </a:p>
        </p:txBody>
      </p:sp>
      <p:sp>
        <p:nvSpPr>
          <p:cNvPr id="37" name="a3_y6"/>
          <p:cNvSpPr txBox="1"/>
          <p:nvPr/>
        </p:nvSpPr>
        <p:spPr>
          <a:xfrm>
            <a:off x="5751576" y="2761488"/>
            <a:ext cx="1682496" cy="347472"/>
          </a:xfrm>
          <a:prstGeom prst="rect">
            <a:avLst/>
          </a:prstGeom>
          <a:noFill/>
          <a:ln/>
        </p:spPr>
        <p:txBody>
          <a:bodyPr wrap="square" lIns="0" tIns="0" rIns="0" bIns="0" rtlCol="0" anchor="ctr"/>
          <a:lstStyle/>
          <a:p>
            <a:pPr algn="ctr" indent="0" marL="0">
              <a:buNone/>
            </a:pPr>
            <a:r>
              <a:rPr lang="en-US" sz="1500" b="1" dirty="0">
                <a:solidFill>
                  <a:srgbClr val="FFB547"/>
                </a:solidFill>
                <a:latin typeface="Arial" pitchFamily="34" charset="0"/>
                <a:ea typeface="Arial" pitchFamily="34" charset="-122"/>
                <a:cs typeface="Arial" pitchFamily="34" charset="-120"/>
              </a:rPr>
              <a:t>2016</a:t>
            </a:r>
            <a:endParaRPr lang="en-US" sz="1500" dirty="0"/>
          </a:p>
        </p:txBody>
      </p:sp>
      <p:sp>
        <p:nvSpPr>
          <p:cNvPr id="38" name="a3_k7"/>
          <p:cNvSpPr/>
          <p:nvPr/>
        </p:nvSpPr>
        <p:spPr>
          <a:xfrm>
            <a:off x="7493508" y="3749040"/>
            <a:ext cx="0" cy="411480"/>
          </a:xfrm>
          <a:prstGeom prst="line">
            <a:avLst/>
          </a:prstGeom>
          <a:noFill/>
          <a:ln w="15875">
            <a:solidFill>
              <a:srgbClr val="2EE6A6"/>
            </a:solidFill>
            <a:prstDash val="solid"/>
          </a:ln>
        </p:spPr>
      </p:sp>
      <p:sp>
        <p:nvSpPr>
          <p:cNvPr id="39" name="a3_p7"/>
          <p:cNvSpPr/>
          <p:nvPr/>
        </p:nvSpPr>
        <p:spPr>
          <a:xfrm>
            <a:off x="7338060" y="3502152"/>
            <a:ext cx="310896" cy="310896"/>
          </a:xfrm>
          <a:prstGeom prst="ellipse">
            <a:avLst/>
          </a:prstGeom>
          <a:solidFill>
            <a:srgbClr val="2EE6A6"/>
          </a:solidFill>
          <a:ln w="19050">
            <a:solidFill>
              <a:srgbClr val="0D0A1A"/>
            </a:solidFill>
            <a:prstDash val="solid"/>
          </a:ln>
        </p:spPr>
      </p:sp>
      <p:sp>
        <p:nvSpPr>
          <p:cNvPr id="40" name="a3_y7"/>
          <p:cNvSpPr txBox="1"/>
          <p:nvPr/>
        </p:nvSpPr>
        <p:spPr>
          <a:xfrm>
            <a:off x="6652260" y="4206240"/>
            <a:ext cx="1682496" cy="347472"/>
          </a:xfrm>
          <a:prstGeom prst="rect">
            <a:avLst/>
          </a:prstGeom>
          <a:noFill/>
          <a:ln/>
        </p:spPr>
        <p:txBody>
          <a:bodyPr wrap="square" lIns="0" tIns="0" rIns="0" bIns="0" rtlCol="0" anchor="ctr"/>
          <a:lstStyle/>
          <a:p>
            <a:pPr algn="ctr" indent="0" marL="0">
              <a:buNone/>
            </a:pPr>
            <a:r>
              <a:rPr lang="en-US" sz="1500" b="1" dirty="0">
                <a:solidFill>
                  <a:srgbClr val="2EE6A6"/>
                </a:solidFill>
                <a:latin typeface="Arial" pitchFamily="34" charset="0"/>
                <a:ea typeface="Arial" pitchFamily="34" charset="-122"/>
                <a:cs typeface="Arial" pitchFamily="34" charset="-120"/>
              </a:rPr>
              <a:t>2017</a:t>
            </a:r>
            <a:endParaRPr lang="en-US" sz="1500" dirty="0"/>
          </a:p>
        </p:txBody>
      </p:sp>
      <p:sp>
        <p:nvSpPr>
          <p:cNvPr id="41" name="a3_d7"/>
          <p:cNvSpPr txBox="1"/>
          <p:nvPr/>
        </p:nvSpPr>
        <p:spPr>
          <a:xfrm>
            <a:off x="6652260"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Transformers: “Attention Is All You Need”</a:t>
            </a:r>
            <a:endParaRPr lang="en-US" sz="1150" dirty="0"/>
          </a:p>
        </p:txBody>
      </p:sp>
      <p:sp>
        <p:nvSpPr>
          <p:cNvPr id="42" name="a3_k8"/>
          <p:cNvSpPr/>
          <p:nvPr/>
        </p:nvSpPr>
        <p:spPr>
          <a:xfrm>
            <a:off x="8394192" y="3154680"/>
            <a:ext cx="0" cy="411480"/>
          </a:xfrm>
          <a:prstGeom prst="line">
            <a:avLst/>
          </a:prstGeom>
          <a:noFill/>
          <a:ln w="15875">
            <a:solidFill>
              <a:srgbClr val="2EE6A6"/>
            </a:solidFill>
            <a:prstDash val="solid"/>
          </a:ln>
        </p:spPr>
      </p:sp>
      <p:sp>
        <p:nvSpPr>
          <p:cNvPr id="43" name="a3_p8"/>
          <p:cNvSpPr/>
          <p:nvPr/>
        </p:nvSpPr>
        <p:spPr>
          <a:xfrm>
            <a:off x="8284464" y="3547872"/>
            <a:ext cx="219456" cy="219456"/>
          </a:xfrm>
          <a:prstGeom prst="ellipse">
            <a:avLst/>
          </a:prstGeom>
          <a:solidFill>
            <a:srgbClr val="2EE6A6"/>
          </a:solidFill>
          <a:ln w="19050">
            <a:solidFill>
              <a:srgbClr val="0D0A1A"/>
            </a:solidFill>
            <a:prstDash val="solid"/>
          </a:ln>
        </p:spPr>
      </p:sp>
      <p:sp>
        <p:nvSpPr>
          <p:cNvPr id="44" name="a3_d8"/>
          <p:cNvSpPr txBox="1"/>
          <p:nvPr/>
        </p:nvSpPr>
        <p:spPr>
          <a:xfrm>
            <a:off x="7552944"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GPT-3: 175 billion parameters</a:t>
            </a:r>
            <a:endParaRPr lang="en-US" sz="1150" dirty="0"/>
          </a:p>
        </p:txBody>
      </p:sp>
      <p:sp>
        <p:nvSpPr>
          <p:cNvPr id="45" name="a3_y8"/>
          <p:cNvSpPr txBox="1"/>
          <p:nvPr/>
        </p:nvSpPr>
        <p:spPr>
          <a:xfrm>
            <a:off x="7552944" y="2761488"/>
            <a:ext cx="1682496" cy="347472"/>
          </a:xfrm>
          <a:prstGeom prst="rect">
            <a:avLst/>
          </a:prstGeom>
          <a:noFill/>
          <a:ln/>
        </p:spPr>
        <p:txBody>
          <a:bodyPr wrap="square" lIns="0" tIns="0" rIns="0" bIns="0" rtlCol="0" anchor="ctr"/>
          <a:lstStyle/>
          <a:p>
            <a:pPr algn="ctr" indent="0" marL="0">
              <a:buNone/>
            </a:pPr>
            <a:r>
              <a:rPr lang="en-US" sz="1500" b="1" dirty="0">
                <a:solidFill>
                  <a:srgbClr val="2EE6A6"/>
                </a:solidFill>
                <a:latin typeface="Arial" pitchFamily="34" charset="0"/>
                <a:ea typeface="Arial" pitchFamily="34" charset="-122"/>
                <a:cs typeface="Arial" pitchFamily="34" charset="-120"/>
              </a:rPr>
              <a:t>2020</a:t>
            </a:r>
            <a:endParaRPr lang="en-US" sz="1500" dirty="0"/>
          </a:p>
        </p:txBody>
      </p:sp>
      <p:sp>
        <p:nvSpPr>
          <p:cNvPr id="46" name="a4_k9"/>
          <p:cNvSpPr/>
          <p:nvPr/>
        </p:nvSpPr>
        <p:spPr>
          <a:xfrm>
            <a:off x="9294876" y="3749040"/>
            <a:ext cx="0" cy="411480"/>
          </a:xfrm>
          <a:prstGeom prst="line">
            <a:avLst/>
          </a:prstGeom>
          <a:noFill/>
          <a:ln w="15875">
            <a:solidFill>
              <a:srgbClr val="2EE6A6"/>
            </a:solidFill>
            <a:prstDash val="solid"/>
          </a:ln>
        </p:spPr>
      </p:sp>
      <p:sp>
        <p:nvSpPr>
          <p:cNvPr id="47" name="a4_p9"/>
          <p:cNvSpPr/>
          <p:nvPr/>
        </p:nvSpPr>
        <p:spPr>
          <a:xfrm>
            <a:off x="9139428" y="3502152"/>
            <a:ext cx="310896" cy="310896"/>
          </a:xfrm>
          <a:prstGeom prst="ellipse">
            <a:avLst/>
          </a:prstGeom>
          <a:solidFill>
            <a:srgbClr val="2EE6A6"/>
          </a:solidFill>
          <a:ln w="19050">
            <a:solidFill>
              <a:srgbClr val="0D0A1A"/>
            </a:solidFill>
            <a:prstDash val="solid"/>
          </a:ln>
        </p:spPr>
      </p:sp>
      <p:sp>
        <p:nvSpPr>
          <p:cNvPr id="48" name="a4_y9"/>
          <p:cNvSpPr txBox="1"/>
          <p:nvPr/>
        </p:nvSpPr>
        <p:spPr>
          <a:xfrm>
            <a:off x="8453628" y="4206240"/>
            <a:ext cx="1682496" cy="347472"/>
          </a:xfrm>
          <a:prstGeom prst="rect">
            <a:avLst/>
          </a:prstGeom>
          <a:noFill/>
          <a:ln/>
        </p:spPr>
        <p:txBody>
          <a:bodyPr wrap="square" lIns="0" tIns="0" rIns="0" bIns="0" rtlCol="0" anchor="ctr"/>
          <a:lstStyle/>
          <a:p>
            <a:pPr algn="ctr" indent="0" marL="0">
              <a:buNone/>
            </a:pPr>
            <a:r>
              <a:rPr lang="en-US" sz="1500" b="1" dirty="0">
                <a:solidFill>
                  <a:srgbClr val="2EE6A6"/>
                </a:solidFill>
                <a:latin typeface="Arial" pitchFamily="34" charset="0"/>
                <a:ea typeface="Arial" pitchFamily="34" charset="-122"/>
                <a:cs typeface="Arial" pitchFamily="34" charset="-120"/>
              </a:rPr>
              <a:t>Nov 2022</a:t>
            </a:r>
            <a:endParaRPr lang="en-US" sz="1500" dirty="0"/>
          </a:p>
        </p:txBody>
      </p:sp>
      <p:sp>
        <p:nvSpPr>
          <p:cNvPr id="49" name="a4_d9"/>
          <p:cNvSpPr txBox="1"/>
          <p:nvPr/>
        </p:nvSpPr>
        <p:spPr>
          <a:xfrm>
            <a:off x="8453628"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ChatGPT: 100M users in ~2 months</a:t>
            </a:r>
            <a:endParaRPr lang="en-US" sz="1150" dirty="0"/>
          </a:p>
        </p:txBody>
      </p:sp>
      <p:sp>
        <p:nvSpPr>
          <p:cNvPr id="50" name="a4_k10"/>
          <p:cNvSpPr/>
          <p:nvPr/>
        </p:nvSpPr>
        <p:spPr>
          <a:xfrm>
            <a:off x="10195560" y="3154680"/>
            <a:ext cx="0" cy="411480"/>
          </a:xfrm>
          <a:prstGeom prst="line">
            <a:avLst/>
          </a:prstGeom>
          <a:noFill/>
          <a:ln w="15875">
            <a:solidFill>
              <a:srgbClr val="2EE6A6"/>
            </a:solidFill>
            <a:prstDash val="solid"/>
          </a:ln>
        </p:spPr>
      </p:sp>
      <p:sp>
        <p:nvSpPr>
          <p:cNvPr id="51" name="a4_p10"/>
          <p:cNvSpPr/>
          <p:nvPr/>
        </p:nvSpPr>
        <p:spPr>
          <a:xfrm>
            <a:off x="10085832" y="3547872"/>
            <a:ext cx="219456" cy="219456"/>
          </a:xfrm>
          <a:prstGeom prst="ellipse">
            <a:avLst/>
          </a:prstGeom>
          <a:solidFill>
            <a:srgbClr val="2EE6A6"/>
          </a:solidFill>
          <a:ln w="19050">
            <a:solidFill>
              <a:srgbClr val="0D0A1A"/>
            </a:solidFill>
            <a:prstDash val="solid"/>
          </a:ln>
        </p:spPr>
      </p:sp>
      <p:sp>
        <p:nvSpPr>
          <p:cNvPr id="52" name="a4_d10"/>
          <p:cNvSpPr txBox="1"/>
          <p:nvPr/>
        </p:nvSpPr>
        <p:spPr>
          <a:xfrm>
            <a:off x="9354312" y="1874520"/>
            <a:ext cx="1682496" cy="868680"/>
          </a:xfrm>
          <a:prstGeom prst="rect">
            <a:avLst/>
          </a:prstGeom>
          <a:noFill/>
          <a:ln/>
        </p:spPr>
        <p:txBody>
          <a:bodyPr wrap="square" lIns="0" tIns="0" rIns="0" bIns="0" rtlCol="0" anchor="b"/>
          <a:lstStyle/>
          <a:p>
            <a:pPr algn="ctr" indent="0" marL="0">
              <a:buNone/>
            </a:pPr>
            <a:r>
              <a:rPr lang="en-US" sz="1150" dirty="0">
                <a:solidFill>
                  <a:srgbClr val="E9E4FF"/>
                </a:solidFill>
                <a:latin typeface="Calibri" pitchFamily="34" charset="0"/>
                <a:ea typeface="Calibri" pitchFamily="34" charset="-122"/>
                <a:cs typeface="Calibri" pitchFamily="34" charset="-120"/>
              </a:rPr>
              <a:t>GPT-4, Claude, Llama, Gemini; multimodal</a:t>
            </a:r>
            <a:endParaRPr lang="en-US" sz="1150" dirty="0"/>
          </a:p>
        </p:txBody>
      </p:sp>
      <p:sp>
        <p:nvSpPr>
          <p:cNvPr id="53" name="a4_y10"/>
          <p:cNvSpPr txBox="1"/>
          <p:nvPr/>
        </p:nvSpPr>
        <p:spPr>
          <a:xfrm>
            <a:off x="9354312" y="2761488"/>
            <a:ext cx="1682496" cy="347472"/>
          </a:xfrm>
          <a:prstGeom prst="rect">
            <a:avLst/>
          </a:prstGeom>
          <a:noFill/>
          <a:ln/>
        </p:spPr>
        <p:txBody>
          <a:bodyPr wrap="square" lIns="0" tIns="0" rIns="0" bIns="0" rtlCol="0" anchor="ctr"/>
          <a:lstStyle/>
          <a:p>
            <a:pPr algn="ctr" indent="0" marL="0">
              <a:buNone/>
            </a:pPr>
            <a:r>
              <a:rPr lang="en-US" sz="1500" b="1" dirty="0">
                <a:solidFill>
                  <a:srgbClr val="2EE6A6"/>
                </a:solidFill>
                <a:latin typeface="Arial" pitchFamily="34" charset="0"/>
                <a:ea typeface="Arial" pitchFamily="34" charset="-122"/>
                <a:cs typeface="Arial" pitchFamily="34" charset="-120"/>
              </a:rPr>
              <a:t>2023–24</a:t>
            </a:r>
            <a:endParaRPr lang="en-US" sz="1500" dirty="0"/>
          </a:p>
        </p:txBody>
      </p:sp>
      <p:sp>
        <p:nvSpPr>
          <p:cNvPr id="54" name="a4_k11"/>
          <p:cNvSpPr/>
          <p:nvPr/>
        </p:nvSpPr>
        <p:spPr>
          <a:xfrm>
            <a:off x="11096244" y="3749040"/>
            <a:ext cx="0" cy="411480"/>
          </a:xfrm>
          <a:prstGeom prst="line">
            <a:avLst/>
          </a:prstGeom>
          <a:noFill/>
          <a:ln w="15875">
            <a:solidFill>
              <a:srgbClr val="2EE6A6"/>
            </a:solidFill>
            <a:prstDash val="solid"/>
          </a:ln>
        </p:spPr>
      </p:sp>
      <p:sp>
        <p:nvSpPr>
          <p:cNvPr id="55" name="a4_p11"/>
          <p:cNvSpPr/>
          <p:nvPr/>
        </p:nvSpPr>
        <p:spPr>
          <a:xfrm>
            <a:off x="10986516" y="3547872"/>
            <a:ext cx="219456" cy="219456"/>
          </a:xfrm>
          <a:prstGeom prst="ellipse">
            <a:avLst/>
          </a:prstGeom>
          <a:solidFill>
            <a:srgbClr val="2EE6A6"/>
          </a:solidFill>
          <a:ln w="19050">
            <a:solidFill>
              <a:srgbClr val="0D0A1A"/>
            </a:solidFill>
            <a:prstDash val="solid"/>
          </a:ln>
        </p:spPr>
      </p:sp>
      <p:sp>
        <p:nvSpPr>
          <p:cNvPr id="56" name="a4_y11"/>
          <p:cNvSpPr txBox="1"/>
          <p:nvPr/>
        </p:nvSpPr>
        <p:spPr>
          <a:xfrm>
            <a:off x="10254996" y="4206240"/>
            <a:ext cx="1682496" cy="347472"/>
          </a:xfrm>
          <a:prstGeom prst="rect">
            <a:avLst/>
          </a:prstGeom>
          <a:noFill/>
          <a:ln/>
        </p:spPr>
        <p:txBody>
          <a:bodyPr wrap="square" lIns="0" tIns="0" rIns="0" bIns="0" rtlCol="0" anchor="ctr"/>
          <a:lstStyle/>
          <a:p>
            <a:pPr algn="ctr" indent="0" marL="0">
              <a:buNone/>
            </a:pPr>
            <a:r>
              <a:rPr lang="en-US" sz="1500" b="1" dirty="0">
                <a:solidFill>
                  <a:srgbClr val="2EE6A6"/>
                </a:solidFill>
                <a:latin typeface="Arial" pitchFamily="34" charset="0"/>
                <a:ea typeface="Arial" pitchFamily="34" charset="-122"/>
                <a:cs typeface="Arial" pitchFamily="34" charset="-120"/>
              </a:rPr>
              <a:t>2025–26</a:t>
            </a:r>
            <a:endParaRPr lang="en-US" sz="1500" dirty="0"/>
          </a:p>
        </p:txBody>
      </p:sp>
      <p:sp>
        <p:nvSpPr>
          <p:cNvPr id="57" name="a4_d11"/>
          <p:cNvSpPr txBox="1"/>
          <p:nvPr/>
        </p:nvSpPr>
        <p:spPr>
          <a:xfrm>
            <a:off x="10254996" y="4553712"/>
            <a:ext cx="1682496" cy="868680"/>
          </a:xfrm>
          <a:prstGeom prst="rect">
            <a:avLst/>
          </a:prstGeom>
          <a:noFill/>
          <a:ln/>
        </p:spPr>
        <p:txBody>
          <a:bodyPr wrap="square" lIns="0" tIns="0" rIns="0" bIns="0" rtlCol="0" anchor="t"/>
          <a:lstStyle/>
          <a:p>
            <a:pPr algn="ctr" indent="0" marL="0">
              <a:buNone/>
            </a:pPr>
            <a:r>
              <a:rPr lang="en-US" sz="1150" dirty="0">
                <a:solidFill>
                  <a:srgbClr val="E9E4FF"/>
                </a:solidFill>
                <a:latin typeface="Calibri" pitchFamily="34" charset="0"/>
                <a:ea typeface="Calibri" pitchFamily="34" charset="-122"/>
                <a:cs typeface="Calibri" pitchFamily="34" charset="-120"/>
              </a:rPr>
              <a:t>Reasoning models &amp; AI agents</a:t>
            </a:r>
            <a:endParaRPr lang="en-US" sz="1150" dirty="0"/>
          </a:p>
        </p:txBody>
      </p:sp>
      <p:sp>
        <p:nvSpPr>
          <p:cNvPr id="58" name="a5_net"/>
          <p:cNvSpPr/>
          <p:nvPr/>
        </p:nvSpPr>
        <p:spPr>
          <a:xfrm>
            <a:off x="548640" y="5532120"/>
            <a:ext cx="11091672" cy="658368"/>
          </a:xfrm>
          <a:prstGeom prst="roundRect">
            <a:avLst>
              <a:gd name="adj" fmla="val 16667"/>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59" name="a5_nett"/>
          <p:cNvSpPr txBox="1"/>
          <p:nvPr/>
        </p:nvSpPr>
        <p:spPr>
          <a:xfrm>
            <a:off x="777240" y="5532120"/>
            <a:ext cx="10698480" cy="658368"/>
          </a:xfrm>
          <a:prstGeom prst="rect">
            <a:avLst/>
          </a:prstGeom>
          <a:noFill/>
          <a:ln/>
        </p:spPr>
        <p:txBody>
          <a:bodyPr wrap="square" lIns="0" tIns="0" rIns="0" bIns="0" rtlCol="0" anchor="ctr"/>
          <a:lstStyle/>
          <a:p>
            <a:pPr indent="0" marL="0">
              <a:buNone/>
            </a:pPr>
            <a:r>
              <a:rPr lang="en-US" sz="1400" b="1" dirty="0">
                <a:solidFill>
                  <a:srgbClr val="FFB547"/>
                </a:solidFill>
                <a:latin typeface="Calibri" pitchFamily="34" charset="0"/>
                <a:ea typeface="Calibri" pitchFamily="34" charset="-122"/>
                <a:cs typeface="Calibri" pitchFamily="34" charset="-120"/>
              </a:rPr>
              <a:t>The .NET track:  </a:t>
            </a:r>
            <a:pPr indent="0" marL="0">
              <a:buNone/>
            </a:pPr>
            <a:r>
              <a:rPr lang="en-US" sz="1400" dirty="0">
                <a:solidFill>
                  <a:srgbClr val="FFFFFF"/>
                </a:solidFill>
                <a:latin typeface="Calibri" pitchFamily="34" charset="0"/>
                <a:ea typeface="Calibri" pitchFamily="34" charset="-122"/>
                <a:cs typeface="Calibri" pitchFamily="34" charset="-120"/>
              </a:rPr>
              <a:t>2018 ML.NET  ·  2023 Semantic Kernel  ·  2024 Microsoft.Extensions.AI  ·  2025 Microsoft Agent Framework</a:t>
            </a:r>
            <a:pPr indent="0" marL="0">
              <a:buNone/>
            </a:pPr>
            <a:r>
              <a:rPr lang="en-US" sz="1400" i="1" dirty="0">
                <a:solidFill>
                  <a:srgbClr val="2EE6A6"/>
                </a:solidFill>
                <a:latin typeface="Calibri" pitchFamily="34" charset="0"/>
                <a:ea typeface="Calibri" pitchFamily="34" charset="-122"/>
                <a:cs typeface="Calibri" pitchFamily="34" charset="-120"/>
              </a:rPr>
              <a:t>  ← this cohort</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anim calcmode="lin" valueType="num">
                                      <p:cBhvr>
                                        <p:cTn id="6" dur="500" fill="hold"/>
                                        <p:tgtEl>
                                          <p:spTgt spid="10"/>
                                        </p:tgtEl>
                                        <p:attrNameLst>
                                          <p:attrName>ppt_x</p:attrName>
                                        </p:attrNameLst>
                                      </p:cBhvr>
                                      <p:tavLst>
                                        <p:tav tm="0">
                                          <p:val>
                                            <p:strVal val="#ppt_x"/>
                                          </p:val>
                                        </p:tav>
                                        <p:tav tm="100000">
                                          <p:val>
                                            <p:strVal val="#ppt_x"/>
                                          </p:val>
                                        </p:tav>
                                      </p:tavLst>
                                    </p:anim>
                                    <p:anim calcmode="lin" valueType="num">
                                      <p:cBhvr>
                                        <p:cTn id="7" dur="500" decel="100000" fill="hold"/>
                                        <p:tgtEl>
                                          <p:spTgt spid="10"/>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anim calcmode="lin" valueType="num">
                                      <p:cBhvr>
                                        <p:cTn id="11" dur="500" fill="hold"/>
                                        <p:tgtEl>
                                          <p:spTgt spid="11"/>
                                        </p:tgtEl>
                                        <p:attrNameLst>
                                          <p:attrName>ppt_x</p:attrName>
                                        </p:attrNameLst>
                                      </p:cBhvr>
                                      <p:tavLst>
                                        <p:tav tm="0">
                                          <p:val>
                                            <p:strVal val="#ppt_x"/>
                                          </p:val>
                                        </p:tav>
                                        <p:tav tm="100000">
                                          <p:val>
                                            <p:strVal val="#ppt_x"/>
                                          </p:val>
                                        </p:tav>
                                      </p:tavLst>
                                    </p:anim>
                                    <p:anim calcmode="lin" valueType="num">
                                      <p:cBhvr>
                                        <p:cTn id="12" dur="500" decel="100000" fill="hold"/>
                                        <p:tgtEl>
                                          <p:spTgt spid="11"/>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anim calcmode="lin" valueType="num">
                                      <p:cBhvr>
                                        <p:cTn id="16" dur="500" fill="hold"/>
                                        <p:tgtEl>
                                          <p:spTgt spid="12"/>
                                        </p:tgtEl>
                                        <p:attrNameLst>
                                          <p:attrName>ppt_x</p:attrName>
                                        </p:attrNameLst>
                                      </p:cBhvr>
                                      <p:tavLst>
                                        <p:tav tm="0">
                                          <p:val>
                                            <p:strVal val="#ppt_x"/>
                                          </p:val>
                                        </p:tav>
                                        <p:tav tm="100000">
                                          <p:val>
                                            <p:strVal val="#ppt_x"/>
                                          </p:val>
                                        </p:tav>
                                      </p:tavLst>
                                    </p:anim>
                                    <p:anim calcmode="lin" valueType="num">
                                      <p:cBhvr>
                                        <p:cTn id="17" dur="500" decel="100000" fill="hold"/>
                                        <p:tgtEl>
                                          <p:spTgt spid="12"/>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anim calcmode="lin" valueType="num">
                                      <p:cBhvr>
                                        <p:cTn id="21" dur="500" fill="hold"/>
                                        <p:tgtEl>
                                          <p:spTgt spid="13"/>
                                        </p:tgtEl>
                                        <p:attrNameLst>
                                          <p:attrName>ppt_x</p:attrName>
                                        </p:attrNameLst>
                                      </p:cBhvr>
                                      <p:tavLst>
                                        <p:tav tm="0">
                                          <p:val>
                                            <p:strVal val="#ppt_x"/>
                                          </p:val>
                                        </p:tav>
                                        <p:tav tm="100000">
                                          <p:val>
                                            <p:strVal val="#ppt_x"/>
                                          </p:val>
                                        </p:tav>
                                      </p:tavLst>
                                    </p:anim>
                                    <p:anim calcmode="lin" valueType="num">
                                      <p:cBhvr>
                                        <p:cTn id="22" dur="500" decel="100000" fill="hold"/>
                                        <p:tgtEl>
                                          <p:spTgt spid="13"/>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decel="100000" fill="hold"/>
                                        <p:tgtEl>
                                          <p:spTgt spid="14"/>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anim calcmode="lin" valueType="num">
                                      <p:cBhvr>
                                        <p:cTn id="31" dur="500" fill="hold"/>
                                        <p:tgtEl>
                                          <p:spTgt spid="15"/>
                                        </p:tgtEl>
                                        <p:attrNameLst>
                                          <p:attrName>ppt_x</p:attrName>
                                        </p:attrNameLst>
                                      </p:cBhvr>
                                      <p:tavLst>
                                        <p:tav tm="0">
                                          <p:val>
                                            <p:strVal val="#ppt_x"/>
                                          </p:val>
                                        </p:tav>
                                        <p:tav tm="100000">
                                          <p:val>
                                            <p:strVal val="#ppt_x"/>
                                          </p:val>
                                        </p:tav>
                                      </p:tavLst>
                                    </p:anim>
                                    <p:anim calcmode="lin" valueType="num">
                                      <p:cBhvr>
                                        <p:cTn id="32" dur="500" decel="100000" fill="hold"/>
                                        <p:tgtEl>
                                          <p:spTgt spid="15"/>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anim calcmode="lin" valueType="num">
                                      <p:cBhvr>
                                        <p:cTn id="36" dur="500" fill="hold"/>
                                        <p:tgtEl>
                                          <p:spTgt spid="16"/>
                                        </p:tgtEl>
                                        <p:attrNameLst>
                                          <p:attrName>ppt_x</p:attrName>
                                        </p:attrNameLst>
                                      </p:cBhvr>
                                      <p:tavLst>
                                        <p:tav tm="0">
                                          <p:val>
                                            <p:strVal val="#ppt_x"/>
                                          </p:val>
                                        </p:tav>
                                        <p:tav tm="100000">
                                          <p:val>
                                            <p:strVal val="#ppt_x"/>
                                          </p:val>
                                        </p:tav>
                                      </p:tavLst>
                                    </p:anim>
                                    <p:anim calcmode="lin" valueType="num">
                                      <p:cBhvr>
                                        <p:cTn id="37" dur="500" decel="100000" fill="hold"/>
                                        <p:tgtEl>
                                          <p:spTgt spid="16"/>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anim calcmode="lin" valueType="num">
                                      <p:cBhvr>
                                        <p:cTn id="41" dur="500" fill="hold"/>
                                        <p:tgtEl>
                                          <p:spTgt spid="17"/>
                                        </p:tgtEl>
                                        <p:attrNameLst>
                                          <p:attrName>ppt_x</p:attrName>
                                        </p:attrNameLst>
                                      </p:cBhvr>
                                      <p:tavLst>
                                        <p:tav tm="0">
                                          <p:val>
                                            <p:strVal val="#ppt_x"/>
                                          </p:val>
                                        </p:tav>
                                        <p:tav tm="100000">
                                          <p:val>
                                            <p:strVal val="#ppt_x"/>
                                          </p:val>
                                        </p:tav>
                                      </p:tavLst>
                                    </p:anim>
                                    <p:anim calcmode="lin" valueType="num">
                                      <p:cBhvr>
                                        <p:cTn id="42" dur="500" decel="100000" fill="hold"/>
                                        <p:tgtEl>
                                          <p:spTgt spid="17"/>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anim calcmode="lin" valueType="num">
                                      <p:cBhvr>
                                        <p:cTn id="46" dur="500" fill="hold"/>
                                        <p:tgtEl>
                                          <p:spTgt spid="18"/>
                                        </p:tgtEl>
                                        <p:attrNameLst>
                                          <p:attrName>ppt_x</p:attrName>
                                        </p:attrNameLst>
                                      </p:cBhvr>
                                      <p:tavLst>
                                        <p:tav tm="0">
                                          <p:val>
                                            <p:strVal val="#ppt_x"/>
                                          </p:val>
                                        </p:tav>
                                        <p:tav tm="100000">
                                          <p:val>
                                            <p:strVal val="#ppt_x"/>
                                          </p:val>
                                        </p:tav>
                                      </p:tavLst>
                                    </p:anim>
                                    <p:anim calcmode="lin" valueType="num">
                                      <p:cBhvr>
                                        <p:cTn id="47" dur="500" decel="100000" fill="hold"/>
                                        <p:tgtEl>
                                          <p:spTgt spid="18"/>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anim calcmode="lin" valueType="num">
                                      <p:cBhvr>
                                        <p:cTn id="51" dur="500" fill="hold"/>
                                        <p:tgtEl>
                                          <p:spTgt spid="19"/>
                                        </p:tgtEl>
                                        <p:attrNameLst>
                                          <p:attrName>ppt_x</p:attrName>
                                        </p:attrNameLst>
                                      </p:cBhvr>
                                      <p:tavLst>
                                        <p:tav tm="0">
                                          <p:val>
                                            <p:strVal val="#ppt_x"/>
                                          </p:val>
                                        </p:tav>
                                        <p:tav tm="100000">
                                          <p:val>
                                            <p:strVal val="#ppt_x"/>
                                          </p:val>
                                        </p:tav>
                                      </p:tavLst>
                                    </p:anim>
                                    <p:anim calcmode="lin" valueType="num">
                                      <p:cBhvr>
                                        <p:cTn id="52" dur="500" decel="100000" fill="hold"/>
                                        <p:tgtEl>
                                          <p:spTgt spid="19"/>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anim calcmode="lin" valueType="num">
                                      <p:cBhvr>
                                        <p:cTn id="56" dur="500" fill="hold"/>
                                        <p:tgtEl>
                                          <p:spTgt spid="20"/>
                                        </p:tgtEl>
                                        <p:attrNameLst>
                                          <p:attrName>ppt_x</p:attrName>
                                        </p:attrNameLst>
                                      </p:cBhvr>
                                      <p:tavLst>
                                        <p:tav tm="0">
                                          <p:val>
                                            <p:strVal val="#ppt_x"/>
                                          </p:val>
                                        </p:tav>
                                        <p:tav tm="100000">
                                          <p:val>
                                            <p:strVal val="#ppt_x"/>
                                          </p:val>
                                        </p:tav>
                                      </p:tavLst>
                                    </p:anim>
                                    <p:anim calcmode="lin" valueType="num">
                                      <p:cBhvr>
                                        <p:cTn id="57" dur="500" decel="100000" fill="hold"/>
                                        <p:tgtEl>
                                          <p:spTgt spid="20"/>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decel="100000" fill="hold"/>
                                        <p:tgtEl>
                                          <p:spTgt spid="21"/>
                                        </p:tgtEl>
                                        <p:attrNameLst>
                                          <p:attrName>ppt_y</p:attrName>
                                        </p:attrNameLst>
                                      </p:cBhvr>
                                      <p:tavLst>
                                        <p:tav tm="0">
                                          <p:val>
                                            <p:strVal val="#ppt_y+.06"/>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ppt_x</p:attrName>
                                        </p:attrNameLst>
                                      </p:cBhvr>
                                      <p:tavLst>
                                        <p:tav tm="0">
                                          <p:val>
                                            <p:strVal val="#ppt_x"/>
                                          </p:val>
                                        </p:tav>
                                        <p:tav tm="100000">
                                          <p:val>
                                            <p:strVal val="#ppt_x"/>
                                          </p:val>
                                        </p:tav>
                                      </p:tavLst>
                                    </p:anim>
                                    <p:anim calcmode="lin" valueType="num">
                                      <p:cBhvr>
                                        <p:cTn id="69" dur="500" decel="100000" fill="hold"/>
                                        <p:tgtEl>
                                          <p:spTgt spid="22"/>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anim calcmode="lin" valueType="num">
                                      <p:cBhvr>
                                        <p:cTn id="73" dur="500" fill="hold"/>
                                        <p:tgtEl>
                                          <p:spTgt spid="23"/>
                                        </p:tgtEl>
                                        <p:attrNameLst>
                                          <p:attrName>ppt_x</p:attrName>
                                        </p:attrNameLst>
                                      </p:cBhvr>
                                      <p:tavLst>
                                        <p:tav tm="0">
                                          <p:val>
                                            <p:strVal val="#ppt_x"/>
                                          </p:val>
                                        </p:tav>
                                        <p:tav tm="100000">
                                          <p:val>
                                            <p:strVal val="#ppt_x"/>
                                          </p:val>
                                        </p:tav>
                                      </p:tavLst>
                                    </p:anim>
                                    <p:anim calcmode="lin" valueType="num">
                                      <p:cBhvr>
                                        <p:cTn id="74" dur="500" decel="100000" fill="hold"/>
                                        <p:tgtEl>
                                          <p:spTgt spid="23"/>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anim calcmode="lin" valueType="num">
                                      <p:cBhvr>
                                        <p:cTn id="78" dur="500" fill="hold"/>
                                        <p:tgtEl>
                                          <p:spTgt spid="24"/>
                                        </p:tgtEl>
                                        <p:attrNameLst>
                                          <p:attrName>ppt_x</p:attrName>
                                        </p:attrNameLst>
                                      </p:cBhvr>
                                      <p:tavLst>
                                        <p:tav tm="0">
                                          <p:val>
                                            <p:strVal val="#ppt_x"/>
                                          </p:val>
                                        </p:tav>
                                        <p:tav tm="100000">
                                          <p:val>
                                            <p:strVal val="#ppt_x"/>
                                          </p:val>
                                        </p:tav>
                                      </p:tavLst>
                                    </p:anim>
                                    <p:anim calcmode="lin" valueType="num">
                                      <p:cBhvr>
                                        <p:cTn id="79" dur="500" decel="100000" fill="hold"/>
                                        <p:tgtEl>
                                          <p:spTgt spid="24"/>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anim calcmode="lin" valueType="num">
                                      <p:cBhvr>
                                        <p:cTn id="83" dur="500" fill="hold"/>
                                        <p:tgtEl>
                                          <p:spTgt spid="25"/>
                                        </p:tgtEl>
                                        <p:attrNameLst>
                                          <p:attrName>ppt_x</p:attrName>
                                        </p:attrNameLst>
                                      </p:cBhvr>
                                      <p:tavLst>
                                        <p:tav tm="0">
                                          <p:val>
                                            <p:strVal val="#ppt_x"/>
                                          </p:val>
                                        </p:tav>
                                        <p:tav tm="100000">
                                          <p:val>
                                            <p:strVal val="#ppt_x"/>
                                          </p:val>
                                        </p:tav>
                                      </p:tavLst>
                                    </p:anim>
                                    <p:anim calcmode="lin" valueType="num">
                                      <p:cBhvr>
                                        <p:cTn id="84" dur="500" decel="100000" fill="hold"/>
                                        <p:tgtEl>
                                          <p:spTgt spid="25"/>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anim calcmode="lin" valueType="num">
                                      <p:cBhvr>
                                        <p:cTn id="88" dur="500" fill="hold"/>
                                        <p:tgtEl>
                                          <p:spTgt spid="26"/>
                                        </p:tgtEl>
                                        <p:attrNameLst>
                                          <p:attrName>ppt_x</p:attrName>
                                        </p:attrNameLst>
                                      </p:cBhvr>
                                      <p:tavLst>
                                        <p:tav tm="0">
                                          <p:val>
                                            <p:strVal val="#ppt_x"/>
                                          </p:val>
                                        </p:tav>
                                        <p:tav tm="100000">
                                          <p:val>
                                            <p:strVal val="#ppt_x"/>
                                          </p:val>
                                        </p:tav>
                                      </p:tavLst>
                                    </p:anim>
                                    <p:anim calcmode="lin" valueType="num">
                                      <p:cBhvr>
                                        <p:cTn id="89" dur="500" decel="100000" fill="hold"/>
                                        <p:tgtEl>
                                          <p:spTgt spid="26"/>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500"/>
                                        <p:tgtEl>
                                          <p:spTgt spid="27"/>
                                        </p:tgtEl>
                                      </p:cBhvr>
                                    </p:animEffect>
                                    <p:anim calcmode="lin" valueType="num">
                                      <p:cBhvr>
                                        <p:cTn id="93" dur="500" fill="hold"/>
                                        <p:tgtEl>
                                          <p:spTgt spid="27"/>
                                        </p:tgtEl>
                                        <p:attrNameLst>
                                          <p:attrName>ppt_x</p:attrName>
                                        </p:attrNameLst>
                                      </p:cBhvr>
                                      <p:tavLst>
                                        <p:tav tm="0">
                                          <p:val>
                                            <p:strVal val="#ppt_x"/>
                                          </p:val>
                                        </p:tav>
                                        <p:tav tm="100000">
                                          <p:val>
                                            <p:strVal val="#ppt_x"/>
                                          </p:val>
                                        </p:tav>
                                      </p:tavLst>
                                    </p:anim>
                                    <p:anim calcmode="lin" valueType="num">
                                      <p:cBhvr>
                                        <p:cTn id="94" dur="500" decel="100000" fill="hold"/>
                                        <p:tgtEl>
                                          <p:spTgt spid="27"/>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500"/>
                                        <p:tgtEl>
                                          <p:spTgt spid="28"/>
                                        </p:tgtEl>
                                      </p:cBhvr>
                                    </p:animEffect>
                                    <p:anim calcmode="lin" valueType="num">
                                      <p:cBhvr>
                                        <p:cTn id="98" dur="500" fill="hold"/>
                                        <p:tgtEl>
                                          <p:spTgt spid="28"/>
                                        </p:tgtEl>
                                        <p:attrNameLst>
                                          <p:attrName>ppt_x</p:attrName>
                                        </p:attrNameLst>
                                      </p:cBhvr>
                                      <p:tavLst>
                                        <p:tav tm="0">
                                          <p:val>
                                            <p:strVal val="#ppt_x"/>
                                          </p:val>
                                        </p:tav>
                                        <p:tav tm="100000">
                                          <p:val>
                                            <p:strVal val="#ppt_x"/>
                                          </p:val>
                                        </p:tav>
                                      </p:tavLst>
                                    </p:anim>
                                    <p:anim calcmode="lin" valueType="num">
                                      <p:cBhvr>
                                        <p:cTn id="99" dur="500" decel="100000" fill="hold"/>
                                        <p:tgtEl>
                                          <p:spTgt spid="28"/>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anim calcmode="lin" valueType="num">
                                      <p:cBhvr>
                                        <p:cTn id="103" dur="500" fill="hold"/>
                                        <p:tgtEl>
                                          <p:spTgt spid="29"/>
                                        </p:tgtEl>
                                        <p:attrNameLst>
                                          <p:attrName>ppt_x</p:attrName>
                                        </p:attrNameLst>
                                      </p:cBhvr>
                                      <p:tavLst>
                                        <p:tav tm="0">
                                          <p:val>
                                            <p:strVal val="#ppt_x"/>
                                          </p:val>
                                        </p:tav>
                                        <p:tav tm="100000">
                                          <p:val>
                                            <p:strVal val="#ppt_x"/>
                                          </p:val>
                                        </p:tav>
                                      </p:tavLst>
                                    </p:anim>
                                    <p:anim calcmode="lin" valueType="num">
                                      <p:cBhvr>
                                        <p:cTn id="104" dur="500" decel="100000" fill="hold"/>
                                        <p:tgtEl>
                                          <p:spTgt spid="29"/>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anim calcmode="lin" valueType="num">
                                      <p:cBhvr>
                                        <p:cTn id="108" dur="500" fill="hold"/>
                                        <p:tgtEl>
                                          <p:spTgt spid="30"/>
                                        </p:tgtEl>
                                        <p:attrNameLst>
                                          <p:attrName>ppt_x</p:attrName>
                                        </p:attrNameLst>
                                      </p:cBhvr>
                                      <p:tavLst>
                                        <p:tav tm="0">
                                          <p:val>
                                            <p:strVal val="#ppt_x"/>
                                          </p:val>
                                        </p:tav>
                                        <p:tav tm="100000">
                                          <p:val>
                                            <p:strVal val="#ppt_x"/>
                                          </p:val>
                                        </p:tav>
                                      </p:tavLst>
                                    </p:anim>
                                    <p:anim calcmode="lin" valueType="num">
                                      <p:cBhvr>
                                        <p:cTn id="109" dur="500" decel="100000" fill="hold"/>
                                        <p:tgtEl>
                                          <p:spTgt spid="30"/>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anim calcmode="lin" valueType="num">
                                      <p:cBhvr>
                                        <p:cTn id="113" dur="500" fill="hold"/>
                                        <p:tgtEl>
                                          <p:spTgt spid="31"/>
                                        </p:tgtEl>
                                        <p:attrNameLst>
                                          <p:attrName>ppt_x</p:attrName>
                                        </p:attrNameLst>
                                      </p:cBhvr>
                                      <p:tavLst>
                                        <p:tav tm="0">
                                          <p:val>
                                            <p:strVal val="#ppt_x"/>
                                          </p:val>
                                        </p:tav>
                                        <p:tav tm="100000">
                                          <p:val>
                                            <p:strVal val="#ppt_x"/>
                                          </p:val>
                                        </p:tav>
                                      </p:tavLst>
                                    </p:anim>
                                    <p:anim calcmode="lin" valueType="num">
                                      <p:cBhvr>
                                        <p:cTn id="114" dur="500" decel="100000" fill="hold"/>
                                        <p:tgtEl>
                                          <p:spTgt spid="31"/>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500"/>
                                        <p:tgtEl>
                                          <p:spTgt spid="32"/>
                                        </p:tgtEl>
                                      </p:cBhvr>
                                    </p:animEffect>
                                    <p:anim calcmode="lin" valueType="num">
                                      <p:cBhvr>
                                        <p:cTn id="118" dur="500" fill="hold"/>
                                        <p:tgtEl>
                                          <p:spTgt spid="32"/>
                                        </p:tgtEl>
                                        <p:attrNameLst>
                                          <p:attrName>ppt_x</p:attrName>
                                        </p:attrNameLst>
                                      </p:cBhvr>
                                      <p:tavLst>
                                        <p:tav tm="0">
                                          <p:val>
                                            <p:strVal val="#ppt_x"/>
                                          </p:val>
                                        </p:tav>
                                        <p:tav tm="100000">
                                          <p:val>
                                            <p:strVal val="#ppt_x"/>
                                          </p:val>
                                        </p:tav>
                                      </p:tavLst>
                                    </p:anim>
                                    <p:anim calcmode="lin" valueType="num">
                                      <p:cBhvr>
                                        <p:cTn id="119" dur="500" decel="100000" fill="hold"/>
                                        <p:tgtEl>
                                          <p:spTgt spid="32"/>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p:tgtEl>
                                          <p:spTgt spid="33"/>
                                        </p:tgtEl>
                                      </p:cBhvr>
                                    </p:animEffect>
                                    <p:anim calcmode="lin" valueType="num">
                                      <p:cBhvr>
                                        <p:cTn id="123" dur="500" fill="hold"/>
                                        <p:tgtEl>
                                          <p:spTgt spid="33"/>
                                        </p:tgtEl>
                                        <p:attrNameLst>
                                          <p:attrName>ppt_x</p:attrName>
                                        </p:attrNameLst>
                                      </p:cBhvr>
                                      <p:tavLst>
                                        <p:tav tm="0">
                                          <p:val>
                                            <p:strVal val="#ppt_x"/>
                                          </p:val>
                                        </p:tav>
                                        <p:tav tm="100000">
                                          <p:val>
                                            <p:strVal val="#ppt_x"/>
                                          </p:val>
                                        </p:tav>
                                      </p:tavLst>
                                    </p:anim>
                                    <p:anim calcmode="lin" valueType="num">
                                      <p:cBhvr>
                                        <p:cTn id="124" dur="50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27" presetID="42" presetClass="entr" presetSubtype="0" fill="hold" grpId="0" nodeType="clickEffect">
                                  <p:stCondLst>
                                    <p:cond delay="0"/>
                                  </p:stCondLst>
                                  <p:childTnLst>
                                    <p:set>
                                      <p:cBhvr>
                                        <p:cTn id="128" dur="1" fill="hold">
                                          <p:stCondLst>
                                            <p:cond delay="0"/>
                                          </p:stCondLst>
                                        </p:cTn>
                                        <p:tgtEl>
                                          <p:spTgt spid="9"/>
                                        </p:tgtEl>
                                        <p:attrNameLst>
                                          <p:attrName>style.visibility</p:attrName>
                                        </p:attrNameLst>
                                      </p:cBhvr>
                                      <p:to>
                                        <p:strVal val="visible"/>
                                      </p:to>
                                    </p:set>
                                    <p:animEffect transition="in" filter="fade">
                                      <p:cBhvr>
                                        <p:cTn id="129" dur="500"/>
                                        <p:tgtEl>
                                          <p:spTgt spid="9"/>
                                        </p:tgtEl>
                                      </p:cBhvr>
                                    </p:animEffect>
                                    <p:anim calcmode="lin" valueType="num">
                                      <p:cBhvr>
                                        <p:cTn id="130" dur="500" fill="hold"/>
                                        <p:tgtEl>
                                          <p:spTgt spid="9"/>
                                        </p:tgtEl>
                                        <p:attrNameLst>
                                          <p:attrName>ppt_x</p:attrName>
                                        </p:attrNameLst>
                                      </p:cBhvr>
                                      <p:tavLst>
                                        <p:tav tm="0">
                                          <p:val>
                                            <p:strVal val="#ppt_x"/>
                                          </p:val>
                                        </p:tav>
                                        <p:tav tm="100000">
                                          <p:val>
                                            <p:strVal val="#ppt_x"/>
                                          </p:val>
                                        </p:tav>
                                      </p:tavLst>
                                    </p:anim>
                                    <p:anim calcmode="lin" valueType="num">
                                      <p:cBhvr>
                                        <p:cTn id="131" dur="500" decel="100000" fill="hold"/>
                                        <p:tgtEl>
                                          <p:spTgt spid="9"/>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4"/>
                                        </p:tgtEl>
                                        <p:attrNameLst>
                                          <p:attrName>style.visibility</p:attrName>
                                        </p:attrNameLst>
                                      </p:cBhvr>
                                      <p:to>
                                        <p:strVal val="visible"/>
                                      </p:to>
                                    </p:set>
                                    <p:animEffect transition="in" filter="fade">
                                      <p:cBhvr>
                                        <p:cTn id="134" dur="500"/>
                                        <p:tgtEl>
                                          <p:spTgt spid="34"/>
                                        </p:tgtEl>
                                      </p:cBhvr>
                                    </p:animEffect>
                                    <p:anim calcmode="lin" valueType="num">
                                      <p:cBhvr>
                                        <p:cTn id="135" dur="500" fill="hold"/>
                                        <p:tgtEl>
                                          <p:spTgt spid="34"/>
                                        </p:tgtEl>
                                        <p:attrNameLst>
                                          <p:attrName>ppt_x</p:attrName>
                                        </p:attrNameLst>
                                      </p:cBhvr>
                                      <p:tavLst>
                                        <p:tav tm="0">
                                          <p:val>
                                            <p:strVal val="#ppt_x"/>
                                          </p:val>
                                        </p:tav>
                                        <p:tav tm="100000">
                                          <p:val>
                                            <p:strVal val="#ppt_x"/>
                                          </p:val>
                                        </p:tav>
                                      </p:tavLst>
                                    </p:anim>
                                    <p:anim calcmode="lin" valueType="num">
                                      <p:cBhvr>
                                        <p:cTn id="136" dur="500" decel="100000" fill="hold"/>
                                        <p:tgtEl>
                                          <p:spTgt spid="34"/>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500"/>
                                        <p:tgtEl>
                                          <p:spTgt spid="35"/>
                                        </p:tgtEl>
                                      </p:cBhvr>
                                    </p:animEffect>
                                    <p:anim calcmode="lin" valueType="num">
                                      <p:cBhvr>
                                        <p:cTn id="140" dur="500" fill="hold"/>
                                        <p:tgtEl>
                                          <p:spTgt spid="35"/>
                                        </p:tgtEl>
                                        <p:attrNameLst>
                                          <p:attrName>ppt_x</p:attrName>
                                        </p:attrNameLst>
                                      </p:cBhvr>
                                      <p:tavLst>
                                        <p:tav tm="0">
                                          <p:val>
                                            <p:strVal val="#ppt_x"/>
                                          </p:val>
                                        </p:tav>
                                        <p:tav tm="100000">
                                          <p:val>
                                            <p:strVal val="#ppt_x"/>
                                          </p:val>
                                        </p:tav>
                                      </p:tavLst>
                                    </p:anim>
                                    <p:anim calcmode="lin" valueType="num">
                                      <p:cBhvr>
                                        <p:cTn id="141" dur="500" decel="100000" fill="hold"/>
                                        <p:tgtEl>
                                          <p:spTgt spid="35"/>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44" dur="500"/>
                                        <p:tgtEl>
                                          <p:spTgt spid="36"/>
                                        </p:tgtEl>
                                      </p:cBhvr>
                                    </p:animEffect>
                                    <p:anim calcmode="lin" valueType="num">
                                      <p:cBhvr>
                                        <p:cTn id="145" dur="500" fill="hold"/>
                                        <p:tgtEl>
                                          <p:spTgt spid="36"/>
                                        </p:tgtEl>
                                        <p:attrNameLst>
                                          <p:attrName>ppt_x</p:attrName>
                                        </p:attrNameLst>
                                      </p:cBhvr>
                                      <p:tavLst>
                                        <p:tav tm="0">
                                          <p:val>
                                            <p:strVal val="#ppt_x"/>
                                          </p:val>
                                        </p:tav>
                                        <p:tav tm="100000">
                                          <p:val>
                                            <p:strVal val="#ppt_x"/>
                                          </p:val>
                                        </p:tav>
                                      </p:tavLst>
                                    </p:anim>
                                    <p:anim calcmode="lin" valueType="num">
                                      <p:cBhvr>
                                        <p:cTn id="146" dur="500" decel="100000" fill="hold"/>
                                        <p:tgtEl>
                                          <p:spTgt spid="36"/>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7"/>
                                        </p:tgtEl>
                                        <p:attrNameLst>
                                          <p:attrName>style.visibility</p:attrName>
                                        </p:attrNameLst>
                                      </p:cBhvr>
                                      <p:to>
                                        <p:strVal val="visible"/>
                                      </p:to>
                                    </p:set>
                                    <p:animEffect transition="in" filter="fade">
                                      <p:cBhvr>
                                        <p:cTn id="149" dur="500"/>
                                        <p:tgtEl>
                                          <p:spTgt spid="37"/>
                                        </p:tgtEl>
                                      </p:cBhvr>
                                    </p:animEffect>
                                    <p:anim calcmode="lin" valueType="num">
                                      <p:cBhvr>
                                        <p:cTn id="150" dur="500" fill="hold"/>
                                        <p:tgtEl>
                                          <p:spTgt spid="37"/>
                                        </p:tgtEl>
                                        <p:attrNameLst>
                                          <p:attrName>ppt_x</p:attrName>
                                        </p:attrNameLst>
                                      </p:cBhvr>
                                      <p:tavLst>
                                        <p:tav tm="0">
                                          <p:val>
                                            <p:strVal val="#ppt_x"/>
                                          </p:val>
                                        </p:tav>
                                        <p:tav tm="100000">
                                          <p:val>
                                            <p:strVal val="#ppt_x"/>
                                          </p:val>
                                        </p:tav>
                                      </p:tavLst>
                                    </p:anim>
                                    <p:anim calcmode="lin" valueType="num">
                                      <p:cBhvr>
                                        <p:cTn id="151" dur="500" decel="100000" fill="hold"/>
                                        <p:tgtEl>
                                          <p:spTgt spid="37"/>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8"/>
                                        </p:tgtEl>
                                        <p:attrNameLst>
                                          <p:attrName>style.visibility</p:attrName>
                                        </p:attrNameLst>
                                      </p:cBhvr>
                                      <p:to>
                                        <p:strVal val="visible"/>
                                      </p:to>
                                    </p:set>
                                    <p:animEffect transition="in" filter="fade">
                                      <p:cBhvr>
                                        <p:cTn id="154" dur="500"/>
                                        <p:tgtEl>
                                          <p:spTgt spid="38"/>
                                        </p:tgtEl>
                                      </p:cBhvr>
                                    </p:animEffect>
                                    <p:anim calcmode="lin" valueType="num">
                                      <p:cBhvr>
                                        <p:cTn id="155" dur="500" fill="hold"/>
                                        <p:tgtEl>
                                          <p:spTgt spid="38"/>
                                        </p:tgtEl>
                                        <p:attrNameLst>
                                          <p:attrName>ppt_x</p:attrName>
                                        </p:attrNameLst>
                                      </p:cBhvr>
                                      <p:tavLst>
                                        <p:tav tm="0">
                                          <p:val>
                                            <p:strVal val="#ppt_x"/>
                                          </p:val>
                                        </p:tav>
                                        <p:tav tm="100000">
                                          <p:val>
                                            <p:strVal val="#ppt_x"/>
                                          </p:val>
                                        </p:tav>
                                      </p:tavLst>
                                    </p:anim>
                                    <p:anim calcmode="lin" valueType="num">
                                      <p:cBhvr>
                                        <p:cTn id="156" dur="500" decel="100000" fill="hold"/>
                                        <p:tgtEl>
                                          <p:spTgt spid="38"/>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500"/>
                                        <p:tgtEl>
                                          <p:spTgt spid="39"/>
                                        </p:tgtEl>
                                      </p:cBhvr>
                                    </p:animEffect>
                                    <p:anim calcmode="lin" valueType="num">
                                      <p:cBhvr>
                                        <p:cTn id="160" dur="500" fill="hold"/>
                                        <p:tgtEl>
                                          <p:spTgt spid="39"/>
                                        </p:tgtEl>
                                        <p:attrNameLst>
                                          <p:attrName>ppt_x</p:attrName>
                                        </p:attrNameLst>
                                      </p:cBhvr>
                                      <p:tavLst>
                                        <p:tav tm="0">
                                          <p:val>
                                            <p:strVal val="#ppt_x"/>
                                          </p:val>
                                        </p:tav>
                                        <p:tav tm="100000">
                                          <p:val>
                                            <p:strVal val="#ppt_x"/>
                                          </p:val>
                                        </p:tav>
                                      </p:tavLst>
                                    </p:anim>
                                    <p:anim calcmode="lin" valueType="num">
                                      <p:cBhvr>
                                        <p:cTn id="161" dur="500" decel="100000" fill="hold"/>
                                        <p:tgtEl>
                                          <p:spTgt spid="39"/>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40"/>
                                        </p:tgtEl>
                                        <p:attrNameLst>
                                          <p:attrName>style.visibility</p:attrName>
                                        </p:attrNameLst>
                                      </p:cBhvr>
                                      <p:to>
                                        <p:strVal val="visible"/>
                                      </p:to>
                                    </p:set>
                                    <p:animEffect transition="in" filter="fade">
                                      <p:cBhvr>
                                        <p:cTn id="164" dur="500"/>
                                        <p:tgtEl>
                                          <p:spTgt spid="40"/>
                                        </p:tgtEl>
                                      </p:cBhvr>
                                    </p:animEffect>
                                    <p:anim calcmode="lin" valueType="num">
                                      <p:cBhvr>
                                        <p:cTn id="165" dur="500" fill="hold"/>
                                        <p:tgtEl>
                                          <p:spTgt spid="40"/>
                                        </p:tgtEl>
                                        <p:attrNameLst>
                                          <p:attrName>ppt_x</p:attrName>
                                        </p:attrNameLst>
                                      </p:cBhvr>
                                      <p:tavLst>
                                        <p:tav tm="0">
                                          <p:val>
                                            <p:strVal val="#ppt_x"/>
                                          </p:val>
                                        </p:tav>
                                        <p:tav tm="100000">
                                          <p:val>
                                            <p:strVal val="#ppt_x"/>
                                          </p:val>
                                        </p:tav>
                                      </p:tavLst>
                                    </p:anim>
                                    <p:anim calcmode="lin" valueType="num">
                                      <p:cBhvr>
                                        <p:cTn id="166" dur="500" decel="100000" fill="hold"/>
                                        <p:tgtEl>
                                          <p:spTgt spid="40"/>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1"/>
                                        </p:tgtEl>
                                        <p:attrNameLst>
                                          <p:attrName>style.visibility</p:attrName>
                                        </p:attrNameLst>
                                      </p:cBhvr>
                                      <p:to>
                                        <p:strVal val="visible"/>
                                      </p:to>
                                    </p:set>
                                    <p:animEffect transition="in" filter="fade">
                                      <p:cBhvr>
                                        <p:cTn id="169" dur="500"/>
                                        <p:tgtEl>
                                          <p:spTgt spid="41"/>
                                        </p:tgtEl>
                                      </p:cBhvr>
                                    </p:animEffect>
                                    <p:anim calcmode="lin" valueType="num">
                                      <p:cBhvr>
                                        <p:cTn id="170" dur="500" fill="hold"/>
                                        <p:tgtEl>
                                          <p:spTgt spid="41"/>
                                        </p:tgtEl>
                                        <p:attrNameLst>
                                          <p:attrName>ppt_x</p:attrName>
                                        </p:attrNameLst>
                                      </p:cBhvr>
                                      <p:tavLst>
                                        <p:tav tm="0">
                                          <p:val>
                                            <p:strVal val="#ppt_x"/>
                                          </p:val>
                                        </p:tav>
                                        <p:tav tm="100000">
                                          <p:val>
                                            <p:strVal val="#ppt_x"/>
                                          </p:val>
                                        </p:tav>
                                      </p:tavLst>
                                    </p:anim>
                                    <p:anim calcmode="lin" valueType="num">
                                      <p:cBhvr>
                                        <p:cTn id="171" dur="500" decel="100000" fill="hold"/>
                                        <p:tgtEl>
                                          <p:spTgt spid="41"/>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74" dur="500"/>
                                        <p:tgtEl>
                                          <p:spTgt spid="42"/>
                                        </p:tgtEl>
                                      </p:cBhvr>
                                    </p:animEffect>
                                    <p:anim calcmode="lin" valueType="num">
                                      <p:cBhvr>
                                        <p:cTn id="175" dur="500" fill="hold"/>
                                        <p:tgtEl>
                                          <p:spTgt spid="42"/>
                                        </p:tgtEl>
                                        <p:attrNameLst>
                                          <p:attrName>ppt_x</p:attrName>
                                        </p:attrNameLst>
                                      </p:cBhvr>
                                      <p:tavLst>
                                        <p:tav tm="0">
                                          <p:val>
                                            <p:strVal val="#ppt_x"/>
                                          </p:val>
                                        </p:tav>
                                        <p:tav tm="100000">
                                          <p:val>
                                            <p:strVal val="#ppt_x"/>
                                          </p:val>
                                        </p:tav>
                                      </p:tavLst>
                                    </p:anim>
                                    <p:anim calcmode="lin" valueType="num">
                                      <p:cBhvr>
                                        <p:cTn id="176" dur="500" decel="100000" fill="hold"/>
                                        <p:tgtEl>
                                          <p:spTgt spid="42"/>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3"/>
                                        </p:tgtEl>
                                        <p:attrNameLst>
                                          <p:attrName>style.visibility</p:attrName>
                                        </p:attrNameLst>
                                      </p:cBhvr>
                                      <p:to>
                                        <p:strVal val="visible"/>
                                      </p:to>
                                    </p:set>
                                    <p:animEffect transition="in" filter="fade">
                                      <p:cBhvr>
                                        <p:cTn id="179" dur="500"/>
                                        <p:tgtEl>
                                          <p:spTgt spid="43"/>
                                        </p:tgtEl>
                                      </p:cBhvr>
                                    </p:animEffect>
                                    <p:anim calcmode="lin" valueType="num">
                                      <p:cBhvr>
                                        <p:cTn id="180" dur="500" fill="hold"/>
                                        <p:tgtEl>
                                          <p:spTgt spid="43"/>
                                        </p:tgtEl>
                                        <p:attrNameLst>
                                          <p:attrName>ppt_x</p:attrName>
                                        </p:attrNameLst>
                                      </p:cBhvr>
                                      <p:tavLst>
                                        <p:tav tm="0">
                                          <p:val>
                                            <p:strVal val="#ppt_x"/>
                                          </p:val>
                                        </p:tav>
                                        <p:tav tm="100000">
                                          <p:val>
                                            <p:strVal val="#ppt_x"/>
                                          </p:val>
                                        </p:tav>
                                      </p:tavLst>
                                    </p:anim>
                                    <p:anim calcmode="lin" valueType="num">
                                      <p:cBhvr>
                                        <p:cTn id="181" dur="500" decel="100000" fill="hold"/>
                                        <p:tgtEl>
                                          <p:spTgt spid="43"/>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4"/>
                                        </p:tgtEl>
                                        <p:attrNameLst>
                                          <p:attrName>style.visibility</p:attrName>
                                        </p:attrNameLst>
                                      </p:cBhvr>
                                      <p:to>
                                        <p:strVal val="visible"/>
                                      </p:to>
                                    </p:set>
                                    <p:animEffect transition="in" filter="fade">
                                      <p:cBhvr>
                                        <p:cTn id="184" dur="500"/>
                                        <p:tgtEl>
                                          <p:spTgt spid="44"/>
                                        </p:tgtEl>
                                      </p:cBhvr>
                                    </p:animEffect>
                                    <p:anim calcmode="lin" valueType="num">
                                      <p:cBhvr>
                                        <p:cTn id="185" dur="500" fill="hold"/>
                                        <p:tgtEl>
                                          <p:spTgt spid="44"/>
                                        </p:tgtEl>
                                        <p:attrNameLst>
                                          <p:attrName>ppt_x</p:attrName>
                                        </p:attrNameLst>
                                      </p:cBhvr>
                                      <p:tavLst>
                                        <p:tav tm="0">
                                          <p:val>
                                            <p:strVal val="#ppt_x"/>
                                          </p:val>
                                        </p:tav>
                                        <p:tav tm="100000">
                                          <p:val>
                                            <p:strVal val="#ppt_x"/>
                                          </p:val>
                                        </p:tav>
                                      </p:tavLst>
                                    </p:anim>
                                    <p:anim calcmode="lin" valueType="num">
                                      <p:cBhvr>
                                        <p:cTn id="186" dur="500" decel="100000" fill="hold"/>
                                        <p:tgtEl>
                                          <p:spTgt spid="44"/>
                                        </p:tgtEl>
                                        <p:attrNameLst>
                                          <p:attrName>ppt_y</p:attrName>
                                        </p:attrNameLst>
                                      </p:cBhvr>
                                      <p:tavLst>
                                        <p:tav tm="0">
                                          <p:val>
                                            <p:strVal val="#ppt_y+.06"/>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45"/>
                                        </p:tgtEl>
                                        <p:attrNameLst>
                                          <p:attrName>style.visibility</p:attrName>
                                        </p:attrNameLst>
                                      </p:cBhvr>
                                      <p:to>
                                        <p:strVal val="visible"/>
                                      </p:to>
                                    </p:set>
                                    <p:animEffect transition="in" filter="fade">
                                      <p:cBhvr>
                                        <p:cTn id="189" dur="500"/>
                                        <p:tgtEl>
                                          <p:spTgt spid="45"/>
                                        </p:tgtEl>
                                      </p:cBhvr>
                                    </p:animEffect>
                                    <p:anim calcmode="lin" valueType="num">
                                      <p:cBhvr>
                                        <p:cTn id="190" dur="500" fill="hold"/>
                                        <p:tgtEl>
                                          <p:spTgt spid="45"/>
                                        </p:tgtEl>
                                        <p:attrNameLst>
                                          <p:attrName>ppt_x</p:attrName>
                                        </p:attrNameLst>
                                      </p:cBhvr>
                                      <p:tavLst>
                                        <p:tav tm="0">
                                          <p:val>
                                            <p:strVal val="#ppt_x"/>
                                          </p:val>
                                        </p:tav>
                                        <p:tav tm="100000">
                                          <p:val>
                                            <p:strVal val="#ppt_x"/>
                                          </p:val>
                                        </p:tav>
                                      </p:tavLst>
                                    </p:anim>
                                    <p:anim calcmode="lin" valueType="num">
                                      <p:cBhvr>
                                        <p:cTn id="191" dur="500" decel="100000" fill="hold"/>
                                        <p:tgtEl>
                                          <p:spTgt spid="45"/>
                                        </p:tgtEl>
                                        <p:attrNameLst>
                                          <p:attrName>ppt_y</p:attrName>
                                        </p:attrNameLst>
                                      </p:cBhvr>
                                      <p:tavLst>
                                        <p:tav tm="0">
                                          <p:val>
                                            <p:strVal val="#ppt_y+.06"/>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46"/>
                                        </p:tgtEl>
                                        <p:attrNameLst>
                                          <p:attrName>style.visibility</p:attrName>
                                        </p:attrNameLst>
                                      </p:cBhvr>
                                      <p:to>
                                        <p:strVal val="visible"/>
                                      </p:to>
                                    </p:set>
                                    <p:animEffect transition="in" filter="fade">
                                      <p:cBhvr>
                                        <p:cTn id="196" dur="500"/>
                                        <p:tgtEl>
                                          <p:spTgt spid="46"/>
                                        </p:tgtEl>
                                      </p:cBhvr>
                                    </p:animEffect>
                                    <p:anim calcmode="lin" valueType="num">
                                      <p:cBhvr>
                                        <p:cTn id="197" dur="500" fill="hold"/>
                                        <p:tgtEl>
                                          <p:spTgt spid="46"/>
                                        </p:tgtEl>
                                        <p:attrNameLst>
                                          <p:attrName>ppt_x</p:attrName>
                                        </p:attrNameLst>
                                      </p:cBhvr>
                                      <p:tavLst>
                                        <p:tav tm="0">
                                          <p:val>
                                            <p:strVal val="#ppt_x"/>
                                          </p:val>
                                        </p:tav>
                                        <p:tav tm="100000">
                                          <p:val>
                                            <p:strVal val="#ppt_x"/>
                                          </p:val>
                                        </p:tav>
                                      </p:tavLst>
                                    </p:anim>
                                    <p:anim calcmode="lin" valueType="num">
                                      <p:cBhvr>
                                        <p:cTn id="198" dur="500" decel="100000" fill="hold"/>
                                        <p:tgtEl>
                                          <p:spTgt spid="46"/>
                                        </p:tgtEl>
                                        <p:attrNameLst>
                                          <p:attrName>ppt_y</p:attrName>
                                        </p:attrNameLst>
                                      </p:cBhvr>
                                      <p:tavLst>
                                        <p:tav tm="0">
                                          <p:val>
                                            <p:strVal val="#ppt_y+.06"/>
                                          </p:val>
                                        </p:tav>
                                        <p:tav tm="100000">
                                          <p:val>
                                            <p:strVal val="#ppt_y"/>
                                          </p:val>
                                        </p:tav>
                                      </p:tavLst>
                                    </p:anim>
                                  </p:childTnLst>
                                </p:cTn>
                              </p:par>
                              <p:par>
                                <p:cTn id="199" presetID="42" presetClass="entr" presetSubtype="0" fill="hold" grpId="0" nodeType="withEffect">
                                  <p:stCondLst>
                                    <p:cond delay="0"/>
                                  </p:stCondLst>
                                  <p:childTnLst>
                                    <p:set>
                                      <p:cBhvr>
                                        <p:cTn id="200" dur="1" fill="hold">
                                          <p:stCondLst>
                                            <p:cond delay="0"/>
                                          </p:stCondLst>
                                        </p:cTn>
                                        <p:tgtEl>
                                          <p:spTgt spid="47"/>
                                        </p:tgtEl>
                                        <p:attrNameLst>
                                          <p:attrName>style.visibility</p:attrName>
                                        </p:attrNameLst>
                                      </p:cBhvr>
                                      <p:to>
                                        <p:strVal val="visible"/>
                                      </p:to>
                                    </p:set>
                                    <p:animEffect transition="in" filter="fade">
                                      <p:cBhvr>
                                        <p:cTn id="201" dur="500"/>
                                        <p:tgtEl>
                                          <p:spTgt spid="47"/>
                                        </p:tgtEl>
                                      </p:cBhvr>
                                    </p:animEffect>
                                    <p:anim calcmode="lin" valueType="num">
                                      <p:cBhvr>
                                        <p:cTn id="202" dur="500" fill="hold"/>
                                        <p:tgtEl>
                                          <p:spTgt spid="47"/>
                                        </p:tgtEl>
                                        <p:attrNameLst>
                                          <p:attrName>ppt_x</p:attrName>
                                        </p:attrNameLst>
                                      </p:cBhvr>
                                      <p:tavLst>
                                        <p:tav tm="0">
                                          <p:val>
                                            <p:strVal val="#ppt_x"/>
                                          </p:val>
                                        </p:tav>
                                        <p:tav tm="100000">
                                          <p:val>
                                            <p:strVal val="#ppt_x"/>
                                          </p:val>
                                        </p:tav>
                                      </p:tavLst>
                                    </p:anim>
                                    <p:anim calcmode="lin" valueType="num">
                                      <p:cBhvr>
                                        <p:cTn id="203" dur="500" decel="100000" fill="hold"/>
                                        <p:tgtEl>
                                          <p:spTgt spid="47"/>
                                        </p:tgtEl>
                                        <p:attrNameLst>
                                          <p:attrName>ppt_y</p:attrName>
                                        </p:attrNameLst>
                                      </p:cBhvr>
                                      <p:tavLst>
                                        <p:tav tm="0">
                                          <p:val>
                                            <p:strVal val="#ppt_y+.06"/>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48"/>
                                        </p:tgtEl>
                                        <p:attrNameLst>
                                          <p:attrName>style.visibility</p:attrName>
                                        </p:attrNameLst>
                                      </p:cBhvr>
                                      <p:to>
                                        <p:strVal val="visible"/>
                                      </p:to>
                                    </p:set>
                                    <p:animEffect transition="in" filter="fade">
                                      <p:cBhvr>
                                        <p:cTn id="206" dur="500"/>
                                        <p:tgtEl>
                                          <p:spTgt spid="48"/>
                                        </p:tgtEl>
                                      </p:cBhvr>
                                    </p:animEffect>
                                    <p:anim calcmode="lin" valueType="num">
                                      <p:cBhvr>
                                        <p:cTn id="207" dur="500" fill="hold"/>
                                        <p:tgtEl>
                                          <p:spTgt spid="48"/>
                                        </p:tgtEl>
                                        <p:attrNameLst>
                                          <p:attrName>ppt_x</p:attrName>
                                        </p:attrNameLst>
                                      </p:cBhvr>
                                      <p:tavLst>
                                        <p:tav tm="0">
                                          <p:val>
                                            <p:strVal val="#ppt_x"/>
                                          </p:val>
                                        </p:tav>
                                        <p:tav tm="100000">
                                          <p:val>
                                            <p:strVal val="#ppt_x"/>
                                          </p:val>
                                        </p:tav>
                                      </p:tavLst>
                                    </p:anim>
                                    <p:anim calcmode="lin" valueType="num">
                                      <p:cBhvr>
                                        <p:cTn id="208" dur="500" decel="100000" fill="hold"/>
                                        <p:tgtEl>
                                          <p:spTgt spid="48"/>
                                        </p:tgtEl>
                                        <p:attrNameLst>
                                          <p:attrName>ppt_y</p:attrName>
                                        </p:attrNameLst>
                                      </p:cBhvr>
                                      <p:tavLst>
                                        <p:tav tm="0">
                                          <p:val>
                                            <p:strVal val="#ppt_y+.06"/>
                                          </p:val>
                                        </p:tav>
                                        <p:tav tm="100000">
                                          <p:val>
                                            <p:strVal val="#ppt_y"/>
                                          </p:val>
                                        </p:tav>
                                      </p:tavLst>
                                    </p:anim>
                                  </p:childTnLst>
                                </p:cTn>
                              </p:par>
                              <p:par>
                                <p:cTn id="209" presetID="42" presetClass="entr" presetSubtype="0" fill="hold" grpId="0" nodeType="withEffect">
                                  <p:stCondLst>
                                    <p:cond delay="0"/>
                                  </p:stCondLst>
                                  <p:childTnLst>
                                    <p:set>
                                      <p:cBhvr>
                                        <p:cTn id="210" dur="1" fill="hold">
                                          <p:stCondLst>
                                            <p:cond delay="0"/>
                                          </p:stCondLst>
                                        </p:cTn>
                                        <p:tgtEl>
                                          <p:spTgt spid="49"/>
                                        </p:tgtEl>
                                        <p:attrNameLst>
                                          <p:attrName>style.visibility</p:attrName>
                                        </p:attrNameLst>
                                      </p:cBhvr>
                                      <p:to>
                                        <p:strVal val="visible"/>
                                      </p:to>
                                    </p:set>
                                    <p:animEffect transition="in" filter="fade">
                                      <p:cBhvr>
                                        <p:cTn id="211" dur="500"/>
                                        <p:tgtEl>
                                          <p:spTgt spid="49"/>
                                        </p:tgtEl>
                                      </p:cBhvr>
                                    </p:animEffect>
                                    <p:anim calcmode="lin" valueType="num">
                                      <p:cBhvr>
                                        <p:cTn id="212" dur="500" fill="hold"/>
                                        <p:tgtEl>
                                          <p:spTgt spid="49"/>
                                        </p:tgtEl>
                                        <p:attrNameLst>
                                          <p:attrName>ppt_x</p:attrName>
                                        </p:attrNameLst>
                                      </p:cBhvr>
                                      <p:tavLst>
                                        <p:tav tm="0">
                                          <p:val>
                                            <p:strVal val="#ppt_x"/>
                                          </p:val>
                                        </p:tav>
                                        <p:tav tm="100000">
                                          <p:val>
                                            <p:strVal val="#ppt_x"/>
                                          </p:val>
                                        </p:tav>
                                      </p:tavLst>
                                    </p:anim>
                                    <p:anim calcmode="lin" valueType="num">
                                      <p:cBhvr>
                                        <p:cTn id="213" dur="500" decel="100000" fill="hold"/>
                                        <p:tgtEl>
                                          <p:spTgt spid="49"/>
                                        </p:tgtEl>
                                        <p:attrNameLst>
                                          <p:attrName>ppt_y</p:attrName>
                                        </p:attrNameLst>
                                      </p:cBhvr>
                                      <p:tavLst>
                                        <p:tav tm="0">
                                          <p:val>
                                            <p:strVal val="#ppt_y+.06"/>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50"/>
                                        </p:tgtEl>
                                        <p:attrNameLst>
                                          <p:attrName>style.visibility</p:attrName>
                                        </p:attrNameLst>
                                      </p:cBhvr>
                                      <p:to>
                                        <p:strVal val="visible"/>
                                      </p:to>
                                    </p:set>
                                    <p:animEffect transition="in" filter="fade">
                                      <p:cBhvr>
                                        <p:cTn id="216" dur="500"/>
                                        <p:tgtEl>
                                          <p:spTgt spid="50"/>
                                        </p:tgtEl>
                                      </p:cBhvr>
                                    </p:animEffect>
                                    <p:anim calcmode="lin" valueType="num">
                                      <p:cBhvr>
                                        <p:cTn id="217" dur="500" fill="hold"/>
                                        <p:tgtEl>
                                          <p:spTgt spid="50"/>
                                        </p:tgtEl>
                                        <p:attrNameLst>
                                          <p:attrName>ppt_x</p:attrName>
                                        </p:attrNameLst>
                                      </p:cBhvr>
                                      <p:tavLst>
                                        <p:tav tm="0">
                                          <p:val>
                                            <p:strVal val="#ppt_x"/>
                                          </p:val>
                                        </p:tav>
                                        <p:tav tm="100000">
                                          <p:val>
                                            <p:strVal val="#ppt_x"/>
                                          </p:val>
                                        </p:tav>
                                      </p:tavLst>
                                    </p:anim>
                                    <p:anim calcmode="lin" valueType="num">
                                      <p:cBhvr>
                                        <p:cTn id="218" dur="500" decel="100000" fill="hold"/>
                                        <p:tgtEl>
                                          <p:spTgt spid="50"/>
                                        </p:tgtEl>
                                        <p:attrNameLst>
                                          <p:attrName>ppt_y</p:attrName>
                                        </p:attrNameLst>
                                      </p:cBhvr>
                                      <p:tavLst>
                                        <p:tav tm="0">
                                          <p:val>
                                            <p:strVal val="#ppt_y+.06"/>
                                          </p:val>
                                        </p:tav>
                                        <p:tav tm="100000">
                                          <p:val>
                                            <p:strVal val="#ppt_y"/>
                                          </p:val>
                                        </p:tav>
                                      </p:tavLst>
                                    </p:anim>
                                  </p:childTnLst>
                                </p:cTn>
                              </p:par>
                              <p:par>
                                <p:cTn id="219" presetID="42" presetClass="entr" presetSubtype="0" fill="hold" grpId="0" nodeType="withEffect">
                                  <p:stCondLst>
                                    <p:cond delay="0"/>
                                  </p:stCondLst>
                                  <p:childTnLst>
                                    <p:set>
                                      <p:cBhvr>
                                        <p:cTn id="220" dur="1" fill="hold">
                                          <p:stCondLst>
                                            <p:cond delay="0"/>
                                          </p:stCondLst>
                                        </p:cTn>
                                        <p:tgtEl>
                                          <p:spTgt spid="51"/>
                                        </p:tgtEl>
                                        <p:attrNameLst>
                                          <p:attrName>style.visibility</p:attrName>
                                        </p:attrNameLst>
                                      </p:cBhvr>
                                      <p:to>
                                        <p:strVal val="visible"/>
                                      </p:to>
                                    </p:set>
                                    <p:animEffect transition="in" filter="fade">
                                      <p:cBhvr>
                                        <p:cTn id="221" dur="500"/>
                                        <p:tgtEl>
                                          <p:spTgt spid="51"/>
                                        </p:tgtEl>
                                      </p:cBhvr>
                                    </p:animEffect>
                                    <p:anim calcmode="lin" valueType="num">
                                      <p:cBhvr>
                                        <p:cTn id="222" dur="500" fill="hold"/>
                                        <p:tgtEl>
                                          <p:spTgt spid="51"/>
                                        </p:tgtEl>
                                        <p:attrNameLst>
                                          <p:attrName>ppt_x</p:attrName>
                                        </p:attrNameLst>
                                      </p:cBhvr>
                                      <p:tavLst>
                                        <p:tav tm="0">
                                          <p:val>
                                            <p:strVal val="#ppt_x"/>
                                          </p:val>
                                        </p:tav>
                                        <p:tav tm="100000">
                                          <p:val>
                                            <p:strVal val="#ppt_x"/>
                                          </p:val>
                                        </p:tav>
                                      </p:tavLst>
                                    </p:anim>
                                    <p:anim calcmode="lin" valueType="num">
                                      <p:cBhvr>
                                        <p:cTn id="223" dur="500" decel="100000" fill="hold"/>
                                        <p:tgtEl>
                                          <p:spTgt spid="51"/>
                                        </p:tgtEl>
                                        <p:attrNameLst>
                                          <p:attrName>ppt_y</p:attrName>
                                        </p:attrNameLst>
                                      </p:cBhvr>
                                      <p:tavLst>
                                        <p:tav tm="0">
                                          <p:val>
                                            <p:strVal val="#ppt_y+.06"/>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52"/>
                                        </p:tgtEl>
                                        <p:attrNameLst>
                                          <p:attrName>style.visibility</p:attrName>
                                        </p:attrNameLst>
                                      </p:cBhvr>
                                      <p:to>
                                        <p:strVal val="visible"/>
                                      </p:to>
                                    </p:set>
                                    <p:animEffect transition="in" filter="fade">
                                      <p:cBhvr>
                                        <p:cTn id="226" dur="500"/>
                                        <p:tgtEl>
                                          <p:spTgt spid="52"/>
                                        </p:tgtEl>
                                      </p:cBhvr>
                                    </p:animEffect>
                                    <p:anim calcmode="lin" valueType="num">
                                      <p:cBhvr>
                                        <p:cTn id="227" dur="500" fill="hold"/>
                                        <p:tgtEl>
                                          <p:spTgt spid="52"/>
                                        </p:tgtEl>
                                        <p:attrNameLst>
                                          <p:attrName>ppt_x</p:attrName>
                                        </p:attrNameLst>
                                      </p:cBhvr>
                                      <p:tavLst>
                                        <p:tav tm="0">
                                          <p:val>
                                            <p:strVal val="#ppt_x"/>
                                          </p:val>
                                        </p:tav>
                                        <p:tav tm="100000">
                                          <p:val>
                                            <p:strVal val="#ppt_x"/>
                                          </p:val>
                                        </p:tav>
                                      </p:tavLst>
                                    </p:anim>
                                    <p:anim calcmode="lin" valueType="num">
                                      <p:cBhvr>
                                        <p:cTn id="228" dur="500" decel="100000" fill="hold"/>
                                        <p:tgtEl>
                                          <p:spTgt spid="52"/>
                                        </p:tgtEl>
                                        <p:attrNameLst>
                                          <p:attrName>ppt_y</p:attrName>
                                        </p:attrNameLst>
                                      </p:cBhvr>
                                      <p:tavLst>
                                        <p:tav tm="0">
                                          <p:val>
                                            <p:strVal val="#ppt_y+.06"/>
                                          </p:val>
                                        </p:tav>
                                        <p:tav tm="100000">
                                          <p:val>
                                            <p:strVal val="#ppt_y"/>
                                          </p:val>
                                        </p:tav>
                                      </p:tavLst>
                                    </p:anim>
                                  </p:childTnLst>
                                </p:cTn>
                              </p:par>
                              <p:par>
                                <p:cTn id="229" presetID="42" presetClass="entr" presetSubtype="0" fill="hold" grpId="0" nodeType="withEffect">
                                  <p:stCondLst>
                                    <p:cond delay="0"/>
                                  </p:stCondLst>
                                  <p:childTnLst>
                                    <p:set>
                                      <p:cBhvr>
                                        <p:cTn id="230" dur="1" fill="hold">
                                          <p:stCondLst>
                                            <p:cond delay="0"/>
                                          </p:stCondLst>
                                        </p:cTn>
                                        <p:tgtEl>
                                          <p:spTgt spid="53"/>
                                        </p:tgtEl>
                                        <p:attrNameLst>
                                          <p:attrName>style.visibility</p:attrName>
                                        </p:attrNameLst>
                                      </p:cBhvr>
                                      <p:to>
                                        <p:strVal val="visible"/>
                                      </p:to>
                                    </p:set>
                                    <p:animEffect transition="in" filter="fade">
                                      <p:cBhvr>
                                        <p:cTn id="231" dur="500"/>
                                        <p:tgtEl>
                                          <p:spTgt spid="53"/>
                                        </p:tgtEl>
                                      </p:cBhvr>
                                    </p:animEffect>
                                    <p:anim calcmode="lin" valueType="num">
                                      <p:cBhvr>
                                        <p:cTn id="232" dur="500" fill="hold"/>
                                        <p:tgtEl>
                                          <p:spTgt spid="53"/>
                                        </p:tgtEl>
                                        <p:attrNameLst>
                                          <p:attrName>ppt_x</p:attrName>
                                        </p:attrNameLst>
                                      </p:cBhvr>
                                      <p:tavLst>
                                        <p:tav tm="0">
                                          <p:val>
                                            <p:strVal val="#ppt_x"/>
                                          </p:val>
                                        </p:tav>
                                        <p:tav tm="100000">
                                          <p:val>
                                            <p:strVal val="#ppt_x"/>
                                          </p:val>
                                        </p:tav>
                                      </p:tavLst>
                                    </p:anim>
                                    <p:anim calcmode="lin" valueType="num">
                                      <p:cBhvr>
                                        <p:cTn id="233" dur="500" decel="100000" fill="hold"/>
                                        <p:tgtEl>
                                          <p:spTgt spid="53"/>
                                        </p:tgtEl>
                                        <p:attrNameLst>
                                          <p:attrName>ppt_y</p:attrName>
                                        </p:attrNameLst>
                                      </p:cBhvr>
                                      <p:tavLst>
                                        <p:tav tm="0">
                                          <p:val>
                                            <p:strVal val="#ppt_y+.06"/>
                                          </p:val>
                                        </p:tav>
                                        <p:tav tm="100000">
                                          <p:val>
                                            <p:strVal val="#ppt_y"/>
                                          </p:val>
                                        </p:tav>
                                      </p:tavLst>
                                    </p:anim>
                                  </p:childTnLst>
                                </p:cTn>
                              </p:par>
                              <p:par>
                                <p:cTn id="234" presetID="42" presetClass="entr" presetSubtype="0" fill="hold" grpId="0" nodeType="withEffect">
                                  <p:stCondLst>
                                    <p:cond delay="0"/>
                                  </p:stCondLst>
                                  <p:childTnLst>
                                    <p:set>
                                      <p:cBhvr>
                                        <p:cTn id="235" dur="1" fill="hold">
                                          <p:stCondLst>
                                            <p:cond delay="0"/>
                                          </p:stCondLst>
                                        </p:cTn>
                                        <p:tgtEl>
                                          <p:spTgt spid="54"/>
                                        </p:tgtEl>
                                        <p:attrNameLst>
                                          <p:attrName>style.visibility</p:attrName>
                                        </p:attrNameLst>
                                      </p:cBhvr>
                                      <p:to>
                                        <p:strVal val="visible"/>
                                      </p:to>
                                    </p:set>
                                    <p:animEffect transition="in" filter="fade">
                                      <p:cBhvr>
                                        <p:cTn id="236" dur="500"/>
                                        <p:tgtEl>
                                          <p:spTgt spid="54"/>
                                        </p:tgtEl>
                                      </p:cBhvr>
                                    </p:animEffect>
                                    <p:anim calcmode="lin" valueType="num">
                                      <p:cBhvr>
                                        <p:cTn id="237" dur="500" fill="hold"/>
                                        <p:tgtEl>
                                          <p:spTgt spid="54"/>
                                        </p:tgtEl>
                                        <p:attrNameLst>
                                          <p:attrName>ppt_x</p:attrName>
                                        </p:attrNameLst>
                                      </p:cBhvr>
                                      <p:tavLst>
                                        <p:tav tm="0">
                                          <p:val>
                                            <p:strVal val="#ppt_x"/>
                                          </p:val>
                                        </p:tav>
                                        <p:tav tm="100000">
                                          <p:val>
                                            <p:strVal val="#ppt_x"/>
                                          </p:val>
                                        </p:tav>
                                      </p:tavLst>
                                    </p:anim>
                                    <p:anim calcmode="lin" valueType="num">
                                      <p:cBhvr>
                                        <p:cTn id="238" dur="500" decel="100000" fill="hold"/>
                                        <p:tgtEl>
                                          <p:spTgt spid="54"/>
                                        </p:tgtEl>
                                        <p:attrNameLst>
                                          <p:attrName>ppt_y</p:attrName>
                                        </p:attrNameLst>
                                      </p:cBhvr>
                                      <p:tavLst>
                                        <p:tav tm="0">
                                          <p:val>
                                            <p:strVal val="#ppt_y+.06"/>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55"/>
                                        </p:tgtEl>
                                        <p:attrNameLst>
                                          <p:attrName>style.visibility</p:attrName>
                                        </p:attrNameLst>
                                      </p:cBhvr>
                                      <p:to>
                                        <p:strVal val="visible"/>
                                      </p:to>
                                    </p:set>
                                    <p:animEffect transition="in" filter="fade">
                                      <p:cBhvr>
                                        <p:cTn id="241" dur="500"/>
                                        <p:tgtEl>
                                          <p:spTgt spid="55"/>
                                        </p:tgtEl>
                                      </p:cBhvr>
                                    </p:animEffect>
                                    <p:anim calcmode="lin" valueType="num">
                                      <p:cBhvr>
                                        <p:cTn id="242" dur="500" fill="hold"/>
                                        <p:tgtEl>
                                          <p:spTgt spid="55"/>
                                        </p:tgtEl>
                                        <p:attrNameLst>
                                          <p:attrName>ppt_x</p:attrName>
                                        </p:attrNameLst>
                                      </p:cBhvr>
                                      <p:tavLst>
                                        <p:tav tm="0">
                                          <p:val>
                                            <p:strVal val="#ppt_x"/>
                                          </p:val>
                                        </p:tav>
                                        <p:tav tm="100000">
                                          <p:val>
                                            <p:strVal val="#ppt_x"/>
                                          </p:val>
                                        </p:tav>
                                      </p:tavLst>
                                    </p:anim>
                                    <p:anim calcmode="lin" valueType="num">
                                      <p:cBhvr>
                                        <p:cTn id="243" dur="500" decel="100000" fill="hold"/>
                                        <p:tgtEl>
                                          <p:spTgt spid="55"/>
                                        </p:tgtEl>
                                        <p:attrNameLst>
                                          <p:attrName>ppt_y</p:attrName>
                                        </p:attrNameLst>
                                      </p:cBhvr>
                                      <p:tavLst>
                                        <p:tav tm="0">
                                          <p:val>
                                            <p:strVal val="#ppt_y+.06"/>
                                          </p:val>
                                        </p:tav>
                                        <p:tav tm="100000">
                                          <p:val>
                                            <p:strVal val="#ppt_y"/>
                                          </p:val>
                                        </p:tav>
                                      </p:tavLst>
                                    </p:anim>
                                  </p:childTnLst>
                                </p:cTn>
                              </p:par>
                              <p:par>
                                <p:cTn id="244" presetID="42" presetClass="entr" presetSubtype="0" fill="hold" grpId="0" nodeType="withEffect">
                                  <p:stCondLst>
                                    <p:cond delay="0"/>
                                  </p:stCondLst>
                                  <p:childTnLst>
                                    <p:set>
                                      <p:cBhvr>
                                        <p:cTn id="245" dur="1" fill="hold">
                                          <p:stCondLst>
                                            <p:cond delay="0"/>
                                          </p:stCondLst>
                                        </p:cTn>
                                        <p:tgtEl>
                                          <p:spTgt spid="56"/>
                                        </p:tgtEl>
                                        <p:attrNameLst>
                                          <p:attrName>style.visibility</p:attrName>
                                        </p:attrNameLst>
                                      </p:cBhvr>
                                      <p:to>
                                        <p:strVal val="visible"/>
                                      </p:to>
                                    </p:set>
                                    <p:animEffect transition="in" filter="fade">
                                      <p:cBhvr>
                                        <p:cTn id="246" dur="500"/>
                                        <p:tgtEl>
                                          <p:spTgt spid="56"/>
                                        </p:tgtEl>
                                      </p:cBhvr>
                                    </p:animEffect>
                                    <p:anim calcmode="lin" valueType="num">
                                      <p:cBhvr>
                                        <p:cTn id="247" dur="500" fill="hold"/>
                                        <p:tgtEl>
                                          <p:spTgt spid="56"/>
                                        </p:tgtEl>
                                        <p:attrNameLst>
                                          <p:attrName>ppt_x</p:attrName>
                                        </p:attrNameLst>
                                      </p:cBhvr>
                                      <p:tavLst>
                                        <p:tav tm="0">
                                          <p:val>
                                            <p:strVal val="#ppt_x"/>
                                          </p:val>
                                        </p:tav>
                                        <p:tav tm="100000">
                                          <p:val>
                                            <p:strVal val="#ppt_x"/>
                                          </p:val>
                                        </p:tav>
                                      </p:tavLst>
                                    </p:anim>
                                    <p:anim calcmode="lin" valueType="num">
                                      <p:cBhvr>
                                        <p:cTn id="248" dur="500" decel="100000" fill="hold"/>
                                        <p:tgtEl>
                                          <p:spTgt spid="56"/>
                                        </p:tgtEl>
                                        <p:attrNameLst>
                                          <p:attrName>ppt_y</p:attrName>
                                        </p:attrNameLst>
                                      </p:cBhvr>
                                      <p:tavLst>
                                        <p:tav tm="0">
                                          <p:val>
                                            <p:strVal val="#ppt_y+.06"/>
                                          </p:val>
                                        </p:tav>
                                        <p:tav tm="100000">
                                          <p:val>
                                            <p:strVal val="#ppt_y"/>
                                          </p:val>
                                        </p:tav>
                                      </p:tavLst>
                                    </p:anim>
                                  </p:childTnLst>
                                </p:cTn>
                              </p:par>
                              <p:par>
                                <p:cTn id="249" presetID="42" presetClass="entr" presetSubtype="0" fill="hold" grpId="0" nodeType="withEffect">
                                  <p:stCondLst>
                                    <p:cond delay="0"/>
                                  </p:stCondLst>
                                  <p:childTnLst>
                                    <p:set>
                                      <p:cBhvr>
                                        <p:cTn id="250" dur="1" fill="hold">
                                          <p:stCondLst>
                                            <p:cond delay="0"/>
                                          </p:stCondLst>
                                        </p:cTn>
                                        <p:tgtEl>
                                          <p:spTgt spid="57"/>
                                        </p:tgtEl>
                                        <p:attrNameLst>
                                          <p:attrName>style.visibility</p:attrName>
                                        </p:attrNameLst>
                                      </p:cBhvr>
                                      <p:to>
                                        <p:strVal val="visible"/>
                                      </p:to>
                                    </p:set>
                                    <p:animEffect transition="in" filter="fade">
                                      <p:cBhvr>
                                        <p:cTn id="251" dur="500"/>
                                        <p:tgtEl>
                                          <p:spTgt spid="57"/>
                                        </p:tgtEl>
                                      </p:cBhvr>
                                    </p:animEffect>
                                    <p:anim calcmode="lin" valueType="num">
                                      <p:cBhvr>
                                        <p:cTn id="252" dur="500" fill="hold"/>
                                        <p:tgtEl>
                                          <p:spTgt spid="57"/>
                                        </p:tgtEl>
                                        <p:attrNameLst>
                                          <p:attrName>ppt_x</p:attrName>
                                        </p:attrNameLst>
                                      </p:cBhvr>
                                      <p:tavLst>
                                        <p:tav tm="0">
                                          <p:val>
                                            <p:strVal val="#ppt_x"/>
                                          </p:val>
                                        </p:tav>
                                        <p:tav tm="100000">
                                          <p:val>
                                            <p:strVal val="#ppt_x"/>
                                          </p:val>
                                        </p:tav>
                                      </p:tavLst>
                                    </p:anim>
                                    <p:anim calcmode="lin" valueType="num">
                                      <p:cBhvr>
                                        <p:cTn id="253" dur="500" decel="100000" fill="hold"/>
                                        <p:tgtEl>
                                          <p:spTgt spid="57"/>
                                        </p:tgtEl>
                                        <p:attrNameLst>
                                          <p:attrName>ppt_y</p:attrName>
                                        </p:attrNameLst>
                                      </p:cBhvr>
                                      <p:tavLst>
                                        <p:tav tm="0">
                                          <p:val>
                                            <p:strVal val="#ppt_y+.06"/>
                                          </p:val>
                                        </p:tav>
                                        <p:tav tm="100000">
                                          <p:val>
                                            <p:strVal val="#ppt_y"/>
                                          </p:val>
                                        </p:tav>
                                      </p:tavLst>
                                    </p:anim>
                                  </p:childTnLst>
                                </p:cTn>
                              </p:par>
                            </p:childTnLst>
                          </p:cTn>
                        </p:par>
                      </p:childTnLst>
                    </p:cTn>
                  </p:par>
                  <p:par>
                    <p:cTn id="266" fill="hold">
                      <p:stCondLst>
                        <p:cond delay="indefinite"/>
                      </p:stCondLst>
                      <p:childTnLst>
                        <p:par>
                          <p:cTn id="267" fill="hold">
                            <p:stCondLst>
                              <p:cond delay="0"/>
                            </p:stCondLst>
                            <p:childTnLst>
                              <p:par>
                                <p:cTn id="256" presetID="42" presetClass="entr" presetSubtype="0" fill="hold" grpId="0" nodeType="clickEffect">
                                  <p:stCondLst>
                                    <p:cond delay="0"/>
                                  </p:stCondLst>
                                  <p:childTnLst>
                                    <p:set>
                                      <p:cBhvr>
                                        <p:cTn id="257" dur="1" fill="hold">
                                          <p:stCondLst>
                                            <p:cond delay="0"/>
                                          </p:stCondLst>
                                        </p:cTn>
                                        <p:tgtEl>
                                          <p:spTgt spid="58"/>
                                        </p:tgtEl>
                                        <p:attrNameLst>
                                          <p:attrName>style.visibility</p:attrName>
                                        </p:attrNameLst>
                                      </p:cBhvr>
                                      <p:to>
                                        <p:strVal val="visible"/>
                                      </p:to>
                                    </p:set>
                                    <p:animEffect transition="in" filter="fade">
                                      <p:cBhvr>
                                        <p:cTn id="258" dur="500"/>
                                        <p:tgtEl>
                                          <p:spTgt spid="58"/>
                                        </p:tgtEl>
                                      </p:cBhvr>
                                    </p:animEffect>
                                    <p:anim calcmode="lin" valueType="num">
                                      <p:cBhvr>
                                        <p:cTn id="259" dur="500" fill="hold"/>
                                        <p:tgtEl>
                                          <p:spTgt spid="58"/>
                                        </p:tgtEl>
                                        <p:attrNameLst>
                                          <p:attrName>ppt_x</p:attrName>
                                        </p:attrNameLst>
                                      </p:cBhvr>
                                      <p:tavLst>
                                        <p:tav tm="0">
                                          <p:val>
                                            <p:strVal val="#ppt_x"/>
                                          </p:val>
                                        </p:tav>
                                        <p:tav tm="100000">
                                          <p:val>
                                            <p:strVal val="#ppt_x"/>
                                          </p:val>
                                        </p:tav>
                                      </p:tavLst>
                                    </p:anim>
                                    <p:anim calcmode="lin" valueType="num">
                                      <p:cBhvr>
                                        <p:cTn id="260" dur="500" decel="100000" fill="hold"/>
                                        <p:tgtEl>
                                          <p:spTgt spid="58"/>
                                        </p:tgtEl>
                                        <p:attrNameLst>
                                          <p:attrName>ppt_y</p:attrName>
                                        </p:attrNameLst>
                                      </p:cBhvr>
                                      <p:tavLst>
                                        <p:tav tm="0">
                                          <p:val>
                                            <p:strVal val="#ppt_y+.06"/>
                                          </p:val>
                                        </p:tav>
                                        <p:tav tm="100000">
                                          <p:val>
                                            <p:strVal val="#ppt_y"/>
                                          </p:val>
                                        </p:tav>
                                      </p:tavLst>
                                    </p:anim>
                                  </p:childTnLst>
                                </p:cTn>
                              </p:par>
                              <p:par>
                                <p:cTn id="261" presetID="42" presetClass="entr" presetSubtype="0" fill="hold" grpId="0" nodeType="withEffect">
                                  <p:stCondLst>
                                    <p:cond delay="0"/>
                                  </p:stCondLst>
                                  <p:childTnLst>
                                    <p:set>
                                      <p:cBhvr>
                                        <p:cTn id="262" dur="1" fill="hold">
                                          <p:stCondLst>
                                            <p:cond delay="0"/>
                                          </p:stCondLst>
                                        </p:cTn>
                                        <p:tgtEl>
                                          <p:spTgt spid="59"/>
                                        </p:tgtEl>
                                        <p:attrNameLst>
                                          <p:attrName>style.visibility</p:attrName>
                                        </p:attrNameLst>
                                      </p:cBhvr>
                                      <p:to>
                                        <p:strVal val="visible"/>
                                      </p:to>
                                    </p:set>
                                    <p:animEffect transition="in" filter="fade">
                                      <p:cBhvr>
                                        <p:cTn id="263" dur="500"/>
                                        <p:tgtEl>
                                          <p:spTgt spid="59"/>
                                        </p:tgtEl>
                                      </p:cBhvr>
                                    </p:animEffect>
                                    <p:anim calcmode="lin" valueType="num">
                                      <p:cBhvr>
                                        <p:cTn id="264" dur="500" fill="hold"/>
                                        <p:tgtEl>
                                          <p:spTgt spid="59"/>
                                        </p:tgtEl>
                                        <p:attrNameLst>
                                          <p:attrName>ppt_x</p:attrName>
                                        </p:attrNameLst>
                                      </p:cBhvr>
                                      <p:tavLst>
                                        <p:tav tm="0">
                                          <p:val>
                                            <p:strVal val="#ppt_x"/>
                                          </p:val>
                                        </p:tav>
                                        <p:tav tm="100000">
                                          <p:val>
                                            <p:strVal val="#ppt_x"/>
                                          </p:val>
                                        </p:tav>
                                      </p:tavLst>
                                    </p:anim>
                                    <p:anim calcmode="lin" valueType="num">
                                      <p:cBhvr>
                                        <p:cTn id="265" dur="500" decel="100000" fill="hold"/>
                                        <p:tgtEl>
                                          <p:spTgt spid="5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10</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WHAT CHANGED IN 2022</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Predictive AI labels. Generative AI creates.</a:t>
            </a:r>
            <a:endParaRPr lang="en-US" sz="3400" dirty="0"/>
          </a:p>
        </p:txBody>
      </p:sp>
      <p:sp>
        <p:nvSpPr>
          <p:cNvPr id="8" name="a1_c"/>
          <p:cNvSpPr/>
          <p:nvPr/>
        </p:nvSpPr>
        <p:spPr>
          <a:xfrm>
            <a:off x="548640" y="1783080"/>
            <a:ext cx="5422392" cy="26060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ci_c"/>
          <p:cNvSpPr/>
          <p:nvPr/>
        </p:nvSpPr>
        <p:spPr>
          <a:xfrm>
            <a:off x="822960" y="2011680"/>
            <a:ext cx="685800" cy="685800"/>
          </a:xfrm>
          <a:prstGeom prst="ellipse">
            <a:avLst/>
          </a:prstGeom>
          <a:solidFill>
            <a:srgbClr val="4FC3F7">
              <a:alpha val="20000"/>
            </a:srgbClr>
          </a:solidFill>
          <a:ln w="19050">
            <a:solidFill>
              <a:srgbClr val="4FC3F7"/>
            </a:solidFill>
            <a:prstDash val="solid"/>
          </a:ln>
        </p:spPr>
      </p:sp>
      <p:pic>
        <p:nvPicPr>
          <p:cNvPr id="10" name="a1_ci_i" descr="preencoded.png">    </p:cNvPr>
          <p:cNvPicPr>
            <a:picLocks noChangeAspect="1"/>
          </p:cNvPicPr>
          <p:nvPr/>
        </p:nvPicPr>
        <p:blipFill>
          <a:blip r:embed="rId1"/>
          <a:stretch>
            <a:fillRect/>
          </a:stretch>
        </p:blipFill>
        <p:spPr>
          <a:xfrm>
            <a:off x="1001268" y="2189988"/>
            <a:ext cx="329184" cy="329184"/>
          </a:xfrm>
          <a:prstGeom prst="rect">
            <a:avLst/>
          </a:prstGeom>
        </p:spPr>
      </p:pic>
      <p:sp>
        <p:nvSpPr>
          <p:cNvPr id="11" name="a1_ct"/>
          <p:cNvSpPr txBox="1"/>
          <p:nvPr/>
        </p:nvSpPr>
        <p:spPr>
          <a:xfrm>
            <a:off x="1691640" y="2057400"/>
            <a:ext cx="4023360" cy="5943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Predictive AI</a:t>
            </a:r>
            <a:endParaRPr lang="en-US" sz="2200" dirty="0"/>
          </a:p>
        </p:txBody>
      </p:sp>
      <p:sp>
        <p:nvSpPr>
          <p:cNvPr id="12" name="a1_cq"/>
          <p:cNvSpPr txBox="1"/>
          <p:nvPr/>
        </p:nvSpPr>
        <p:spPr>
          <a:xfrm>
            <a:off x="822960" y="2834640"/>
            <a:ext cx="4846320" cy="365760"/>
          </a:xfrm>
          <a:prstGeom prst="rect">
            <a:avLst/>
          </a:prstGeom>
          <a:noFill/>
          <a:ln/>
        </p:spPr>
        <p:txBody>
          <a:bodyPr wrap="square" lIns="0" tIns="0" rIns="0" bIns="0" rtlCol="0" anchor="t"/>
          <a:lstStyle/>
          <a:p>
            <a:pPr indent="0" marL="0">
              <a:buNone/>
            </a:pPr>
            <a:r>
              <a:rPr lang="en-US" sz="1400" i="1" dirty="0">
                <a:solidFill>
                  <a:srgbClr val="A99BD6"/>
                </a:solidFill>
                <a:latin typeface="Calibri" pitchFamily="34" charset="0"/>
                <a:ea typeface="Calibri" pitchFamily="34" charset="-122"/>
                <a:cs typeface="Calibri" pitchFamily="34" charset="-120"/>
              </a:rPr>
              <a:t>“Is this transaction fraud?”</a:t>
            </a:r>
            <a:endParaRPr lang="en-US" sz="1400" dirty="0"/>
          </a:p>
        </p:txBody>
      </p:sp>
      <p:sp>
        <p:nvSpPr>
          <p:cNvPr id="13" name="a1_cab"/>
          <p:cNvSpPr/>
          <p:nvPr/>
        </p:nvSpPr>
        <p:spPr>
          <a:xfrm>
            <a:off x="822960" y="3200400"/>
            <a:ext cx="4873752" cy="685800"/>
          </a:xfrm>
          <a:prstGeom prst="roundRect">
            <a:avLst>
              <a:gd name="adj" fmla="val 10667"/>
            </a:avLst>
          </a:prstGeom>
          <a:solidFill>
            <a:srgbClr val="4FC3F7">
              <a:alpha val="18000"/>
            </a:srgbClr>
          </a:solidFill>
          <a:ln w="12700">
            <a:solidFill>
              <a:srgbClr val="4FC3F7"/>
            </a:solidFill>
            <a:prstDash val="solid"/>
          </a:ln>
        </p:spPr>
      </p:sp>
      <p:sp>
        <p:nvSpPr>
          <p:cNvPr id="14" name="a1_ca"/>
          <p:cNvSpPr txBox="1"/>
          <p:nvPr/>
        </p:nvSpPr>
        <p:spPr>
          <a:xfrm>
            <a:off x="960120" y="3200400"/>
            <a:ext cx="461772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Fraud · 94% confident</a:t>
            </a:r>
            <a:endParaRPr lang="en-US" sz="1600" dirty="0"/>
          </a:p>
        </p:txBody>
      </p:sp>
      <p:sp>
        <p:nvSpPr>
          <p:cNvPr id="15" name="a1_co"/>
          <p:cNvSpPr txBox="1"/>
          <p:nvPr/>
        </p:nvSpPr>
        <p:spPr>
          <a:xfrm>
            <a:off x="822960" y="3977640"/>
            <a:ext cx="4846320" cy="320040"/>
          </a:xfrm>
          <a:prstGeom prst="rect">
            <a:avLst/>
          </a:prstGeom>
          <a:noFill/>
          <a:ln/>
        </p:spPr>
        <p:txBody>
          <a:bodyPr wrap="square" lIns="0" tIns="0" rIns="0" bIns="0" rtlCol="0" anchor="t"/>
          <a:lstStyle/>
          <a:p>
            <a:pPr indent="0" marL="0">
              <a:buNone/>
            </a:pPr>
            <a:r>
              <a:rPr lang="en-US" sz="1300" b="1" dirty="0">
                <a:solidFill>
                  <a:srgbClr val="4FC3F7"/>
                </a:solidFill>
                <a:latin typeface="Calibri" pitchFamily="34" charset="0"/>
                <a:ea typeface="Calibri" pitchFamily="34" charset="-122"/>
                <a:cs typeface="Calibri" pitchFamily="34" charset="-120"/>
              </a:rPr>
              <a:t>Output: a label, a number, a score</a:t>
            </a:r>
            <a:endParaRPr lang="en-US" sz="1300" dirty="0"/>
          </a:p>
        </p:txBody>
      </p:sp>
      <p:sp>
        <p:nvSpPr>
          <p:cNvPr id="16" name="a2_c"/>
          <p:cNvSpPr/>
          <p:nvPr/>
        </p:nvSpPr>
        <p:spPr>
          <a:xfrm>
            <a:off x="6217920" y="1783080"/>
            <a:ext cx="5422392" cy="2606040"/>
          </a:xfrm>
          <a:prstGeom prst="roundRect">
            <a:avLst>
              <a:gd name="adj" fmla="val 421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7" name="a2_ci_c"/>
          <p:cNvSpPr/>
          <p:nvPr/>
        </p:nvSpPr>
        <p:spPr>
          <a:xfrm>
            <a:off x="6492240" y="2011680"/>
            <a:ext cx="685800" cy="685800"/>
          </a:xfrm>
          <a:prstGeom prst="ellipse">
            <a:avLst/>
          </a:prstGeom>
          <a:solidFill>
            <a:srgbClr val="FF5C8A">
              <a:alpha val="20000"/>
            </a:srgbClr>
          </a:solidFill>
          <a:ln w="19050">
            <a:solidFill>
              <a:srgbClr val="FF5C8A"/>
            </a:solidFill>
            <a:prstDash val="solid"/>
          </a:ln>
        </p:spPr>
      </p:sp>
      <p:pic>
        <p:nvPicPr>
          <p:cNvPr id="18" name="a2_ci_i" descr="preencoded.png">    </p:cNvPr>
          <p:cNvPicPr>
            <a:picLocks noChangeAspect="1"/>
          </p:cNvPicPr>
          <p:nvPr/>
        </p:nvPicPr>
        <p:blipFill>
          <a:blip r:embed="rId2"/>
          <a:stretch>
            <a:fillRect/>
          </a:stretch>
        </p:blipFill>
        <p:spPr>
          <a:xfrm>
            <a:off x="6670548" y="2189988"/>
            <a:ext cx="329184" cy="329184"/>
          </a:xfrm>
          <a:prstGeom prst="rect">
            <a:avLst/>
          </a:prstGeom>
        </p:spPr>
      </p:pic>
      <p:sp>
        <p:nvSpPr>
          <p:cNvPr id="19" name="a2_ct"/>
          <p:cNvSpPr txBox="1"/>
          <p:nvPr/>
        </p:nvSpPr>
        <p:spPr>
          <a:xfrm>
            <a:off x="7360920" y="2057400"/>
            <a:ext cx="4023360" cy="5943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Generative AI</a:t>
            </a:r>
            <a:endParaRPr lang="en-US" sz="2200" dirty="0"/>
          </a:p>
        </p:txBody>
      </p:sp>
      <p:sp>
        <p:nvSpPr>
          <p:cNvPr id="20" name="a2_cq"/>
          <p:cNvSpPr txBox="1"/>
          <p:nvPr/>
        </p:nvSpPr>
        <p:spPr>
          <a:xfrm>
            <a:off x="6492240" y="2834640"/>
            <a:ext cx="4846320" cy="365760"/>
          </a:xfrm>
          <a:prstGeom prst="rect">
            <a:avLst/>
          </a:prstGeom>
          <a:noFill/>
          <a:ln/>
        </p:spPr>
        <p:txBody>
          <a:bodyPr wrap="square" lIns="0" tIns="0" rIns="0" bIns="0" rtlCol="0" anchor="t"/>
          <a:lstStyle/>
          <a:p>
            <a:pPr indent="0" marL="0">
              <a:buNone/>
            </a:pPr>
            <a:r>
              <a:rPr lang="en-US" sz="1400" i="1" dirty="0">
                <a:solidFill>
                  <a:srgbClr val="A99BD6"/>
                </a:solidFill>
                <a:latin typeface="Calibri" pitchFamily="34" charset="0"/>
                <a:ea typeface="Calibri" pitchFamily="34" charset="-122"/>
                <a:cs typeface="Calibri" pitchFamily="34" charset="-120"/>
              </a:rPr>
              <a:t>“Reply politely to this angry customer.”</a:t>
            </a:r>
            <a:endParaRPr lang="en-US" sz="1400" dirty="0"/>
          </a:p>
        </p:txBody>
      </p:sp>
      <p:sp>
        <p:nvSpPr>
          <p:cNvPr id="21" name="a2_cab"/>
          <p:cNvSpPr/>
          <p:nvPr/>
        </p:nvSpPr>
        <p:spPr>
          <a:xfrm>
            <a:off x="6492240" y="3200400"/>
            <a:ext cx="4873752" cy="685800"/>
          </a:xfrm>
          <a:prstGeom prst="roundRect">
            <a:avLst>
              <a:gd name="adj" fmla="val 10667"/>
            </a:avLst>
          </a:prstGeom>
          <a:solidFill>
            <a:srgbClr val="FF5C8A">
              <a:alpha val="18000"/>
            </a:srgbClr>
          </a:solidFill>
          <a:ln w="12700">
            <a:solidFill>
              <a:srgbClr val="FF5C8A"/>
            </a:solidFill>
            <a:prstDash val="solid"/>
          </a:ln>
        </p:spPr>
      </p:sp>
      <p:sp>
        <p:nvSpPr>
          <p:cNvPr id="22" name="a2_ca"/>
          <p:cNvSpPr txBox="1"/>
          <p:nvPr/>
        </p:nvSpPr>
        <p:spPr>
          <a:xfrm>
            <a:off x="6629400" y="3200400"/>
            <a:ext cx="4617720"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“Hi Priya, I'm so sorry your order arrived late. I've refunded the delivery fee and…”</a:t>
            </a:r>
            <a:endParaRPr lang="en-US" sz="1250" dirty="0"/>
          </a:p>
        </p:txBody>
      </p:sp>
      <p:sp>
        <p:nvSpPr>
          <p:cNvPr id="23" name="a2_co"/>
          <p:cNvSpPr txBox="1"/>
          <p:nvPr/>
        </p:nvSpPr>
        <p:spPr>
          <a:xfrm>
            <a:off x="6492240" y="3977640"/>
            <a:ext cx="4846320" cy="320040"/>
          </a:xfrm>
          <a:prstGeom prst="rect">
            <a:avLst/>
          </a:prstGeom>
          <a:noFill/>
          <a:ln/>
        </p:spPr>
        <p:txBody>
          <a:bodyPr wrap="square" lIns="0" tIns="0" rIns="0" bIns="0" rtlCol="0" anchor="t"/>
          <a:lstStyle/>
          <a:p>
            <a:pPr indent="0" marL="0">
              <a:buNone/>
            </a:pPr>
            <a:r>
              <a:rPr lang="en-US" sz="1300" b="1" dirty="0">
                <a:solidFill>
                  <a:srgbClr val="FF5C8A"/>
                </a:solidFill>
                <a:latin typeface="Calibri" pitchFamily="34" charset="0"/>
                <a:ea typeface="Calibri" pitchFamily="34" charset="-122"/>
                <a:cs typeface="Calibri" pitchFamily="34" charset="-120"/>
              </a:rPr>
              <a:t>Output: brand-new content</a:t>
            </a:r>
            <a:endParaRPr lang="en-US" sz="1300" dirty="0"/>
          </a:p>
        </p:txBody>
      </p:sp>
      <p:sp>
        <p:nvSpPr>
          <p:cNvPr id="24" name="a3_m0"/>
          <p:cNvSpPr/>
          <p:nvPr/>
        </p:nvSpPr>
        <p:spPr>
          <a:xfrm>
            <a:off x="548640" y="4709160"/>
            <a:ext cx="2057400" cy="1417320"/>
          </a:xfrm>
          <a:prstGeom prst="roundRect">
            <a:avLst>
              <a:gd name="adj" fmla="val 7742"/>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25" name="a3_mi0" descr="preencoded.png">    </p:cNvPr>
          <p:cNvPicPr>
            <a:picLocks noChangeAspect="1"/>
          </p:cNvPicPr>
          <p:nvPr/>
        </p:nvPicPr>
        <p:blipFill>
          <a:blip r:embed="rId3"/>
          <a:stretch>
            <a:fillRect/>
          </a:stretch>
        </p:blipFill>
        <p:spPr>
          <a:xfrm>
            <a:off x="749808" y="4892040"/>
            <a:ext cx="365760" cy="365760"/>
          </a:xfrm>
          <a:prstGeom prst="rect">
            <a:avLst/>
          </a:prstGeom>
        </p:spPr>
      </p:pic>
      <p:sp>
        <p:nvSpPr>
          <p:cNvPr id="26" name="a3_mt0"/>
          <p:cNvSpPr txBox="1"/>
          <p:nvPr/>
        </p:nvSpPr>
        <p:spPr>
          <a:xfrm>
            <a:off x="1234440" y="4873752"/>
            <a:ext cx="12801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Text</a:t>
            </a:r>
            <a:endParaRPr lang="en-US" sz="1700" dirty="0"/>
          </a:p>
        </p:txBody>
      </p:sp>
      <p:sp>
        <p:nvSpPr>
          <p:cNvPr id="27" name="a3_md0"/>
          <p:cNvSpPr txBox="1"/>
          <p:nvPr/>
        </p:nvSpPr>
        <p:spPr>
          <a:xfrm>
            <a:off x="749808" y="5394960"/>
            <a:ext cx="1737360" cy="548640"/>
          </a:xfrm>
          <a:prstGeom prst="rect">
            <a:avLst/>
          </a:prstGeom>
          <a:noFill/>
          <a:ln/>
        </p:spPr>
        <p:txBody>
          <a:bodyPr wrap="square" lIns="0" tIns="0" rIns="0" bIns="0" rtlCol="0" anchor="t"/>
          <a:lstStyle/>
          <a:p>
            <a:pPr indent="0" marL="0">
              <a:buNone/>
            </a:pPr>
            <a:r>
              <a:rPr lang="en-US" sz="1200" dirty="0">
                <a:solidFill>
                  <a:srgbClr val="A99BD6"/>
                </a:solidFill>
                <a:latin typeface="Calibri" pitchFamily="34" charset="0"/>
                <a:ea typeface="Calibri" pitchFamily="34" charset="-122"/>
                <a:cs typeface="Calibri" pitchFamily="34" charset="-120"/>
              </a:rPr>
              <a:t>chat · summaries · email</a:t>
            </a:r>
            <a:endParaRPr lang="en-US" sz="1200" dirty="0"/>
          </a:p>
        </p:txBody>
      </p:sp>
      <p:sp>
        <p:nvSpPr>
          <p:cNvPr id="28" name="a3_m1"/>
          <p:cNvSpPr/>
          <p:nvPr/>
        </p:nvSpPr>
        <p:spPr>
          <a:xfrm>
            <a:off x="2807208" y="4709160"/>
            <a:ext cx="2057400" cy="1417320"/>
          </a:xfrm>
          <a:prstGeom prst="roundRect">
            <a:avLst>
              <a:gd name="adj" fmla="val 7742"/>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29" name="a3_mi1" descr="preencoded.png">    </p:cNvPr>
          <p:cNvPicPr>
            <a:picLocks noChangeAspect="1"/>
          </p:cNvPicPr>
          <p:nvPr/>
        </p:nvPicPr>
        <p:blipFill>
          <a:blip r:embed="rId4"/>
          <a:stretch>
            <a:fillRect/>
          </a:stretch>
        </p:blipFill>
        <p:spPr>
          <a:xfrm>
            <a:off x="3008376" y="4892040"/>
            <a:ext cx="365760" cy="365760"/>
          </a:xfrm>
          <a:prstGeom prst="rect">
            <a:avLst/>
          </a:prstGeom>
        </p:spPr>
      </p:pic>
      <p:sp>
        <p:nvSpPr>
          <p:cNvPr id="30" name="a3_mt1"/>
          <p:cNvSpPr txBox="1"/>
          <p:nvPr/>
        </p:nvSpPr>
        <p:spPr>
          <a:xfrm>
            <a:off x="3493008" y="4873752"/>
            <a:ext cx="12801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Code</a:t>
            </a:r>
            <a:endParaRPr lang="en-US" sz="1700" dirty="0"/>
          </a:p>
        </p:txBody>
      </p:sp>
      <p:sp>
        <p:nvSpPr>
          <p:cNvPr id="31" name="a3_md1"/>
          <p:cNvSpPr txBox="1"/>
          <p:nvPr/>
        </p:nvSpPr>
        <p:spPr>
          <a:xfrm>
            <a:off x="3008376" y="5394960"/>
            <a:ext cx="1737360" cy="548640"/>
          </a:xfrm>
          <a:prstGeom prst="rect">
            <a:avLst/>
          </a:prstGeom>
          <a:noFill/>
          <a:ln/>
        </p:spPr>
        <p:txBody>
          <a:bodyPr wrap="square" lIns="0" tIns="0" rIns="0" bIns="0" rtlCol="0" anchor="t"/>
          <a:lstStyle/>
          <a:p>
            <a:pPr indent="0" marL="0">
              <a:buNone/>
            </a:pPr>
            <a:r>
              <a:rPr lang="en-US" sz="1200" dirty="0">
                <a:solidFill>
                  <a:srgbClr val="A99BD6"/>
                </a:solidFill>
                <a:latin typeface="Calibri" pitchFamily="34" charset="0"/>
                <a:ea typeface="Calibri" pitchFamily="34" charset="-122"/>
                <a:cs typeface="Calibri" pitchFamily="34" charset="-120"/>
              </a:rPr>
              <a:t>Copilot · code review</a:t>
            </a:r>
            <a:endParaRPr lang="en-US" sz="1200" dirty="0"/>
          </a:p>
        </p:txBody>
      </p:sp>
      <p:sp>
        <p:nvSpPr>
          <p:cNvPr id="32" name="a3_m2"/>
          <p:cNvSpPr/>
          <p:nvPr/>
        </p:nvSpPr>
        <p:spPr>
          <a:xfrm>
            <a:off x="5065776" y="4709160"/>
            <a:ext cx="2057400" cy="1417320"/>
          </a:xfrm>
          <a:prstGeom prst="roundRect">
            <a:avLst>
              <a:gd name="adj" fmla="val 7742"/>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33" name="a3_mi2" descr="preencoded.png">    </p:cNvPr>
          <p:cNvPicPr>
            <a:picLocks noChangeAspect="1"/>
          </p:cNvPicPr>
          <p:nvPr/>
        </p:nvPicPr>
        <p:blipFill>
          <a:blip r:embed="rId5"/>
          <a:stretch>
            <a:fillRect/>
          </a:stretch>
        </p:blipFill>
        <p:spPr>
          <a:xfrm>
            <a:off x="5266944" y="4892040"/>
            <a:ext cx="365760" cy="365760"/>
          </a:xfrm>
          <a:prstGeom prst="rect">
            <a:avLst/>
          </a:prstGeom>
        </p:spPr>
      </p:pic>
      <p:sp>
        <p:nvSpPr>
          <p:cNvPr id="34" name="a3_mt2"/>
          <p:cNvSpPr txBox="1"/>
          <p:nvPr/>
        </p:nvSpPr>
        <p:spPr>
          <a:xfrm>
            <a:off x="5751576" y="4873752"/>
            <a:ext cx="12801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Images</a:t>
            </a:r>
            <a:endParaRPr lang="en-US" sz="1700" dirty="0"/>
          </a:p>
        </p:txBody>
      </p:sp>
      <p:sp>
        <p:nvSpPr>
          <p:cNvPr id="35" name="a3_md2"/>
          <p:cNvSpPr txBox="1"/>
          <p:nvPr/>
        </p:nvSpPr>
        <p:spPr>
          <a:xfrm>
            <a:off x="5266944" y="5394960"/>
            <a:ext cx="1737360" cy="548640"/>
          </a:xfrm>
          <a:prstGeom prst="rect">
            <a:avLst/>
          </a:prstGeom>
          <a:noFill/>
          <a:ln/>
        </p:spPr>
        <p:txBody>
          <a:bodyPr wrap="square" lIns="0" tIns="0" rIns="0" bIns="0" rtlCol="0" anchor="t"/>
          <a:lstStyle/>
          <a:p>
            <a:pPr indent="0" marL="0">
              <a:buNone/>
            </a:pPr>
            <a:r>
              <a:rPr lang="en-US" sz="1200" dirty="0">
                <a:solidFill>
                  <a:srgbClr val="A99BD6"/>
                </a:solidFill>
                <a:latin typeface="Calibri" pitchFamily="34" charset="0"/>
                <a:ea typeface="Calibri" pitchFamily="34" charset="-122"/>
                <a:cs typeface="Calibri" pitchFamily="34" charset="-120"/>
              </a:rPr>
              <a:t>art · product shots</a:t>
            </a:r>
            <a:endParaRPr lang="en-US" sz="1200" dirty="0"/>
          </a:p>
        </p:txBody>
      </p:sp>
      <p:sp>
        <p:nvSpPr>
          <p:cNvPr id="36" name="a3_m3"/>
          <p:cNvSpPr/>
          <p:nvPr/>
        </p:nvSpPr>
        <p:spPr>
          <a:xfrm>
            <a:off x="7324344" y="4709160"/>
            <a:ext cx="2057400" cy="1417320"/>
          </a:xfrm>
          <a:prstGeom prst="roundRect">
            <a:avLst>
              <a:gd name="adj" fmla="val 7742"/>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37" name="a3_mi3" descr="preencoded.png">    </p:cNvPr>
          <p:cNvPicPr>
            <a:picLocks noChangeAspect="1"/>
          </p:cNvPicPr>
          <p:nvPr/>
        </p:nvPicPr>
        <p:blipFill>
          <a:blip r:embed="rId6"/>
          <a:stretch>
            <a:fillRect/>
          </a:stretch>
        </p:blipFill>
        <p:spPr>
          <a:xfrm>
            <a:off x="7525512" y="4892040"/>
            <a:ext cx="365760" cy="365760"/>
          </a:xfrm>
          <a:prstGeom prst="rect">
            <a:avLst/>
          </a:prstGeom>
        </p:spPr>
      </p:pic>
      <p:sp>
        <p:nvSpPr>
          <p:cNvPr id="38" name="a3_mt3"/>
          <p:cNvSpPr txBox="1"/>
          <p:nvPr/>
        </p:nvSpPr>
        <p:spPr>
          <a:xfrm>
            <a:off x="8010144" y="4873752"/>
            <a:ext cx="12801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Audio</a:t>
            </a:r>
            <a:endParaRPr lang="en-US" sz="1700" dirty="0"/>
          </a:p>
        </p:txBody>
      </p:sp>
      <p:sp>
        <p:nvSpPr>
          <p:cNvPr id="39" name="a3_md3"/>
          <p:cNvSpPr txBox="1"/>
          <p:nvPr/>
        </p:nvSpPr>
        <p:spPr>
          <a:xfrm>
            <a:off x="7525512" y="5394960"/>
            <a:ext cx="1737360" cy="548640"/>
          </a:xfrm>
          <a:prstGeom prst="rect">
            <a:avLst/>
          </a:prstGeom>
          <a:noFill/>
          <a:ln/>
        </p:spPr>
        <p:txBody>
          <a:bodyPr wrap="square" lIns="0" tIns="0" rIns="0" bIns="0" rtlCol="0" anchor="t"/>
          <a:lstStyle/>
          <a:p>
            <a:pPr indent="0" marL="0">
              <a:buNone/>
            </a:pPr>
            <a:r>
              <a:rPr lang="en-US" sz="1200" dirty="0">
                <a:solidFill>
                  <a:srgbClr val="A99BD6"/>
                </a:solidFill>
                <a:latin typeface="Calibri" pitchFamily="34" charset="0"/>
                <a:ea typeface="Calibri" pitchFamily="34" charset="-122"/>
                <a:cs typeface="Calibri" pitchFamily="34" charset="-120"/>
              </a:rPr>
              <a:t>voices · music</a:t>
            </a:r>
            <a:endParaRPr lang="en-US" sz="1200" dirty="0"/>
          </a:p>
        </p:txBody>
      </p:sp>
      <p:sp>
        <p:nvSpPr>
          <p:cNvPr id="40" name="a3_m4"/>
          <p:cNvSpPr/>
          <p:nvPr/>
        </p:nvSpPr>
        <p:spPr>
          <a:xfrm>
            <a:off x="9582912" y="4709160"/>
            <a:ext cx="2057400" cy="1417320"/>
          </a:xfrm>
          <a:prstGeom prst="roundRect">
            <a:avLst>
              <a:gd name="adj" fmla="val 7742"/>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41" name="a3_mi4" descr="preencoded.png">    </p:cNvPr>
          <p:cNvPicPr>
            <a:picLocks noChangeAspect="1"/>
          </p:cNvPicPr>
          <p:nvPr/>
        </p:nvPicPr>
        <p:blipFill>
          <a:blip r:embed="rId7"/>
          <a:stretch>
            <a:fillRect/>
          </a:stretch>
        </p:blipFill>
        <p:spPr>
          <a:xfrm>
            <a:off x="9784080" y="4892040"/>
            <a:ext cx="365760" cy="365760"/>
          </a:xfrm>
          <a:prstGeom prst="rect">
            <a:avLst/>
          </a:prstGeom>
        </p:spPr>
      </p:pic>
      <p:sp>
        <p:nvSpPr>
          <p:cNvPr id="42" name="a3_mt4"/>
          <p:cNvSpPr txBox="1"/>
          <p:nvPr/>
        </p:nvSpPr>
        <p:spPr>
          <a:xfrm>
            <a:off x="10268712" y="4873752"/>
            <a:ext cx="12801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Video</a:t>
            </a:r>
            <a:endParaRPr lang="en-US" sz="1700" dirty="0"/>
          </a:p>
        </p:txBody>
      </p:sp>
      <p:sp>
        <p:nvSpPr>
          <p:cNvPr id="43" name="a3_md4"/>
          <p:cNvSpPr txBox="1"/>
          <p:nvPr/>
        </p:nvSpPr>
        <p:spPr>
          <a:xfrm>
            <a:off x="9784080" y="5394960"/>
            <a:ext cx="1737360" cy="548640"/>
          </a:xfrm>
          <a:prstGeom prst="rect">
            <a:avLst/>
          </a:prstGeom>
          <a:noFill/>
          <a:ln/>
        </p:spPr>
        <p:txBody>
          <a:bodyPr wrap="square" lIns="0" tIns="0" rIns="0" bIns="0" rtlCol="0" anchor="t"/>
          <a:lstStyle/>
          <a:p>
            <a:pPr indent="0" marL="0">
              <a:buNone/>
            </a:pPr>
            <a:r>
              <a:rPr lang="en-US" sz="1200" dirty="0">
                <a:solidFill>
                  <a:srgbClr val="A99BD6"/>
                </a:solidFill>
                <a:latin typeface="Calibri" pitchFamily="34" charset="0"/>
                <a:ea typeface="Calibri" pitchFamily="34" charset="-122"/>
                <a:cs typeface="Calibri" pitchFamily="34" charset="-120"/>
              </a:rPr>
              <a:t>text-to-video clips</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3" fill="hold">
                      <p:stCondLst>
                        <p:cond delay="indefinite"/>
                      </p:stCondLst>
                      <p:childTnLst>
                        <p:par>
                          <p:cTn id="4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p:cTn id="53" dur="500" fill="hold"/>
                                        <p:tgtEl>
                                          <p:spTgt spid="17"/>
                                        </p:tgtEl>
                                        <p:attrNameLst>
                                          <p:attrName>ppt_x</p:attrName>
                                        </p:attrNameLst>
                                      </p:cBhvr>
                                      <p:tavLst>
                                        <p:tav tm="0">
                                          <p:val>
                                            <p:strVal val="#ppt_x"/>
                                          </p:val>
                                        </p:tav>
                                        <p:tav tm="100000">
                                          <p:val>
                                            <p:strVal val="#ppt_x"/>
                                          </p:val>
                                        </p:tav>
                                      </p:tavLst>
                                    </p:anim>
                                    <p:anim calcmode="lin" valueType="num">
                                      <p:cBhvr>
                                        <p:cTn id="54" dur="500" decel="1000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anim calcmode="lin" valueType="num">
                                      <p:cBhvr>
                                        <p:cTn id="58" dur="500" fill="hold"/>
                                        <p:tgtEl>
                                          <p:spTgt spid="18"/>
                                        </p:tgtEl>
                                        <p:attrNameLst>
                                          <p:attrName>ppt_x</p:attrName>
                                        </p:attrNameLst>
                                      </p:cBhvr>
                                      <p:tavLst>
                                        <p:tav tm="0">
                                          <p:val>
                                            <p:strVal val="#ppt_x"/>
                                          </p:val>
                                        </p:tav>
                                        <p:tav tm="100000">
                                          <p:val>
                                            <p:strVal val="#ppt_x"/>
                                          </p:val>
                                        </p:tav>
                                      </p:tavLst>
                                    </p:anim>
                                    <p:anim calcmode="lin" valueType="num">
                                      <p:cBhvr>
                                        <p:cTn id="59" dur="500" decel="100000" fill="hold"/>
                                        <p:tgtEl>
                                          <p:spTgt spid="18"/>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decel="100000" fill="hold"/>
                                        <p:tgtEl>
                                          <p:spTgt spid="19"/>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decel="1000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anim calcmode="lin" valueType="num">
                                      <p:cBhvr>
                                        <p:cTn id="73" dur="500" fill="hold"/>
                                        <p:tgtEl>
                                          <p:spTgt spid="21"/>
                                        </p:tgtEl>
                                        <p:attrNameLst>
                                          <p:attrName>ppt_x</p:attrName>
                                        </p:attrNameLst>
                                      </p:cBhvr>
                                      <p:tavLst>
                                        <p:tav tm="0">
                                          <p:val>
                                            <p:strVal val="#ppt_x"/>
                                          </p:val>
                                        </p:tav>
                                        <p:tav tm="100000">
                                          <p:val>
                                            <p:strVal val="#ppt_x"/>
                                          </p:val>
                                        </p:tav>
                                      </p:tavLst>
                                    </p:anim>
                                    <p:anim calcmode="lin" valueType="num">
                                      <p:cBhvr>
                                        <p:cTn id="74" dur="500" decel="1000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decel="1000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p:cTn id="83" dur="500" fill="hold"/>
                                        <p:tgtEl>
                                          <p:spTgt spid="23"/>
                                        </p:tgtEl>
                                        <p:attrNameLst>
                                          <p:attrName>ppt_x</p:attrName>
                                        </p:attrNameLst>
                                      </p:cBhvr>
                                      <p:tavLst>
                                        <p:tav tm="0">
                                          <p:val>
                                            <p:strVal val="#ppt_x"/>
                                          </p:val>
                                        </p:tav>
                                        <p:tav tm="100000">
                                          <p:val>
                                            <p:strVal val="#ppt_x"/>
                                          </p:val>
                                        </p:tav>
                                      </p:tavLst>
                                    </p:anim>
                                    <p:anim calcmode="lin" valueType="num">
                                      <p:cBhvr>
                                        <p:cTn id="84"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anim calcmode="lin" valueType="num">
                                      <p:cBhvr>
                                        <p:cTn id="90" dur="500" fill="hold"/>
                                        <p:tgtEl>
                                          <p:spTgt spid="24"/>
                                        </p:tgtEl>
                                        <p:attrNameLst>
                                          <p:attrName>ppt_x</p:attrName>
                                        </p:attrNameLst>
                                      </p:cBhvr>
                                      <p:tavLst>
                                        <p:tav tm="0">
                                          <p:val>
                                            <p:strVal val="#ppt_x"/>
                                          </p:val>
                                        </p:tav>
                                        <p:tav tm="100000">
                                          <p:val>
                                            <p:strVal val="#ppt_x"/>
                                          </p:val>
                                        </p:tav>
                                      </p:tavLst>
                                    </p:anim>
                                    <p:anim calcmode="lin" valueType="num">
                                      <p:cBhvr>
                                        <p:cTn id="91" dur="500" decel="100000" fill="hold"/>
                                        <p:tgtEl>
                                          <p:spTgt spid="24"/>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00"/>
                                        <p:tgtEl>
                                          <p:spTgt spid="25"/>
                                        </p:tgtEl>
                                      </p:cBhvr>
                                    </p:animEffect>
                                    <p:anim calcmode="lin" valueType="num">
                                      <p:cBhvr>
                                        <p:cTn id="95" dur="500" fill="hold"/>
                                        <p:tgtEl>
                                          <p:spTgt spid="25"/>
                                        </p:tgtEl>
                                        <p:attrNameLst>
                                          <p:attrName>ppt_x</p:attrName>
                                        </p:attrNameLst>
                                      </p:cBhvr>
                                      <p:tavLst>
                                        <p:tav tm="0">
                                          <p:val>
                                            <p:strVal val="#ppt_x"/>
                                          </p:val>
                                        </p:tav>
                                        <p:tav tm="100000">
                                          <p:val>
                                            <p:strVal val="#ppt_x"/>
                                          </p:val>
                                        </p:tav>
                                      </p:tavLst>
                                    </p:anim>
                                    <p:anim calcmode="lin" valueType="num">
                                      <p:cBhvr>
                                        <p:cTn id="96" dur="500" decel="10000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anim calcmode="lin" valueType="num">
                                      <p:cBhvr>
                                        <p:cTn id="100" dur="500" fill="hold"/>
                                        <p:tgtEl>
                                          <p:spTgt spid="26"/>
                                        </p:tgtEl>
                                        <p:attrNameLst>
                                          <p:attrName>ppt_x</p:attrName>
                                        </p:attrNameLst>
                                      </p:cBhvr>
                                      <p:tavLst>
                                        <p:tav tm="0">
                                          <p:val>
                                            <p:strVal val="#ppt_x"/>
                                          </p:val>
                                        </p:tav>
                                        <p:tav tm="100000">
                                          <p:val>
                                            <p:strVal val="#ppt_x"/>
                                          </p:val>
                                        </p:tav>
                                      </p:tavLst>
                                    </p:anim>
                                    <p:anim calcmode="lin" valueType="num">
                                      <p:cBhvr>
                                        <p:cTn id="101" dur="500" decel="100000" fill="hold"/>
                                        <p:tgtEl>
                                          <p:spTgt spid="26"/>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500"/>
                                        <p:tgtEl>
                                          <p:spTgt spid="27"/>
                                        </p:tgtEl>
                                      </p:cBhvr>
                                    </p:animEffect>
                                    <p:anim calcmode="lin" valueType="num">
                                      <p:cBhvr>
                                        <p:cTn id="105" dur="500" fill="hold"/>
                                        <p:tgtEl>
                                          <p:spTgt spid="27"/>
                                        </p:tgtEl>
                                        <p:attrNameLst>
                                          <p:attrName>ppt_x</p:attrName>
                                        </p:attrNameLst>
                                      </p:cBhvr>
                                      <p:tavLst>
                                        <p:tav tm="0">
                                          <p:val>
                                            <p:strVal val="#ppt_x"/>
                                          </p:val>
                                        </p:tav>
                                        <p:tav tm="100000">
                                          <p:val>
                                            <p:strVal val="#ppt_x"/>
                                          </p:val>
                                        </p:tav>
                                      </p:tavLst>
                                    </p:anim>
                                    <p:anim calcmode="lin" valueType="num">
                                      <p:cBhvr>
                                        <p:cTn id="106" dur="500" decel="100000" fill="hold"/>
                                        <p:tgtEl>
                                          <p:spTgt spid="27"/>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anim calcmode="lin" valueType="num">
                                      <p:cBhvr>
                                        <p:cTn id="110" dur="500" fill="hold"/>
                                        <p:tgtEl>
                                          <p:spTgt spid="28"/>
                                        </p:tgtEl>
                                        <p:attrNameLst>
                                          <p:attrName>ppt_x</p:attrName>
                                        </p:attrNameLst>
                                      </p:cBhvr>
                                      <p:tavLst>
                                        <p:tav tm="0">
                                          <p:val>
                                            <p:strVal val="#ppt_x"/>
                                          </p:val>
                                        </p:tav>
                                        <p:tav tm="100000">
                                          <p:val>
                                            <p:strVal val="#ppt_x"/>
                                          </p:val>
                                        </p:tav>
                                      </p:tavLst>
                                    </p:anim>
                                    <p:anim calcmode="lin" valueType="num">
                                      <p:cBhvr>
                                        <p:cTn id="111" dur="500" decel="100000" fill="hold"/>
                                        <p:tgtEl>
                                          <p:spTgt spid="28"/>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anim calcmode="lin" valueType="num">
                                      <p:cBhvr>
                                        <p:cTn id="115" dur="500" fill="hold"/>
                                        <p:tgtEl>
                                          <p:spTgt spid="29"/>
                                        </p:tgtEl>
                                        <p:attrNameLst>
                                          <p:attrName>ppt_x</p:attrName>
                                        </p:attrNameLst>
                                      </p:cBhvr>
                                      <p:tavLst>
                                        <p:tav tm="0">
                                          <p:val>
                                            <p:strVal val="#ppt_x"/>
                                          </p:val>
                                        </p:tav>
                                        <p:tav tm="100000">
                                          <p:val>
                                            <p:strVal val="#ppt_x"/>
                                          </p:val>
                                        </p:tav>
                                      </p:tavLst>
                                    </p:anim>
                                    <p:anim calcmode="lin" valueType="num">
                                      <p:cBhvr>
                                        <p:cTn id="116" dur="500" decel="1000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p:cTn id="120" dur="500" fill="hold"/>
                                        <p:tgtEl>
                                          <p:spTgt spid="30"/>
                                        </p:tgtEl>
                                        <p:attrNameLst>
                                          <p:attrName>ppt_x</p:attrName>
                                        </p:attrNameLst>
                                      </p:cBhvr>
                                      <p:tavLst>
                                        <p:tav tm="0">
                                          <p:val>
                                            <p:strVal val="#ppt_x"/>
                                          </p:val>
                                        </p:tav>
                                        <p:tav tm="100000">
                                          <p:val>
                                            <p:strVal val="#ppt_x"/>
                                          </p:val>
                                        </p:tav>
                                      </p:tavLst>
                                    </p:anim>
                                    <p:anim calcmode="lin" valueType="num">
                                      <p:cBhvr>
                                        <p:cTn id="121" dur="500" decel="100000" fill="hold"/>
                                        <p:tgtEl>
                                          <p:spTgt spid="30"/>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500"/>
                                        <p:tgtEl>
                                          <p:spTgt spid="31"/>
                                        </p:tgtEl>
                                      </p:cBhvr>
                                    </p:animEffect>
                                    <p:anim calcmode="lin" valueType="num">
                                      <p:cBhvr>
                                        <p:cTn id="125" dur="500" fill="hold"/>
                                        <p:tgtEl>
                                          <p:spTgt spid="31"/>
                                        </p:tgtEl>
                                        <p:attrNameLst>
                                          <p:attrName>ppt_x</p:attrName>
                                        </p:attrNameLst>
                                      </p:cBhvr>
                                      <p:tavLst>
                                        <p:tav tm="0">
                                          <p:val>
                                            <p:strVal val="#ppt_x"/>
                                          </p:val>
                                        </p:tav>
                                        <p:tav tm="100000">
                                          <p:val>
                                            <p:strVal val="#ppt_x"/>
                                          </p:val>
                                        </p:tav>
                                      </p:tavLst>
                                    </p:anim>
                                    <p:anim calcmode="lin" valueType="num">
                                      <p:cBhvr>
                                        <p:cTn id="126" dur="500" decel="10000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p:cTn id="130" dur="500" fill="hold"/>
                                        <p:tgtEl>
                                          <p:spTgt spid="32"/>
                                        </p:tgtEl>
                                        <p:attrNameLst>
                                          <p:attrName>ppt_x</p:attrName>
                                        </p:attrNameLst>
                                      </p:cBhvr>
                                      <p:tavLst>
                                        <p:tav tm="0">
                                          <p:val>
                                            <p:strVal val="#ppt_x"/>
                                          </p:val>
                                        </p:tav>
                                        <p:tav tm="100000">
                                          <p:val>
                                            <p:strVal val="#ppt_x"/>
                                          </p:val>
                                        </p:tav>
                                      </p:tavLst>
                                    </p:anim>
                                    <p:anim calcmode="lin" valueType="num">
                                      <p:cBhvr>
                                        <p:cTn id="131" dur="500" decel="1000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anim calcmode="lin" valueType="num">
                                      <p:cBhvr>
                                        <p:cTn id="135" dur="500" fill="hold"/>
                                        <p:tgtEl>
                                          <p:spTgt spid="33"/>
                                        </p:tgtEl>
                                        <p:attrNameLst>
                                          <p:attrName>ppt_x</p:attrName>
                                        </p:attrNameLst>
                                      </p:cBhvr>
                                      <p:tavLst>
                                        <p:tav tm="0">
                                          <p:val>
                                            <p:strVal val="#ppt_x"/>
                                          </p:val>
                                        </p:tav>
                                        <p:tav tm="100000">
                                          <p:val>
                                            <p:strVal val="#ppt_x"/>
                                          </p:val>
                                        </p:tav>
                                      </p:tavLst>
                                    </p:anim>
                                    <p:anim calcmode="lin" valueType="num">
                                      <p:cBhvr>
                                        <p:cTn id="136" dur="500" decel="1000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anim calcmode="lin" valueType="num">
                                      <p:cBhvr>
                                        <p:cTn id="140" dur="500" fill="hold"/>
                                        <p:tgtEl>
                                          <p:spTgt spid="34"/>
                                        </p:tgtEl>
                                        <p:attrNameLst>
                                          <p:attrName>ppt_x</p:attrName>
                                        </p:attrNameLst>
                                      </p:cBhvr>
                                      <p:tavLst>
                                        <p:tav tm="0">
                                          <p:val>
                                            <p:strVal val="#ppt_x"/>
                                          </p:val>
                                        </p:tav>
                                        <p:tav tm="100000">
                                          <p:val>
                                            <p:strVal val="#ppt_x"/>
                                          </p:val>
                                        </p:tav>
                                      </p:tavLst>
                                    </p:anim>
                                    <p:anim calcmode="lin" valueType="num">
                                      <p:cBhvr>
                                        <p:cTn id="141" dur="500" decel="1000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anim calcmode="lin" valueType="num">
                                      <p:cBhvr>
                                        <p:cTn id="145" dur="500" fill="hold"/>
                                        <p:tgtEl>
                                          <p:spTgt spid="35"/>
                                        </p:tgtEl>
                                        <p:attrNameLst>
                                          <p:attrName>ppt_x</p:attrName>
                                        </p:attrNameLst>
                                      </p:cBhvr>
                                      <p:tavLst>
                                        <p:tav tm="0">
                                          <p:val>
                                            <p:strVal val="#ppt_x"/>
                                          </p:val>
                                        </p:tav>
                                        <p:tav tm="100000">
                                          <p:val>
                                            <p:strVal val="#ppt_x"/>
                                          </p:val>
                                        </p:tav>
                                      </p:tavLst>
                                    </p:anim>
                                    <p:anim calcmode="lin" valueType="num">
                                      <p:cBhvr>
                                        <p:cTn id="146" dur="500" decel="1000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500"/>
                                        <p:tgtEl>
                                          <p:spTgt spid="36"/>
                                        </p:tgtEl>
                                      </p:cBhvr>
                                    </p:animEffect>
                                    <p:anim calcmode="lin" valueType="num">
                                      <p:cBhvr>
                                        <p:cTn id="150" dur="500" fill="hold"/>
                                        <p:tgtEl>
                                          <p:spTgt spid="36"/>
                                        </p:tgtEl>
                                        <p:attrNameLst>
                                          <p:attrName>ppt_x</p:attrName>
                                        </p:attrNameLst>
                                      </p:cBhvr>
                                      <p:tavLst>
                                        <p:tav tm="0">
                                          <p:val>
                                            <p:strVal val="#ppt_x"/>
                                          </p:val>
                                        </p:tav>
                                        <p:tav tm="100000">
                                          <p:val>
                                            <p:strVal val="#ppt_x"/>
                                          </p:val>
                                        </p:tav>
                                      </p:tavLst>
                                    </p:anim>
                                    <p:anim calcmode="lin" valueType="num">
                                      <p:cBhvr>
                                        <p:cTn id="151" dur="500" decel="1000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500"/>
                                        <p:tgtEl>
                                          <p:spTgt spid="37"/>
                                        </p:tgtEl>
                                      </p:cBhvr>
                                    </p:animEffect>
                                    <p:anim calcmode="lin" valueType="num">
                                      <p:cBhvr>
                                        <p:cTn id="155" dur="500" fill="hold"/>
                                        <p:tgtEl>
                                          <p:spTgt spid="37"/>
                                        </p:tgtEl>
                                        <p:attrNameLst>
                                          <p:attrName>ppt_x</p:attrName>
                                        </p:attrNameLst>
                                      </p:cBhvr>
                                      <p:tavLst>
                                        <p:tav tm="0">
                                          <p:val>
                                            <p:strVal val="#ppt_x"/>
                                          </p:val>
                                        </p:tav>
                                        <p:tav tm="100000">
                                          <p:val>
                                            <p:strVal val="#ppt_x"/>
                                          </p:val>
                                        </p:tav>
                                      </p:tavLst>
                                    </p:anim>
                                    <p:anim calcmode="lin" valueType="num">
                                      <p:cBhvr>
                                        <p:cTn id="156" dur="500" decel="1000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500"/>
                                        <p:tgtEl>
                                          <p:spTgt spid="38"/>
                                        </p:tgtEl>
                                      </p:cBhvr>
                                    </p:animEffect>
                                    <p:anim calcmode="lin" valueType="num">
                                      <p:cBhvr>
                                        <p:cTn id="160" dur="500" fill="hold"/>
                                        <p:tgtEl>
                                          <p:spTgt spid="38"/>
                                        </p:tgtEl>
                                        <p:attrNameLst>
                                          <p:attrName>ppt_x</p:attrName>
                                        </p:attrNameLst>
                                      </p:cBhvr>
                                      <p:tavLst>
                                        <p:tav tm="0">
                                          <p:val>
                                            <p:strVal val="#ppt_x"/>
                                          </p:val>
                                        </p:tav>
                                        <p:tav tm="100000">
                                          <p:val>
                                            <p:strVal val="#ppt_x"/>
                                          </p:val>
                                        </p:tav>
                                      </p:tavLst>
                                    </p:anim>
                                    <p:anim calcmode="lin" valueType="num">
                                      <p:cBhvr>
                                        <p:cTn id="161" dur="500" decel="1000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500"/>
                                        <p:tgtEl>
                                          <p:spTgt spid="39"/>
                                        </p:tgtEl>
                                      </p:cBhvr>
                                    </p:animEffect>
                                    <p:anim calcmode="lin" valueType="num">
                                      <p:cBhvr>
                                        <p:cTn id="165" dur="500" fill="hold"/>
                                        <p:tgtEl>
                                          <p:spTgt spid="39"/>
                                        </p:tgtEl>
                                        <p:attrNameLst>
                                          <p:attrName>ppt_x</p:attrName>
                                        </p:attrNameLst>
                                      </p:cBhvr>
                                      <p:tavLst>
                                        <p:tav tm="0">
                                          <p:val>
                                            <p:strVal val="#ppt_x"/>
                                          </p:val>
                                        </p:tav>
                                        <p:tav tm="100000">
                                          <p:val>
                                            <p:strVal val="#ppt_x"/>
                                          </p:val>
                                        </p:tav>
                                      </p:tavLst>
                                    </p:anim>
                                    <p:anim calcmode="lin" valueType="num">
                                      <p:cBhvr>
                                        <p:cTn id="166" dur="500" decel="1000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Effect transition="in" filter="fade">
                                      <p:cBhvr>
                                        <p:cTn id="169" dur="500"/>
                                        <p:tgtEl>
                                          <p:spTgt spid="40"/>
                                        </p:tgtEl>
                                      </p:cBhvr>
                                    </p:animEffect>
                                    <p:anim calcmode="lin" valueType="num">
                                      <p:cBhvr>
                                        <p:cTn id="170" dur="500" fill="hold"/>
                                        <p:tgtEl>
                                          <p:spTgt spid="40"/>
                                        </p:tgtEl>
                                        <p:attrNameLst>
                                          <p:attrName>ppt_x</p:attrName>
                                        </p:attrNameLst>
                                      </p:cBhvr>
                                      <p:tavLst>
                                        <p:tav tm="0">
                                          <p:val>
                                            <p:strVal val="#ppt_x"/>
                                          </p:val>
                                        </p:tav>
                                        <p:tav tm="100000">
                                          <p:val>
                                            <p:strVal val="#ppt_x"/>
                                          </p:val>
                                        </p:tav>
                                      </p:tavLst>
                                    </p:anim>
                                    <p:anim calcmode="lin" valueType="num">
                                      <p:cBhvr>
                                        <p:cTn id="171" dur="500" decel="1000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500"/>
                                        <p:tgtEl>
                                          <p:spTgt spid="41"/>
                                        </p:tgtEl>
                                      </p:cBhvr>
                                    </p:animEffect>
                                    <p:anim calcmode="lin" valueType="num">
                                      <p:cBhvr>
                                        <p:cTn id="175" dur="500" fill="hold"/>
                                        <p:tgtEl>
                                          <p:spTgt spid="41"/>
                                        </p:tgtEl>
                                        <p:attrNameLst>
                                          <p:attrName>ppt_x</p:attrName>
                                        </p:attrNameLst>
                                      </p:cBhvr>
                                      <p:tavLst>
                                        <p:tav tm="0">
                                          <p:val>
                                            <p:strVal val="#ppt_x"/>
                                          </p:val>
                                        </p:tav>
                                        <p:tav tm="100000">
                                          <p:val>
                                            <p:strVal val="#ppt_x"/>
                                          </p:val>
                                        </p:tav>
                                      </p:tavLst>
                                    </p:anim>
                                    <p:anim calcmode="lin" valueType="num">
                                      <p:cBhvr>
                                        <p:cTn id="176" dur="500" decel="1000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79" dur="500"/>
                                        <p:tgtEl>
                                          <p:spTgt spid="42"/>
                                        </p:tgtEl>
                                      </p:cBhvr>
                                    </p:animEffect>
                                    <p:anim calcmode="lin" valueType="num">
                                      <p:cBhvr>
                                        <p:cTn id="180" dur="500" fill="hold"/>
                                        <p:tgtEl>
                                          <p:spTgt spid="42"/>
                                        </p:tgtEl>
                                        <p:attrNameLst>
                                          <p:attrName>ppt_x</p:attrName>
                                        </p:attrNameLst>
                                      </p:cBhvr>
                                      <p:tavLst>
                                        <p:tav tm="0">
                                          <p:val>
                                            <p:strVal val="#ppt_x"/>
                                          </p:val>
                                        </p:tav>
                                        <p:tav tm="100000">
                                          <p:val>
                                            <p:strVal val="#ppt_x"/>
                                          </p:val>
                                        </p:tav>
                                      </p:tavLst>
                                    </p:anim>
                                    <p:anim calcmode="lin" valueType="num">
                                      <p:cBhvr>
                                        <p:cTn id="181" dur="500" decel="100000" fill="hold"/>
                                        <p:tgtEl>
                                          <p:spTgt spid="42"/>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4" dur="500"/>
                                        <p:tgtEl>
                                          <p:spTgt spid="43"/>
                                        </p:tgtEl>
                                      </p:cBhvr>
                                    </p:animEffect>
                                    <p:anim calcmode="lin" valueType="num">
                                      <p:cBhvr>
                                        <p:cTn id="185" dur="500" fill="hold"/>
                                        <p:tgtEl>
                                          <p:spTgt spid="43"/>
                                        </p:tgtEl>
                                        <p:attrNameLst>
                                          <p:attrName>ppt_x</p:attrName>
                                        </p:attrNameLst>
                                      </p:cBhvr>
                                      <p:tavLst>
                                        <p:tav tm="0">
                                          <p:val>
                                            <p:strVal val="#ppt_x"/>
                                          </p:val>
                                        </p:tav>
                                        <p:tav tm="100000">
                                          <p:val>
                                            <p:strVal val="#ppt_x"/>
                                          </p:val>
                                        </p:tav>
                                      </p:tavLst>
                                    </p:anim>
                                    <p:anim calcmode="lin" valueType="num">
                                      <p:cBhvr>
                                        <p:cTn id="186" dur="500" decel="1000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6" grpId="0" animBg="1"/>
      <p:bldP spid="27"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11</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FROM INTERNET TO ASSISTANT</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How an LLM is made, in 3 stages</a:t>
            </a:r>
            <a:endParaRPr lang="en-US" sz="3400" dirty="0"/>
          </a:p>
        </p:txBody>
      </p:sp>
      <p:sp>
        <p:nvSpPr>
          <p:cNvPr id="8" name="a1_s"/>
          <p:cNvSpPr/>
          <p:nvPr/>
        </p:nvSpPr>
        <p:spPr>
          <a:xfrm>
            <a:off x="548640" y="1783080"/>
            <a:ext cx="3429000" cy="3246120"/>
          </a:xfrm>
          <a:prstGeom prst="roundRect">
            <a:avLst>
              <a:gd name="adj" fmla="val 338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si_c"/>
          <p:cNvSpPr/>
          <p:nvPr/>
        </p:nvSpPr>
        <p:spPr>
          <a:xfrm>
            <a:off x="822960" y="2011680"/>
            <a:ext cx="731520" cy="731520"/>
          </a:xfrm>
          <a:prstGeom prst="ellipse">
            <a:avLst/>
          </a:prstGeom>
          <a:solidFill>
            <a:srgbClr val="7C4DFF">
              <a:alpha val="20000"/>
            </a:srgbClr>
          </a:solidFill>
          <a:ln w="19050">
            <a:solidFill>
              <a:srgbClr val="7C4DFF"/>
            </a:solidFill>
            <a:prstDash val="solid"/>
          </a:ln>
        </p:spPr>
      </p:sp>
      <p:pic>
        <p:nvPicPr>
          <p:cNvPr id="10" name="a1_si_i" descr="preencoded.png">    </p:cNvPr>
          <p:cNvPicPr>
            <a:picLocks noChangeAspect="1"/>
          </p:cNvPicPr>
          <p:nvPr/>
        </p:nvPicPr>
        <p:blipFill>
          <a:blip r:embed="rId1"/>
          <a:stretch>
            <a:fillRect/>
          </a:stretch>
        </p:blipFill>
        <p:spPr>
          <a:xfrm>
            <a:off x="1013155" y="2201875"/>
            <a:ext cx="351130" cy="351130"/>
          </a:xfrm>
          <a:prstGeom prst="rect">
            <a:avLst/>
          </a:prstGeom>
        </p:spPr>
      </p:pic>
      <p:sp>
        <p:nvSpPr>
          <p:cNvPr id="11" name="a1_st"/>
          <p:cNvSpPr txBox="1"/>
          <p:nvPr/>
        </p:nvSpPr>
        <p:spPr>
          <a:xfrm>
            <a:off x="1691640" y="2057400"/>
            <a:ext cx="2194560" cy="640080"/>
          </a:xfrm>
          <a:prstGeom prst="rect">
            <a:avLst/>
          </a:prstGeom>
          <a:noFill/>
          <a:ln/>
        </p:spPr>
        <p:txBody>
          <a:bodyPr wrap="square" lIns="0" tIns="0" rIns="0" bIns="0" rtlCol="0" anchor="ctr"/>
          <a:lstStyle/>
          <a:p>
            <a:pPr indent="0" marL="0">
              <a:buNone/>
            </a:pPr>
            <a:r>
              <a:rPr lang="en-US" sz="1700" b="1" dirty="0">
                <a:solidFill>
                  <a:srgbClr val="7C4DFF"/>
                </a:solidFill>
                <a:latin typeface="Arial" pitchFamily="34" charset="0"/>
                <a:ea typeface="Arial" pitchFamily="34" charset="-122"/>
                <a:cs typeface="Arial" pitchFamily="34" charset="-120"/>
              </a:rPr>
              <a:t>1  </a:t>
            </a:r>
            <a:pPr indent="0" marL="0">
              <a:buNone/>
            </a:pPr>
            <a:r>
              <a:rPr lang="en-US" sz="1700" b="1" dirty="0">
                <a:solidFill>
                  <a:srgbClr val="FFFFFF"/>
                </a:solidFill>
                <a:latin typeface="Arial" pitchFamily="34" charset="0"/>
                <a:ea typeface="Arial" pitchFamily="34" charset="-122"/>
                <a:cs typeface="Arial" pitchFamily="34" charset="-120"/>
              </a:rPr>
              <a:t>Pre-training</a:t>
            </a:r>
            <a:endParaRPr lang="en-US" sz="1700" dirty="0"/>
          </a:p>
        </p:txBody>
      </p:sp>
      <p:sp>
        <p:nvSpPr>
          <p:cNvPr id="12" name="a1_sd"/>
          <p:cNvSpPr txBox="1"/>
          <p:nvPr/>
        </p:nvSpPr>
        <p:spPr>
          <a:xfrm>
            <a:off x="822960" y="2880360"/>
            <a:ext cx="2926080" cy="82296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Reads trillions of tokens of web pages, books and code. Learns to predict the next token.</a:t>
            </a:r>
            <a:endParaRPr lang="en-US" sz="1350" dirty="0"/>
          </a:p>
        </p:txBody>
      </p:sp>
      <p:sp>
        <p:nvSpPr>
          <p:cNvPr id="13" name="a1_sr"/>
          <p:cNvSpPr txBox="1"/>
          <p:nvPr/>
        </p:nvSpPr>
        <p:spPr>
          <a:xfrm>
            <a:off x="822960" y="3749040"/>
            <a:ext cx="2926080" cy="777240"/>
          </a:xfrm>
          <a:prstGeom prst="rect">
            <a:avLst/>
          </a:prstGeom>
          <a:noFill/>
          <a:ln/>
        </p:spPr>
        <p:txBody>
          <a:bodyPr wrap="square" lIns="0" tIns="0" rIns="0" bIns="0" rtlCol="0" anchor="t"/>
          <a:lstStyle/>
          <a:p>
            <a:pPr indent="0" marL="0">
              <a:buNone/>
            </a:pPr>
            <a:r>
              <a:rPr lang="en-US" sz="1300" b="1" dirty="0">
                <a:solidFill>
                  <a:srgbClr val="7C4DFF"/>
                </a:solidFill>
                <a:latin typeface="Calibri" pitchFamily="34" charset="0"/>
                <a:ea typeface="Calibri" pitchFamily="34" charset="-122"/>
                <a:cs typeface="Calibri" pitchFamily="34" charset="-120"/>
              </a:rPr>
              <a:t>Result: a base model. A brilliant autocomplete that knows a lot but isn't helpful yet.</a:t>
            </a:r>
            <a:endParaRPr lang="en-US" sz="1300" dirty="0"/>
          </a:p>
        </p:txBody>
      </p:sp>
      <p:sp>
        <p:nvSpPr>
          <p:cNvPr id="14" name="a1_sc"/>
          <p:cNvSpPr txBox="1"/>
          <p:nvPr/>
        </p:nvSpPr>
        <p:spPr>
          <a:xfrm>
            <a:off x="822960" y="4617720"/>
            <a:ext cx="2926080" cy="320040"/>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months · thousands of GPUs · $$$$</a:t>
            </a:r>
            <a:endParaRPr lang="en-US" sz="1150" dirty="0"/>
          </a:p>
        </p:txBody>
      </p:sp>
      <p:sp>
        <p:nvSpPr>
          <p:cNvPr id="15" name="a2_ar0"/>
          <p:cNvSpPr/>
          <p:nvPr/>
        </p:nvSpPr>
        <p:spPr>
          <a:xfrm>
            <a:off x="4023360" y="3200400"/>
            <a:ext cx="301752" cy="365760"/>
          </a:xfrm>
          <a:prstGeom prst="rightArrow">
            <a:avLst/>
          </a:prstGeom>
          <a:solidFill>
            <a:srgbClr val="3A2F6B"/>
          </a:solidFill>
          <a:ln/>
        </p:spPr>
      </p:sp>
      <p:sp>
        <p:nvSpPr>
          <p:cNvPr id="16" name="a2_s"/>
          <p:cNvSpPr/>
          <p:nvPr/>
        </p:nvSpPr>
        <p:spPr>
          <a:xfrm>
            <a:off x="4370832" y="1783080"/>
            <a:ext cx="3429000" cy="3246120"/>
          </a:xfrm>
          <a:prstGeom prst="roundRect">
            <a:avLst>
              <a:gd name="adj" fmla="val 338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7" name="a2_si_c"/>
          <p:cNvSpPr/>
          <p:nvPr/>
        </p:nvSpPr>
        <p:spPr>
          <a:xfrm>
            <a:off x="4645152" y="2011680"/>
            <a:ext cx="731520" cy="731520"/>
          </a:xfrm>
          <a:prstGeom prst="ellipse">
            <a:avLst/>
          </a:prstGeom>
          <a:solidFill>
            <a:srgbClr val="FFB547">
              <a:alpha val="20000"/>
            </a:srgbClr>
          </a:solidFill>
          <a:ln w="19050">
            <a:solidFill>
              <a:srgbClr val="FFB547"/>
            </a:solidFill>
            <a:prstDash val="solid"/>
          </a:ln>
        </p:spPr>
      </p:sp>
      <p:pic>
        <p:nvPicPr>
          <p:cNvPr id="18" name="a2_si_i" descr="preencoded.png">    </p:cNvPr>
          <p:cNvPicPr>
            <a:picLocks noChangeAspect="1"/>
          </p:cNvPicPr>
          <p:nvPr/>
        </p:nvPicPr>
        <p:blipFill>
          <a:blip r:embed="rId2"/>
          <a:stretch>
            <a:fillRect/>
          </a:stretch>
        </p:blipFill>
        <p:spPr>
          <a:xfrm>
            <a:off x="4835347" y="2201875"/>
            <a:ext cx="351130" cy="351130"/>
          </a:xfrm>
          <a:prstGeom prst="rect">
            <a:avLst/>
          </a:prstGeom>
        </p:spPr>
      </p:pic>
      <p:sp>
        <p:nvSpPr>
          <p:cNvPr id="19" name="a2_st"/>
          <p:cNvSpPr txBox="1"/>
          <p:nvPr/>
        </p:nvSpPr>
        <p:spPr>
          <a:xfrm>
            <a:off x="5513832" y="2057400"/>
            <a:ext cx="2194560" cy="640080"/>
          </a:xfrm>
          <a:prstGeom prst="rect">
            <a:avLst/>
          </a:prstGeom>
          <a:noFill/>
          <a:ln/>
        </p:spPr>
        <p:txBody>
          <a:bodyPr wrap="square" lIns="0" tIns="0" rIns="0" bIns="0" rtlCol="0" anchor="ctr"/>
          <a:lstStyle/>
          <a:p>
            <a:pPr indent="0" marL="0">
              <a:buNone/>
            </a:pPr>
            <a:r>
              <a:rPr lang="en-US" sz="1700" b="1" dirty="0">
                <a:solidFill>
                  <a:srgbClr val="FFB547"/>
                </a:solidFill>
                <a:latin typeface="Arial" pitchFamily="34" charset="0"/>
                <a:ea typeface="Arial" pitchFamily="34" charset="-122"/>
                <a:cs typeface="Arial" pitchFamily="34" charset="-120"/>
              </a:rPr>
              <a:t>2  </a:t>
            </a:r>
            <a:pPr indent="0" marL="0">
              <a:buNone/>
            </a:pPr>
            <a:r>
              <a:rPr lang="en-US" sz="1700" b="1" dirty="0">
                <a:solidFill>
                  <a:srgbClr val="FFFFFF"/>
                </a:solidFill>
                <a:latin typeface="Arial" pitchFamily="34" charset="0"/>
                <a:ea typeface="Arial" pitchFamily="34" charset="-122"/>
                <a:cs typeface="Arial" pitchFamily="34" charset="-120"/>
              </a:rPr>
              <a:t>Instruction tuning</a:t>
            </a:r>
            <a:endParaRPr lang="en-US" sz="1700" dirty="0"/>
          </a:p>
        </p:txBody>
      </p:sp>
      <p:sp>
        <p:nvSpPr>
          <p:cNvPr id="20" name="a2_sd"/>
          <p:cNvSpPr txBox="1"/>
          <p:nvPr/>
        </p:nvSpPr>
        <p:spPr>
          <a:xfrm>
            <a:off x="4645152" y="2880360"/>
            <a:ext cx="2926080" cy="82296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Trained on many example conversations: question → ideal answer.</a:t>
            </a:r>
            <a:endParaRPr lang="en-US" sz="1350" dirty="0"/>
          </a:p>
        </p:txBody>
      </p:sp>
      <p:sp>
        <p:nvSpPr>
          <p:cNvPr id="21" name="a2_sr"/>
          <p:cNvSpPr txBox="1"/>
          <p:nvPr/>
        </p:nvSpPr>
        <p:spPr>
          <a:xfrm>
            <a:off x="4645152" y="3749040"/>
            <a:ext cx="2926080" cy="777240"/>
          </a:xfrm>
          <a:prstGeom prst="rect">
            <a:avLst/>
          </a:prstGeom>
          <a:noFill/>
          <a:ln/>
        </p:spPr>
        <p:txBody>
          <a:bodyPr wrap="square" lIns="0" tIns="0" rIns="0" bIns="0" rtlCol="0" anchor="t"/>
          <a:lstStyle/>
          <a:p>
            <a:pPr indent="0" marL="0">
              <a:buNone/>
            </a:pPr>
            <a:r>
              <a:rPr lang="en-US" sz="1300" b="1" dirty="0">
                <a:solidFill>
                  <a:srgbClr val="FFB547"/>
                </a:solidFill>
                <a:latin typeface="Calibri" pitchFamily="34" charset="0"/>
                <a:ea typeface="Calibri" pitchFamily="34" charset="-122"/>
                <a:cs typeface="Calibri" pitchFamily="34" charset="-120"/>
              </a:rPr>
              <a:t>Result: follows instructions and chats instead of just continuing text.</a:t>
            </a:r>
            <a:endParaRPr lang="en-US" sz="1300" dirty="0"/>
          </a:p>
        </p:txBody>
      </p:sp>
      <p:sp>
        <p:nvSpPr>
          <p:cNvPr id="22" name="a2_sc"/>
          <p:cNvSpPr txBox="1"/>
          <p:nvPr/>
        </p:nvSpPr>
        <p:spPr>
          <a:xfrm>
            <a:off x="4645152" y="4617720"/>
            <a:ext cx="2926080" cy="320040"/>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weeks · curated examples</a:t>
            </a:r>
            <a:endParaRPr lang="en-US" sz="1150" dirty="0"/>
          </a:p>
        </p:txBody>
      </p:sp>
      <p:sp>
        <p:nvSpPr>
          <p:cNvPr id="23" name="a3_ar1"/>
          <p:cNvSpPr/>
          <p:nvPr/>
        </p:nvSpPr>
        <p:spPr>
          <a:xfrm>
            <a:off x="7845552" y="3200400"/>
            <a:ext cx="301752" cy="365760"/>
          </a:xfrm>
          <a:prstGeom prst="rightArrow">
            <a:avLst/>
          </a:prstGeom>
          <a:solidFill>
            <a:srgbClr val="3A2F6B"/>
          </a:solidFill>
          <a:ln/>
        </p:spPr>
      </p:sp>
      <p:sp>
        <p:nvSpPr>
          <p:cNvPr id="24" name="a3_s"/>
          <p:cNvSpPr/>
          <p:nvPr/>
        </p:nvSpPr>
        <p:spPr>
          <a:xfrm>
            <a:off x="8193024" y="1783080"/>
            <a:ext cx="3429000" cy="3246120"/>
          </a:xfrm>
          <a:prstGeom prst="roundRect">
            <a:avLst>
              <a:gd name="adj" fmla="val 338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5" name="a3_si_c"/>
          <p:cNvSpPr/>
          <p:nvPr/>
        </p:nvSpPr>
        <p:spPr>
          <a:xfrm>
            <a:off x="8467344" y="2011680"/>
            <a:ext cx="731520" cy="731520"/>
          </a:xfrm>
          <a:prstGeom prst="ellipse">
            <a:avLst/>
          </a:prstGeom>
          <a:solidFill>
            <a:srgbClr val="2EE6A6">
              <a:alpha val="20000"/>
            </a:srgbClr>
          </a:solidFill>
          <a:ln w="19050">
            <a:solidFill>
              <a:srgbClr val="2EE6A6"/>
            </a:solidFill>
            <a:prstDash val="solid"/>
          </a:ln>
        </p:spPr>
      </p:sp>
      <p:pic>
        <p:nvPicPr>
          <p:cNvPr id="26" name="a3_si_i" descr="preencoded.png">    </p:cNvPr>
          <p:cNvPicPr>
            <a:picLocks noChangeAspect="1"/>
          </p:cNvPicPr>
          <p:nvPr/>
        </p:nvPicPr>
        <p:blipFill>
          <a:blip r:embed="rId3"/>
          <a:stretch>
            <a:fillRect/>
          </a:stretch>
        </p:blipFill>
        <p:spPr>
          <a:xfrm>
            <a:off x="8657539" y="2201875"/>
            <a:ext cx="351130" cy="351130"/>
          </a:xfrm>
          <a:prstGeom prst="rect">
            <a:avLst/>
          </a:prstGeom>
        </p:spPr>
      </p:pic>
      <p:sp>
        <p:nvSpPr>
          <p:cNvPr id="27" name="a3_st"/>
          <p:cNvSpPr txBox="1"/>
          <p:nvPr/>
        </p:nvSpPr>
        <p:spPr>
          <a:xfrm>
            <a:off x="9336024" y="2057400"/>
            <a:ext cx="2194560" cy="640080"/>
          </a:xfrm>
          <a:prstGeom prst="rect">
            <a:avLst/>
          </a:prstGeom>
          <a:noFill/>
          <a:ln/>
        </p:spPr>
        <p:txBody>
          <a:bodyPr wrap="square" lIns="0" tIns="0" rIns="0" bIns="0" rtlCol="0" anchor="ctr"/>
          <a:lstStyle/>
          <a:p>
            <a:pPr indent="0" marL="0">
              <a:buNone/>
            </a:pPr>
            <a:r>
              <a:rPr lang="en-US" sz="1700" b="1" dirty="0">
                <a:solidFill>
                  <a:srgbClr val="2EE6A6"/>
                </a:solidFill>
                <a:latin typeface="Arial" pitchFamily="34" charset="0"/>
                <a:ea typeface="Arial" pitchFamily="34" charset="-122"/>
                <a:cs typeface="Arial" pitchFamily="34" charset="-120"/>
              </a:rPr>
              <a:t>3  </a:t>
            </a:r>
            <a:pPr indent="0" marL="0">
              <a:buNone/>
            </a:pPr>
            <a:r>
              <a:rPr lang="en-US" sz="1700" b="1" dirty="0">
                <a:solidFill>
                  <a:srgbClr val="FFFFFF"/>
                </a:solidFill>
                <a:latin typeface="Arial" pitchFamily="34" charset="0"/>
                <a:ea typeface="Arial" pitchFamily="34" charset="-122"/>
                <a:cs typeface="Arial" pitchFamily="34" charset="-120"/>
              </a:rPr>
              <a:t>Alignment (RLHF)</a:t>
            </a:r>
            <a:endParaRPr lang="en-US" sz="1700" dirty="0"/>
          </a:p>
        </p:txBody>
      </p:sp>
      <p:sp>
        <p:nvSpPr>
          <p:cNvPr id="28" name="a3_sd"/>
          <p:cNvSpPr txBox="1"/>
          <p:nvPr/>
        </p:nvSpPr>
        <p:spPr>
          <a:xfrm>
            <a:off x="8467344" y="2880360"/>
            <a:ext cx="2926080" cy="822960"/>
          </a:xfrm>
          <a:prstGeom prst="rect">
            <a:avLst/>
          </a:prstGeom>
          <a:noFill/>
          <a:ln/>
        </p:spPr>
        <p:txBody>
          <a:bodyPr wrap="square" lIns="0" tIns="0" rIns="0" bIns="0" rtlCol="0" anchor="t"/>
          <a:lstStyle/>
          <a:p>
            <a:pPr indent="0" marL="0">
              <a:buNone/>
            </a:pPr>
            <a:r>
              <a:rPr lang="en-US" sz="1350" dirty="0">
                <a:solidFill>
                  <a:srgbClr val="E9E4FF"/>
                </a:solidFill>
                <a:latin typeface="Calibri" pitchFamily="34" charset="0"/>
                <a:ea typeface="Calibri" pitchFamily="34" charset="-122"/>
                <a:cs typeface="Calibri" pitchFamily="34" charset="-120"/>
              </a:rPr>
              <a:t>Humans rank answers. The model is rewarded for helpful, honest, safe responses.</a:t>
            </a:r>
            <a:endParaRPr lang="en-US" sz="1350" dirty="0"/>
          </a:p>
        </p:txBody>
      </p:sp>
      <p:sp>
        <p:nvSpPr>
          <p:cNvPr id="29" name="a3_sr"/>
          <p:cNvSpPr txBox="1"/>
          <p:nvPr/>
        </p:nvSpPr>
        <p:spPr>
          <a:xfrm>
            <a:off x="8467344" y="3749040"/>
            <a:ext cx="2926080" cy="777240"/>
          </a:xfrm>
          <a:prstGeom prst="rect">
            <a:avLst/>
          </a:prstGeom>
          <a:noFill/>
          <a:ln/>
        </p:spPr>
        <p:txBody>
          <a:bodyPr wrap="square" lIns="0" tIns="0" rIns="0" bIns="0" rtlCol="0" anchor="t"/>
          <a:lstStyle/>
          <a:p>
            <a:pPr indent="0" marL="0">
              <a:buNone/>
            </a:pPr>
            <a:r>
              <a:rPr lang="en-US" sz="1300" b="1" dirty="0">
                <a:solidFill>
                  <a:srgbClr val="2EE6A6"/>
                </a:solidFill>
                <a:latin typeface="Calibri" pitchFamily="34" charset="0"/>
                <a:ea typeface="Calibri" pitchFamily="34" charset="-122"/>
                <a:cs typeface="Calibri" pitchFamily="34" charset="-120"/>
              </a:rPr>
              <a:t>Result: the assistant you call through the API today.</a:t>
            </a:r>
            <a:endParaRPr lang="en-US" sz="1300" dirty="0"/>
          </a:p>
        </p:txBody>
      </p:sp>
      <p:sp>
        <p:nvSpPr>
          <p:cNvPr id="30" name="a3_sc"/>
          <p:cNvSpPr txBox="1"/>
          <p:nvPr/>
        </p:nvSpPr>
        <p:spPr>
          <a:xfrm>
            <a:off x="8467344" y="4617720"/>
            <a:ext cx="2926080" cy="320040"/>
          </a:xfrm>
          <a:prstGeom prst="rect">
            <a:avLst/>
          </a:prstGeom>
          <a:noFill/>
          <a:ln/>
        </p:spPr>
        <p:txBody>
          <a:bodyPr wrap="square" lIns="0" tIns="0" rIns="0" bIns="0" rtlCol="0" anchor="t"/>
          <a:lstStyle/>
          <a:p>
            <a:pPr indent="0" marL="0">
              <a:buNone/>
            </a:pPr>
            <a:r>
              <a:rPr lang="en-US" sz="1150" i="1" dirty="0">
                <a:solidFill>
                  <a:srgbClr val="6F63A0"/>
                </a:solidFill>
                <a:latin typeface="Calibri" pitchFamily="34" charset="0"/>
                <a:ea typeface="Calibri" pitchFamily="34" charset="-122"/>
                <a:cs typeface="Calibri" pitchFamily="34" charset="-120"/>
              </a:rPr>
              <a:t>ongoing · human feedback</a:t>
            </a:r>
            <a:endParaRPr lang="en-US" sz="1150" dirty="0"/>
          </a:p>
        </p:txBody>
      </p:sp>
      <p:sp>
        <p:nvSpPr>
          <p:cNvPr id="31" name="a4_cut"/>
          <p:cNvSpPr/>
          <p:nvPr/>
        </p:nvSpPr>
        <p:spPr>
          <a:xfrm>
            <a:off x="548640" y="5303520"/>
            <a:ext cx="11091672" cy="822960"/>
          </a:xfrm>
          <a:prstGeom prst="roundRect">
            <a:avLst>
              <a:gd name="adj" fmla="val 11111"/>
            </a:avLst>
          </a:prstGeom>
          <a:solidFill>
            <a:srgbClr val="FF5C8A">
              <a:alpha val="15000"/>
            </a:srgbClr>
          </a:solidFill>
          <a:ln w="19050">
            <a:solidFill>
              <a:srgbClr val="FF5C8A"/>
            </a:solidFill>
            <a:prstDash val="solid"/>
          </a:ln>
        </p:spPr>
      </p:sp>
      <p:pic>
        <p:nvPicPr>
          <p:cNvPr id="32" name="a4_cuti" descr="preencoded.png">    </p:cNvPr>
          <p:cNvPicPr>
            <a:picLocks noChangeAspect="1"/>
          </p:cNvPicPr>
          <p:nvPr/>
        </p:nvPicPr>
        <p:blipFill>
          <a:blip r:embed="rId4"/>
          <a:stretch>
            <a:fillRect/>
          </a:stretch>
        </p:blipFill>
        <p:spPr>
          <a:xfrm>
            <a:off x="777240" y="5486400"/>
            <a:ext cx="457200" cy="457200"/>
          </a:xfrm>
          <a:prstGeom prst="rect">
            <a:avLst/>
          </a:prstGeom>
        </p:spPr>
      </p:pic>
      <p:sp>
        <p:nvSpPr>
          <p:cNvPr id="33" name="a4_cutt"/>
          <p:cNvSpPr txBox="1"/>
          <p:nvPr/>
        </p:nvSpPr>
        <p:spPr>
          <a:xfrm>
            <a:off x="1417320" y="5303520"/>
            <a:ext cx="10058400" cy="822960"/>
          </a:xfrm>
          <a:prstGeom prst="rect">
            <a:avLst/>
          </a:prstGeom>
          <a:noFill/>
          <a:ln/>
        </p:spPr>
        <p:txBody>
          <a:bodyPr wrap="square" lIns="0" tIns="0" rIns="0" bIns="0" rtlCol="0" anchor="ctr"/>
          <a:lstStyle/>
          <a:p>
            <a:pPr indent="0" marL="0">
              <a:buNone/>
            </a:pPr>
            <a:r>
              <a:rPr lang="en-US" sz="1450" b="1" dirty="0">
                <a:solidFill>
                  <a:srgbClr val="FF5C8A"/>
                </a:solidFill>
                <a:latin typeface="Calibri" pitchFamily="34" charset="0"/>
                <a:ea typeface="Calibri" pitchFamily="34" charset="-122"/>
                <a:cs typeface="Calibri" pitchFamily="34" charset="-120"/>
              </a:rPr>
              <a:t>Knowledge cutoff: </a:t>
            </a:r>
            <a:pPr indent="0" marL="0">
              <a:buNone/>
            </a:pPr>
            <a:r>
              <a:rPr lang="en-US" sz="1450" dirty="0">
                <a:solidFill>
                  <a:srgbClr val="FFFFFF"/>
                </a:solidFill>
                <a:latin typeface="Calibri" pitchFamily="34" charset="0"/>
                <a:ea typeface="Calibri" pitchFamily="34" charset="-122"/>
                <a:cs typeface="Calibri" pitchFamily="34" charset="-120"/>
              </a:rPr>
              <a:t>the model only knows what was in its training data. It doesn't know today's news, your codebase or your company's docs. That's why we add RAG (Session 6) and tools (Session 7).</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3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p:cTn id="53" dur="500" fill="hold"/>
                                        <p:tgtEl>
                                          <p:spTgt spid="17"/>
                                        </p:tgtEl>
                                        <p:attrNameLst>
                                          <p:attrName>ppt_x</p:attrName>
                                        </p:attrNameLst>
                                      </p:cBhvr>
                                      <p:tavLst>
                                        <p:tav tm="0">
                                          <p:val>
                                            <p:strVal val="#ppt_x"/>
                                          </p:val>
                                        </p:tav>
                                        <p:tav tm="100000">
                                          <p:val>
                                            <p:strVal val="#ppt_x"/>
                                          </p:val>
                                        </p:tav>
                                      </p:tavLst>
                                    </p:anim>
                                    <p:anim calcmode="lin" valueType="num">
                                      <p:cBhvr>
                                        <p:cTn id="54" dur="500" decel="1000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anim calcmode="lin" valueType="num">
                                      <p:cBhvr>
                                        <p:cTn id="58" dur="500" fill="hold"/>
                                        <p:tgtEl>
                                          <p:spTgt spid="18"/>
                                        </p:tgtEl>
                                        <p:attrNameLst>
                                          <p:attrName>ppt_x</p:attrName>
                                        </p:attrNameLst>
                                      </p:cBhvr>
                                      <p:tavLst>
                                        <p:tav tm="0">
                                          <p:val>
                                            <p:strVal val="#ppt_x"/>
                                          </p:val>
                                        </p:tav>
                                        <p:tav tm="100000">
                                          <p:val>
                                            <p:strVal val="#ppt_x"/>
                                          </p:val>
                                        </p:tav>
                                      </p:tavLst>
                                    </p:anim>
                                    <p:anim calcmode="lin" valueType="num">
                                      <p:cBhvr>
                                        <p:cTn id="59" dur="500" decel="100000" fill="hold"/>
                                        <p:tgtEl>
                                          <p:spTgt spid="18"/>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decel="100000" fill="hold"/>
                                        <p:tgtEl>
                                          <p:spTgt spid="19"/>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decel="1000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anim calcmode="lin" valueType="num">
                                      <p:cBhvr>
                                        <p:cTn id="73" dur="500" fill="hold"/>
                                        <p:tgtEl>
                                          <p:spTgt spid="21"/>
                                        </p:tgtEl>
                                        <p:attrNameLst>
                                          <p:attrName>ppt_x</p:attrName>
                                        </p:attrNameLst>
                                      </p:cBhvr>
                                      <p:tavLst>
                                        <p:tav tm="0">
                                          <p:val>
                                            <p:strVal val="#ppt_x"/>
                                          </p:val>
                                        </p:tav>
                                        <p:tav tm="100000">
                                          <p:val>
                                            <p:strVal val="#ppt_x"/>
                                          </p:val>
                                        </p:tav>
                                      </p:tavLst>
                                    </p:anim>
                                    <p:anim calcmode="lin" valueType="num">
                                      <p:cBhvr>
                                        <p:cTn id="74" dur="500" decel="1000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anim calcmode="lin" valueType="num">
                                      <p:cBhvr>
                                        <p:cTn id="85" dur="500" fill="hold"/>
                                        <p:tgtEl>
                                          <p:spTgt spid="23"/>
                                        </p:tgtEl>
                                        <p:attrNameLst>
                                          <p:attrName>ppt_x</p:attrName>
                                        </p:attrNameLst>
                                      </p:cBhvr>
                                      <p:tavLst>
                                        <p:tav tm="0">
                                          <p:val>
                                            <p:strVal val="#ppt_x"/>
                                          </p:val>
                                        </p:tav>
                                        <p:tav tm="100000">
                                          <p:val>
                                            <p:strVal val="#ppt_x"/>
                                          </p:val>
                                        </p:tav>
                                      </p:tavLst>
                                    </p:anim>
                                    <p:anim calcmode="lin" valueType="num">
                                      <p:cBhvr>
                                        <p:cTn id="86" dur="500" decel="100000" fill="hold"/>
                                        <p:tgtEl>
                                          <p:spTgt spid="23"/>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anim calcmode="lin" valueType="num">
                                      <p:cBhvr>
                                        <p:cTn id="90" dur="500" fill="hold"/>
                                        <p:tgtEl>
                                          <p:spTgt spid="24"/>
                                        </p:tgtEl>
                                        <p:attrNameLst>
                                          <p:attrName>ppt_x</p:attrName>
                                        </p:attrNameLst>
                                      </p:cBhvr>
                                      <p:tavLst>
                                        <p:tav tm="0">
                                          <p:val>
                                            <p:strVal val="#ppt_x"/>
                                          </p:val>
                                        </p:tav>
                                        <p:tav tm="100000">
                                          <p:val>
                                            <p:strVal val="#ppt_x"/>
                                          </p:val>
                                        </p:tav>
                                      </p:tavLst>
                                    </p:anim>
                                    <p:anim calcmode="lin" valueType="num">
                                      <p:cBhvr>
                                        <p:cTn id="91" dur="500" decel="100000" fill="hold"/>
                                        <p:tgtEl>
                                          <p:spTgt spid="24"/>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00"/>
                                        <p:tgtEl>
                                          <p:spTgt spid="25"/>
                                        </p:tgtEl>
                                      </p:cBhvr>
                                    </p:animEffect>
                                    <p:anim calcmode="lin" valueType="num">
                                      <p:cBhvr>
                                        <p:cTn id="95" dur="500" fill="hold"/>
                                        <p:tgtEl>
                                          <p:spTgt spid="25"/>
                                        </p:tgtEl>
                                        <p:attrNameLst>
                                          <p:attrName>ppt_x</p:attrName>
                                        </p:attrNameLst>
                                      </p:cBhvr>
                                      <p:tavLst>
                                        <p:tav tm="0">
                                          <p:val>
                                            <p:strVal val="#ppt_x"/>
                                          </p:val>
                                        </p:tav>
                                        <p:tav tm="100000">
                                          <p:val>
                                            <p:strVal val="#ppt_x"/>
                                          </p:val>
                                        </p:tav>
                                      </p:tavLst>
                                    </p:anim>
                                    <p:anim calcmode="lin" valueType="num">
                                      <p:cBhvr>
                                        <p:cTn id="96" dur="500" decel="10000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anim calcmode="lin" valueType="num">
                                      <p:cBhvr>
                                        <p:cTn id="100" dur="500" fill="hold"/>
                                        <p:tgtEl>
                                          <p:spTgt spid="26"/>
                                        </p:tgtEl>
                                        <p:attrNameLst>
                                          <p:attrName>ppt_x</p:attrName>
                                        </p:attrNameLst>
                                      </p:cBhvr>
                                      <p:tavLst>
                                        <p:tav tm="0">
                                          <p:val>
                                            <p:strVal val="#ppt_x"/>
                                          </p:val>
                                        </p:tav>
                                        <p:tav tm="100000">
                                          <p:val>
                                            <p:strVal val="#ppt_x"/>
                                          </p:val>
                                        </p:tav>
                                      </p:tavLst>
                                    </p:anim>
                                    <p:anim calcmode="lin" valueType="num">
                                      <p:cBhvr>
                                        <p:cTn id="101" dur="500" decel="100000" fill="hold"/>
                                        <p:tgtEl>
                                          <p:spTgt spid="26"/>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500"/>
                                        <p:tgtEl>
                                          <p:spTgt spid="27"/>
                                        </p:tgtEl>
                                      </p:cBhvr>
                                    </p:animEffect>
                                    <p:anim calcmode="lin" valueType="num">
                                      <p:cBhvr>
                                        <p:cTn id="105" dur="500" fill="hold"/>
                                        <p:tgtEl>
                                          <p:spTgt spid="27"/>
                                        </p:tgtEl>
                                        <p:attrNameLst>
                                          <p:attrName>ppt_x</p:attrName>
                                        </p:attrNameLst>
                                      </p:cBhvr>
                                      <p:tavLst>
                                        <p:tav tm="0">
                                          <p:val>
                                            <p:strVal val="#ppt_x"/>
                                          </p:val>
                                        </p:tav>
                                        <p:tav tm="100000">
                                          <p:val>
                                            <p:strVal val="#ppt_x"/>
                                          </p:val>
                                        </p:tav>
                                      </p:tavLst>
                                    </p:anim>
                                    <p:anim calcmode="lin" valueType="num">
                                      <p:cBhvr>
                                        <p:cTn id="106" dur="500" decel="100000" fill="hold"/>
                                        <p:tgtEl>
                                          <p:spTgt spid="27"/>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anim calcmode="lin" valueType="num">
                                      <p:cBhvr>
                                        <p:cTn id="110" dur="500" fill="hold"/>
                                        <p:tgtEl>
                                          <p:spTgt spid="28"/>
                                        </p:tgtEl>
                                        <p:attrNameLst>
                                          <p:attrName>ppt_x</p:attrName>
                                        </p:attrNameLst>
                                      </p:cBhvr>
                                      <p:tavLst>
                                        <p:tav tm="0">
                                          <p:val>
                                            <p:strVal val="#ppt_x"/>
                                          </p:val>
                                        </p:tav>
                                        <p:tav tm="100000">
                                          <p:val>
                                            <p:strVal val="#ppt_x"/>
                                          </p:val>
                                        </p:tav>
                                      </p:tavLst>
                                    </p:anim>
                                    <p:anim calcmode="lin" valueType="num">
                                      <p:cBhvr>
                                        <p:cTn id="111" dur="500" decel="100000" fill="hold"/>
                                        <p:tgtEl>
                                          <p:spTgt spid="28"/>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anim calcmode="lin" valueType="num">
                                      <p:cBhvr>
                                        <p:cTn id="115" dur="500" fill="hold"/>
                                        <p:tgtEl>
                                          <p:spTgt spid="29"/>
                                        </p:tgtEl>
                                        <p:attrNameLst>
                                          <p:attrName>ppt_x</p:attrName>
                                        </p:attrNameLst>
                                      </p:cBhvr>
                                      <p:tavLst>
                                        <p:tav tm="0">
                                          <p:val>
                                            <p:strVal val="#ppt_x"/>
                                          </p:val>
                                        </p:tav>
                                        <p:tav tm="100000">
                                          <p:val>
                                            <p:strVal val="#ppt_x"/>
                                          </p:val>
                                        </p:tav>
                                      </p:tavLst>
                                    </p:anim>
                                    <p:anim calcmode="lin" valueType="num">
                                      <p:cBhvr>
                                        <p:cTn id="116" dur="500" decel="1000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p:cTn id="120" dur="500" fill="hold"/>
                                        <p:tgtEl>
                                          <p:spTgt spid="30"/>
                                        </p:tgtEl>
                                        <p:attrNameLst>
                                          <p:attrName>ppt_x</p:attrName>
                                        </p:attrNameLst>
                                      </p:cBhvr>
                                      <p:tavLst>
                                        <p:tav tm="0">
                                          <p:val>
                                            <p:strVal val="#ppt_x"/>
                                          </p:val>
                                        </p:tav>
                                        <p:tav tm="100000">
                                          <p:val>
                                            <p:strVal val="#ppt_x"/>
                                          </p:val>
                                        </p:tav>
                                      </p:tavLst>
                                    </p:anim>
                                    <p:anim calcmode="lin" valueType="num">
                                      <p:cBhvr>
                                        <p:cTn id="121" dur="500" decel="100000" fill="hold"/>
                                        <p:tgtEl>
                                          <p:spTgt spid="30"/>
                                        </p:tgtEl>
                                        <p:attrNameLst>
                                          <p:attrName>ppt_y</p:attrName>
                                        </p:attrNameLst>
                                      </p:cBhvr>
                                      <p:tavLst>
                                        <p:tav tm="0">
                                          <p:val>
                                            <p:strVal val="#ppt_y+.06"/>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00"/>
                                        <p:tgtEl>
                                          <p:spTgt spid="31"/>
                                        </p:tgtEl>
                                      </p:cBhvr>
                                    </p:animEffect>
                                    <p:anim calcmode="lin" valueType="num">
                                      <p:cBhvr>
                                        <p:cTn id="127" dur="500" fill="hold"/>
                                        <p:tgtEl>
                                          <p:spTgt spid="31"/>
                                        </p:tgtEl>
                                        <p:attrNameLst>
                                          <p:attrName>ppt_x</p:attrName>
                                        </p:attrNameLst>
                                      </p:cBhvr>
                                      <p:tavLst>
                                        <p:tav tm="0">
                                          <p:val>
                                            <p:strVal val="#ppt_x"/>
                                          </p:val>
                                        </p:tav>
                                        <p:tav tm="100000">
                                          <p:val>
                                            <p:strVal val="#ppt_x"/>
                                          </p:val>
                                        </p:tav>
                                      </p:tavLst>
                                    </p:anim>
                                    <p:anim calcmode="lin" valueType="num">
                                      <p:cBhvr>
                                        <p:cTn id="128" dur="500" decel="1000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00"/>
                                        <p:tgtEl>
                                          <p:spTgt spid="32"/>
                                        </p:tgtEl>
                                      </p:cBhvr>
                                    </p:animEffect>
                                    <p:anim calcmode="lin" valueType="num">
                                      <p:cBhvr>
                                        <p:cTn id="132" dur="500" fill="hold"/>
                                        <p:tgtEl>
                                          <p:spTgt spid="32"/>
                                        </p:tgtEl>
                                        <p:attrNameLst>
                                          <p:attrName>ppt_x</p:attrName>
                                        </p:attrNameLst>
                                      </p:cBhvr>
                                      <p:tavLst>
                                        <p:tav tm="0">
                                          <p:val>
                                            <p:strVal val="#ppt_x"/>
                                          </p:val>
                                        </p:tav>
                                        <p:tav tm="100000">
                                          <p:val>
                                            <p:strVal val="#ppt_x"/>
                                          </p:val>
                                        </p:tav>
                                      </p:tavLst>
                                    </p:anim>
                                    <p:anim calcmode="lin" valueType="num">
                                      <p:cBhvr>
                                        <p:cTn id="133" dur="500" decel="1000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00"/>
                                        <p:tgtEl>
                                          <p:spTgt spid="33"/>
                                        </p:tgtEl>
                                      </p:cBhvr>
                                    </p:animEffect>
                                    <p:anim calcmode="lin" valueType="num">
                                      <p:cBhvr>
                                        <p:cTn id="137" dur="500" fill="hold"/>
                                        <p:tgtEl>
                                          <p:spTgt spid="33"/>
                                        </p:tgtEl>
                                        <p:attrNameLst>
                                          <p:attrName>ppt_x</p:attrName>
                                        </p:attrNameLst>
                                      </p:cBhvr>
                                      <p:tavLst>
                                        <p:tav tm="0">
                                          <p:val>
                                            <p:strVal val="#ppt_x"/>
                                          </p:val>
                                        </p:tav>
                                        <p:tav tm="100000">
                                          <p:val>
                                            <p:strVal val="#ppt_x"/>
                                          </p:val>
                                        </p:tav>
                                      </p:tavLst>
                                    </p:anim>
                                    <p:anim calcmode="lin" valueType="num">
                                      <p:cBhvr>
                                        <p:cTn id="138" dur="50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A1A"/>
        </a:solidFill>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3" name="Text 1"/>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12</a:t>
            </a:r>
            <a:endParaRPr lang="en-US" sz="1000" dirty="0"/>
          </a:p>
        </p:txBody>
      </p:sp>
      <p:sp>
        <p:nvSpPr>
          <p:cNvPr id="4" name="auto1_ring"/>
          <p:cNvSpPr/>
          <p:nvPr/>
        </p:nvSpPr>
        <p:spPr>
          <a:xfrm>
            <a:off x="7498080" y="822960"/>
            <a:ext cx="5120640" cy="5120640"/>
          </a:xfrm>
          <a:prstGeom prst="ellipse">
            <a:avLst/>
          </a:prstGeom>
          <a:solidFill>
            <a:srgbClr val="2EE6A6">
              <a:alpha val="15000"/>
            </a:srgbClr>
          </a:solidFill>
          <a:ln w="19050">
            <a:solidFill>
              <a:srgbClr val="2EE6A6"/>
            </a:solidFill>
            <a:prstDash val="solid"/>
          </a:ln>
        </p:spPr>
      </p:sp>
      <p:pic>
        <p:nvPicPr>
          <p:cNvPr id="5" name="auto2_ic" descr="preencoded.png">    </p:cNvPr>
          <p:cNvPicPr>
            <a:picLocks noChangeAspect="1"/>
          </p:cNvPicPr>
          <p:nvPr/>
        </p:nvPicPr>
        <p:blipFill>
          <a:blip r:embed="rId1"/>
          <a:stretch>
            <a:fillRect/>
          </a:stretch>
        </p:blipFill>
        <p:spPr>
          <a:xfrm>
            <a:off x="9052560" y="2377440"/>
            <a:ext cx="2011680" cy="2011680"/>
          </a:xfrm>
          <a:prstGeom prst="rect">
            <a:avLst/>
          </a:prstGeom>
        </p:spPr>
      </p:pic>
      <p:sp>
        <p:nvSpPr>
          <p:cNvPr id="6" name="auto1_n"/>
          <p:cNvSpPr txBox="1"/>
          <p:nvPr/>
        </p:nvSpPr>
        <p:spPr>
          <a:xfrm>
            <a:off x="548640" y="1463040"/>
            <a:ext cx="3657600" cy="1463040"/>
          </a:xfrm>
          <a:prstGeom prst="rect">
            <a:avLst/>
          </a:prstGeom>
          <a:noFill/>
          <a:ln/>
        </p:spPr>
        <p:txBody>
          <a:bodyPr wrap="square" lIns="0" tIns="0" rIns="0" bIns="0" rtlCol="0" anchor="t"/>
          <a:lstStyle/>
          <a:p>
            <a:pPr indent="0" marL="0">
              <a:buNone/>
            </a:pPr>
            <a:r>
              <a:rPr lang="en-US" sz="11000" b="1" dirty="0">
                <a:solidFill>
                  <a:srgbClr val="2EE6A6"/>
                </a:solidFill>
                <a:latin typeface="Arial" pitchFamily="34" charset="0"/>
                <a:ea typeface="Arial" pitchFamily="34" charset="-122"/>
                <a:cs typeface="Arial" pitchFamily="34" charset="-120"/>
              </a:rPr>
              <a:t>02</a:t>
            </a:r>
            <a:endParaRPr lang="en-US" sz="11000" dirty="0"/>
          </a:p>
        </p:txBody>
      </p:sp>
      <p:sp>
        <p:nvSpPr>
          <p:cNvPr id="7" name="auto2_t"/>
          <p:cNvSpPr txBox="1"/>
          <p:nvPr/>
        </p:nvSpPr>
        <p:spPr>
          <a:xfrm>
            <a:off x="548640" y="3017520"/>
            <a:ext cx="6766560" cy="137160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What does an LLM actually do?</a:t>
            </a:r>
            <a:endParaRPr lang="en-US" sz="4200" dirty="0"/>
          </a:p>
        </p:txBody>
      </p:sp>
      <p:sp>
        <p:nvSpPr>
          <p:cNvPr id="8" name="auto3_s"/>
          <p:cNvSpPr txBox="1"/>
          <p:nvPr/>
        </p:nvSpPr>
        <p:spPr>
          <a:xfrm>
            <a:off x="548640" y="4480560"/>
            <a:ext cx="6583680" cy="731520"/>
          </a:xfrm>
          <a:prstGeom prst="rect">
            <a:avLst/>
          </a:prstGeom>
          <a:noFill/>
          <a:ln/>
        </p:spPr>
        <p:txBody>
          <a:bodyPr wrap="square" lIns="0" tIns="0" rIns="0" bIns="0" rtlCol="0" anchor="t"/>
          <a:lstStyle/>
          <a:p>
            <a:pPr indent="0" marL="0">
              <a:buNone/>
            </a:pPr>
            <a:r>
              <a:rPr lang="en-US" sz="1800" dirty="0">
                <a:solidFill>
                  <a:srgbClr val="A99BD6"/>
                </a:solidFill>
                <a:latin typeface="Calibri" pitchFamily="34" charset="0"/>
                <a:ea typeface="Calibri" pitchFamily="34" charset="-122"/>
                <a:cs typeface="Calibri" pitchFamily="34" charset="-120"/>
              </a:rPr>
              <a:t>Spoiler: it's the world's most expensive autocomplete, and that's a compliment.</a:t>
            </a:r>
            <a:endParaRPr lang="en-US" sz="18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1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p:cTn id="6" dur="500" fill="hold"/>
                                        <p:tgtEl>
                                          <p:spTgt spid="4"/>
                                        </p:tgtEl>
                                        <p:attrNameLst>
                                          <p:attrName>ppt_x</p:attrName>
                                        </p:attrNameLst>
                                      </p:cBhvr>
                                      <p:tavLst>
                                        <p:tav tm="0">
                                          <p:val>
                                            <p:strVal val="#ppt_x"/>
                                          </p:val>
                                        </p:tav>
                                        <p:tav tm="100000">
                                          <p:val>
                                            <p:strVal val="#ppt_x"/>
                                          </p:val>
                                        </p:tav>
                                      </p:tavLst>
                                    </p:anim>
                                    <p:anim calcmode="lin" valueType="num">
                                      <p:cBhvr>
                                        <p:cTn id="7" dur="500" decel="10000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decel="100000" fill="hold"/>
                                        <p:tgtEl>
                                          <p:spTgt spid="6"/>
                                        </p:tgtEl>
                                        <p:attrNameLst>
                                          <p:attrName>ppt_y</p:attrName>
                                        </p:attrNameLst>
                                      </p:cBhvr>
                                      <p:tavLst>
                                        <p:tav tm="0">
                                          <p:val>
                                            <p:strVal val="#ppt_y+.06"/>
                                          </p:val>
                                        </p:tav>
                                        <p:tav tm="100000">
                                          <p:val>
                                            <p:strVal val="#ppt_y"/>
                                          </p:val>
                                        </p:tav>
                                      </p:tavLst>
                                    </p:anim>
                                  </p:childTnLst>
                                </p:cTn>
                              </p:par>
                            </p:childTnLst>
                          </p:cTn>
                        </p:par>
                        <p:par>
                          <p:cTn id="24"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decel="100000" fill="hold"/>
                                        <p:tgtEl>
                                          <p:spTgt spid="7"/>
                                        </p:tgtEl>
                                        <p:attrNameLst>
                                          <p:attrName>ppt_y</p:attrName>
                                        </p:attrNameLst>
                                      </p:cBhvr>
                                      <p:tavLst>
                                        <p:tav tm="0">
                                          <p:val>
                                            <p:strVal val="#ppt_y+.06"/>
                                          </p:val>
                                        </p:tav>
                                        <p:tav tm="100000">
                                          <p:val>
                                            <p:strVal val="#ppt_y"/>
                                          </p:val>
                                        </p:tav>
                                      </p:tavLst>
                                    </p:anim>
                                  </p:childTnLst>
                                </p:cTn>
                              </p:par>
                            </p:childTnLst>
                          </p:cTn>
                        </p:par>
                        <p:par>
                          <p:cTn id="30" fill="hold">
                            <p:stCondLst>
                              <p:cond delay="700"/>
                            </p:stCondLst>
                            <p:childTnLst>
                              <p:par>
                                <p:cTn id="25" presetID="42"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13</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CORE IDEA</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It predicts the next token. That's it.</a:t>
            </a:r>
            <a:endParaRPr lang="en-US" sz="3400" dirty="0"/>
          </a:p>
        </p:txBody>
      </p:sp>
      <p:sp>
        <p:nvSpPr>
          <p:cNvPr id="8" name="a1_prompt"/>
          <p:cNvSpPr/>
          <p:nvPr/>
        </p:nvSpPr>
        <p:spPr>
          <a:xfrm>
            <a:off x="548640" y="1828800"/>
            <a:ext cx="5120640" cy="1280160"/>
          </a:xfrm>
          <a:prstGeom prst="roundRect">
            <a:avLst>
              <a:gd name="adj" fmla="val 8571"/>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pt"/>
          <p:cNvSpPr txBox="1"/>
          <p:nvPr/>
        </p:nvSpPr>
        <p:spPr>
          <a:xfrm>
            <a:off x="822960" y="1965960"/>
            <a:ext cx="466344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The best thing about .NET is that it's </a:t>
            </a:r>
            <a:pPr indent="0" marL="0">
              <a:buNone/>
            </a:pPr>
            <a:r>
              <a:rPr lang="en-US" sz="2200" b="1" dirty="0">
                <a:solidFill>
                  <a:srgbClr val="2EE6A6"/>
                </a:solidFill>
                <a:latin typeface="Calibri" pitchFamily="34" charset="0"/>
                <a:ea typeface="Calibri" pitchFamily="34" charset="-122"/>
                <a:cs typeface="Calibri" pitchFamily="34" charset="-120"/>
              </a:rPr>
              <a:t>___</a:t>
            </a:r>
            <a:endParaRPr lang="en-US" sz="2200" dirty="0"/>
          </a:p>
        </p:txBody>
      </p:sp>
      <p:sp>
        <p:nvSpPr>
          <p:cNvPr id="10" name="a1_exp"/>
          <p:cNvSpPr txBox="1"/>
          <p:nvPr/>
        </p:nvSpPr>
        <p:spPr>
          <a:xfrm>
            <a:off x="548640" y="3383280"/>
            <a:ext cx="5120640" cy="1097280"/>
          </a:xfrm>
          <a:prstGeom prst="rect">
            <a:avLst/>
          </a:prstGeom>
          <a:noFill/>
          <a:ln/>
        </p:spPr>
        <p:txBody>
          <a:bodyPr wrap="square" lIns="0" tIns="0" rIns="0" bIns="0" rtlCol="0" anchor="t"/>
          <a:lstStyle/>
          <a:p>
            <a:pPr indent="0" marL="0">
              <a:buNone/>
            </a:pPr>
            <a:r>
              <a:rPr lang="en-US" sz="1600" dirty="0">
                <a:solidFill>
                  <a:srgbClr val="A99BD6"/>
                </a:solidFill>
                <a:latin typeface="Calibri" pitchFamily="34" charset="0"/>
                <a:ea typeface="Calibri" pitchFamily="34" charset="-122"/>
                <a:cs typeface="Calibri" pitchFamily="34" charset="-120"/>
              </a:rPr>
              <a:t>The model reads the text so far and gives a probability for every possible next token (~100k of them). Then it picks one.</a:t>
            </a:r>
            <a:endParaRPr lang="en-US" sz="1600" dirty="0"/>
          </a:p>
        </p:txBody>
      </p:sp>
      <p:sp>
        <p:nvSpPr>
          <p:cNvPr id="11" name="a3_loop"/>
          <p:cNvSpPr txBox="1"/>
          <p:nvPr/>
        </p:nvSpPr>
        <p:spPr>
          <a:xfrm>
            <a:off x="548640" y="4572000"/>
            <a:ext cx="5120640" cy="914400"/>
          </a:xfrm>
          <a:prstGeom prst="rect">
            <a:avLst/>
          </a:prstGeom>
          <a:noFill/>
          <a:ln/>
        </p:spPr>
        <p:txBody>
          <a:bodyPr wrap="square" lIns="0" tIns="0" rIns="0" bIns="0" rtlCol="0" anchor="t"/>
          <a:lstStyle/>
          <a:p>
            <a:pPr indent="0" marL="0">
              <a:buNone/>
            </a:pPr>
            <a:r>
              <a:rPr lang="en-US" sz="1600" dirty="0">
                <a:solidFill>
                  <a:srgbClr val="E9E4FF"/>
                </a:solidFill>
                <a:latin typeface="Calibri" pitchFamily="34" charset="0"/>
                <a:ea typeface="Calibri" pitchFamily="34" charset="-122"/>
                <a:cs typeface="Calibri" pitchFamily="34" charset="-120"/>
              </a:rPr>
              <a:t>Picks </a:t>
            </a:r>
            <a:pPr indent="0" marL="0">
              <a:buNone/>
            </a:pPr>
            <a:r>
              <a:rPr lang="en-US" sz="1600" b="1" dirty="0">
                <a:solidFill>
                  <a:srgbClr val="2EE6A6"/>
                </a:solidFill>
                <a:latin typeface="Calibri" pitchFamily="34" charset="0"/>
                <a:ea typeface="Calibri" pitchFamily="34" charset="-122"/>
                <a:cs typeface="Calibri" pitchFamily="34" charset="-120"/>
              </a:rPr>
              <a:t>“fast”</a:t>
            </a:r>
            <a:pPr indent="0" marL="0">
              <a:buNone/>
            </a:pPr>
            <a:r>
              <a:rPr lang="en-US" sz="1600" dirty="0">
                <a:solidFill>
                  <a:srgbClr val="E9E4FF"/>
                </a:solidFill>
                <a:latin typeface="Calibri" pitchFamily="34" charset="0"/>
                <a:ea typeface="Calibri" pitchFamily="34" charset="-122"/>
                <a:cs typeface="Calibri" pitchFamily="34" charset="-120"/>
              </a:rPr>
              <a:t> → appends it → asks again. One token at a time, until it predicts “stop”.</a:t>
            </a:r>
            <a:endParaRPr lang="en-US" sz="1600" dirty="0"/>
          </a:p>
        </p:txBody>
      </p:sp>
      <p:graphicFrame>
        <p:nvGraphicFramePr>
          <p:cNvPr id="12" name="a2_chart" descr=""/>
          <p:cNvGraphicFramePr/>
          <p:nvPr/>
        </p:nvGraphicFramePr>
        <p:xfrm>
          <a:off x="6126480" y="1737360"/>
          <a:ext cx="5486400" cy="42062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anim calcmode="lin" valueType="num">
                                      <p:cBhvr>
                                        <p:cTn id="30" dur="500" fill="hold"/>
                                        <p:tgtEl>
                                          <p:spTgt spid="11"/>
                                        </p:tgtEl>
                                        <p:attrNameLst>
                                          <p:attrName>ppt_x</p:attrName>
                                        </p:attrNameLst>
                                      </p:cBhvr>
                                      <p:tavLst>
                                        <p:tav tm="0">
                                          <p:val>
                                            <p:strVal val="#ppt_x"/>
                                          </p:val>
                                        </p:tav>
                                        <p:tav tm="100000">
                                          <p:val>
                                            <p:strVal val="#ppt_x"/>
                                          </p:val>
                                        </p:tav>
                                      </p:tavLst>
                                    </p:anim>
                                    <p:anim calcmode="lin" valueType="num">
                                      <p:cBhvr>
                                        <p:cTn id="31"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14</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IF AN LLM WERE A C# METHOD…</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Generation is just a loop</a:t>
            </a:r>
            <a:endParaRPr lang="en-US" sz="3400" dirty="0"/>
          </a:p>
        </p:txBody>
      </p:sp>
      <p:sp>
        <p:nvSpPr>
          <p:cNvPr id="8" name="a1_code_bg"/>
          <p:cNvSpPr/>
          <p:nvPr/>
        </p:nvSpPr>
        <p:spPr>
          <a:xfrm>
            <a:off x="548640" y="1783080"/>
            <a:ext cx="6766560" cy="4343400"/>
          </a:xfrm>
          <a:prstGeom prst="roundRect">
            <a:avLst>
              <a:gd name="adj" fmla="val 2526"/>
            </a:avLst>
          </a:prstGeom>
          <a:solidFill>
            <a:srgbClr val="120E24"/>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code_dot0"/>
          <p:cNvSpPr/>
          <p:nvPr/>
        </p:nvSpPr>
        <p:spPr>
          <a:xfrm>
            <a:off x="777240" y="1965960"/>
            <a:ext cx="128016" cy="128016"/>
          </a:xfrm>
          <a:prstGeom prst="ellipse">
            <a:avLst/>
          </a:prstGeom>
          <a:solidFill>
            <a:srgbClr val="FF5F57"/>
          </a:solidFill>
          <a:ln/>
        </p:spPr>
      </p:sp>
      <p:sp>
        <p:nvSpPr>
          <p:cNvPr id="10" name="a1_code_dot1"/>
          <p:cNvSpPr/>
          <p:nvPr/>
        </p:nvSpPr>
        <p:spPr>
          <a:xfrm>
            <a:off x="1005840" y="1965960"/>
            <a:ext cx="128016" cy="128016"/>
          </a:xfrm>
          <a:prstGeom prst="ellipse">
            <a:avLst/>
          </a:prstGeom>
          <a:solidFill>
            <a:srgbClr val="FEBC2E"/>
          </a:solidFill>
          <a:ln/>
        </p:spPr>
      </p:sp>
      <p:sp>
        <p:nvSpPr>
          <p:cNvPr id="11" name="a1_code_dot2"/>
          <p:cNvSpPr/>
          <p:nvPr/>
        </p:nvSpPr>
        <p:spPr>
          <a:xfrm>
            <a:off x="1234440" y="1965960"/>
            <a:ext cx="128016" cy="128016"/>
          </a:xfrm>
          <a:prstGeom prst="ellipse">
            <a:avLst/>
          </a:prstGeom>
          <a:solidFill>
            <a:srgbClr val="28C840"/>
          </a:solidFill>
          <a:ln/>
        </p:spPr>
      </p:sp>
      <p:sp>
        <p:nvSpPr>
          <p:cNvPr id="12" name="a1_code_code"/>
          <p:cNvSpPr txBox="1"/>
          <p:nvPr/>
        </p:nvSpPr>
        <p:spPr>
          <a:xfrm>
            <a:off x="822960" y="2240280"/>
            <a:ext cx="6309360" cy="3749040"/>
          </a:xfrm>
          <a:prstGeom prst="rect">
            <a:avLst/>
          </a:prstGeom>
          <a:noFill/>
          <a:ln/>
        </p:spPr>
        <p:txBody>
          <a:bodyPr wrap="square" lIns="0" tIns="0" rIns="0" bIns="0" rtlCol="0" anchor="t"/>
          <a:lstStyle/>
          <a:p>
            <a:pPr indent="0" marL="0">
              <a:buNone/>
            </a:pPr>
            <a:r>
              <a:rPr lang="en-US" sz="1500" dirty="0">
                <a:solidFill>
                  <a:srgbClr val="6F63A0"/>
                </a:solidFill>
                <a:latin typeface="Courier New" pitchFamily="34" charset="0"/>
                <a:ea typeface="Courier New" pitchFamily="34" charset="-122"/>
                <a:cs typeface="Courier New" pitchFamily="34" charset="-120"/>
              </a:rPr>
              <a:t>// pseudo-code: what happens inside the provider</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string</a:t>
            </a:r>
            <a:pPr indent="0" marL="0">
              <a:buNone/>
            </a:pPr>
            <a:r>
              <a:rPr lang="en-US" sz="1500" dirty="0">
                <a:solidFill>
                  <a:srgbClr val="E9E4FF"/>
                </a:solidFill>
                <a:latin typeface="Courier New" pitchFamily="34" charset="0"/>
                <a:ea typeface="Courier New" pitchFamily="34" charset="-122"/>
                <a:cs typeface="Courier New" pitchFamily="34" charset="-120"/>
              </a:rPr>
              <a:t> Generate(</a:t>
            </a:r>
            <a:pPr indent="0" marL="0">
              <a:buNone/>
            </a:pPr>
            <a:r>
              <a:rPr lang="en-US" sz="1500" dirty="0">
                <a:solidFill>
                  <a:srgbClr val="4FC3F7"/>
                </a:solidFill>
                <a:latin typeface="Courier New" pitchFamily="34" charset="0"/>
                <a:ea typeface="Courier New" pitchFamily="34" charset="-122"/>
                <a:cs typeface="Courier New" pitchFamily="34" charset="-120"/>
              </a:rPr>
              <a:t>string</a:t>
            </a:r>
            <a:pPr indent="0" marL="0">
              <a:buNone/>
            </a:pPr>
            <a:r>
              <a:rPr lang="en-US" sz="1500" dirty="0">
                <a:solidFill>
                  <a:srgbClr val="E9E4FF"/>
                </a:solidFill>
                <a:latin typeface="Courier New" pitchFamily="34" charset="0"/>
                <a:ea typeface="Courier New" pitchFamily="34" charset="-122"/>
                <a:cs typeface="Courier New" pitchFamily="34" charset="-120"/>
              </a:rPr>
              <a:t> prompt)</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var</a:t>
            </a:r>
            <a:pPr indent="0" marL="0">
              <a:buNone/>
            </a:pPr>
            <a:r>
              <a:rPr lang="en-US" sz="1500" dirty="0">
                <a:solidFill>
                  <a:srgbClr val="E9E4FF"/>
                </a:solidFill>
                <a:latin typeface="Courier New" pitchFamily="34" charset="0"/>
                <a:ea typeface="Courier New" pitchFamily="34" charset="-122"/>
                <a:cs typeface="Courier New" pitchFamily="34" charset="-120"/>
              </a:rPr>
              <a:t> text = prompt;</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while</a:t>
            </a:r>
            <a:pPr indent="0" marL="0">
              <a:buNone/>
            </a:pPr>
            <a:r>
              <a:rPr lang="en-US" sz="1500" dirty="0">
                <a:solidFill>
                  <a:srgbClr val="E9E4FF"/>
                </a:solidFill>
                <a:latin typeface="Courier New" pitchFamily="34" charset="0"/>
                <a:ea typeface="Courier New" pitchFamily="34" charset="-122"/>
                <a:cs typeface="Courier New" pitchFamily="34" charset="-120"/>
              </a:rPr>
              <a:t> (</a:t>
            </a:r>
            <a:pPr indent="0" marL="0">
              <a:buNone/>
            </a:pPr>
            <a:r>
              <a:rPr lang="en-US" sz="1500" dirty="0">
                <a:solidFill>
                  <a:srgbClr val="4FC3F7"/>
                </a:solidFill>
                <a:latin typeface="Courier New" pitchFamily="34" charset="0"/>
                <a:ea typeface="Courier New" pitchFamily="34" charset="-122"/>
                <a:cs typeface="Courier New" pitchFamily="34" charset="-120"/>
              </a:rPr>
              <a:t>true</a:t>
            </a:r>
            <a:pPr indent="0" marL="0">
              <a:buNone/>
            </a:pPr>
            <a:r>
              <a:rPr lang="en-US" sz="1500" dirty="0">
                <a:solidFill>
                  <a:srgbClr val="E9E4FF"/>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var</a:t>
            </a:r>
            <a:pPr indent="0" marL="0">
              <a:buNone/>
            </a:pPr>
            <a:r>
              <a:rPr lang="en-US" sz="1500" dirty="0">
                <a:solidFill>
                  <a:srgbClr val="E9E4FF"/>
                </a:solidFill>
                <a:latin typeface="Courier New" pitchFamily="34" charset="0"/>
                <a:ea typeface="Courier New" pitchFamily="34" charset="-122"/>
                <a:cs typeface="Courier New" pitchFamily="34" charset="-120"/>
              </a:rPr>
              <a:t> probs = model.Predict(text); </a:t>
            </a:r>
            <a:pPr indent="0" marL="0">
              <a:buNone/>
            </a:pPr>
            <a:r>
              <a:rPr lang="en-US" sz="1500" dirty="0">
                <a:solidFill>
                  <a:srgbClr val="6F63A0"/>
                </a:solidFill>
                <a:latin typeface="Courier New" pitchFamily="34" charset="0"/>
                <a:ea typeface="Courier New" pitchFamily="34" charset="-122"/>
                <a:cs typeface="Courier New" pitchFamily="34" charset="-120"/>
              </a:rPr>
              <a:t>// 100k</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var</a:t>
            </a:r>
            <a:pPr indent="0" marL="0">
              <a:buNone/>
            </a:pPr>
            <a:r>
              <a:rPr lang="en-US" sz="1500" dirty="0">
                <a:solidFill>
                  <a:srgbClr val="E9E4FF"/>
                </a:solidFill>
                <a:latin typeface="Courier New" pitchFamily="34" charset="0"/>
                <a:ea typeface="Courier New" pitchFamily="34" charset="-122"/>
                <a:cs typeface="Courier New" pitchFamily="34" charset="-120"/>
              </a:rPr>
              <a:t> next  = Sample(probs, temperature);</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if</a:t>
            </a:r>
            <a:pPr indent="0" marL="0">
              <a:buNone/>
            </a:pPr>
            <a:r>
              <a:rPr lang="en-US" sz="1500" dirty="0">
                <a:solidFill>
                  <a:srgbClr val="E9E4FF"/>
                </a:solidFill>
                <a:latin typeface="Courier New" pitchFamily="34" charset="0"/>
                <a:ea typeface="Courier New" pitchFamily="34" charset="-122"/>
                <a:cs typeface="Courier New" pitchFamily="34" charset="-120"/>
              </a:rPr>
              <a:t> (next == </a:t>
            </a:r>
            <a:pPr indent="0" marL="0">
              <a:buNone/>
            </a:pPr>
            <a:r>
              <a:rPr lang="en-US" sz="1500" dirty="0">
                <a:solidFill>
                  <a:srgbClr val="FFB547"/>
                </a:solidFill>
                <a:latin typeface="Courier New" pitchFamily="34" charset="0"/>
                <a:ea typeface="Courier New" pitchFamily="34" charset="-122"/>
                <a:cs typeface="Courier New" pitchFamily="34" charset="-120"/>
              </a:rPr>
              <a:t>"&lt;|end|&gt;"</a:t>
            </a:r>
            <a:pPr indent="0" marL="0">
              <a:buNone/>
            </a:pPr>
            <a:r>
              <a:rPr lang="en-US" sz="1500" dirty="0">
                <a:solidFill>
                  <a:srgbClr val="E9E4FF"/>
                </a:solidFill>
                <a:latin typeface="Courier New" pitchFamily="34" charset="0"/>
                <a:ea typeface="Courier New" pitchFamily="34" charset="-122"/>
                <a:cs typeface="Courier New" pitchFamily="34" charset="-120"/>
              </a:rPr>
              <a:t>) </a:t>
            </a:r>
            <a:pPr indent="0" marL="0">
              <a:buNone/>
            </a:pPr>
            <a:r>
              <a:rPr lang="en-US" sz="1500" dirty="0">
                <a:solidFill>
                  <a:srgbClr val="4FC3F7"/>
                </a:solidFill>
                <a:latin typeface="Courier New" pitchFamily="34" charset="0"/>
                <a:ea typeface="Courier New" pitchFamily="34" charset="-122"/>
                <a:cs typeface="Courier New" pitchFamily="34" charset="-120"/>
              </a:rPr>
              <a:t>break</a:t>
            </a:r>
            <a:pPr indent="0" marL="0">
              <a:buNone/>
            </a:pPr>
            <a:r>
              <a:rPr lang="en-US" sz="1500" dirty="0">
                <a:solidFill>
                  <a:srgbClr val="E9E4FF"/>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        text += next;               </a:t>
            </a:r>
            <a:pPr indent="0" marL="0">
              <a:buNone/>
            </a:pPr>
            <a:r>
              <a:rPr lang="en-US" sz="1500" dirty="0">
                <a:solidFill>
                  <a:srgbClr val="6F63A0"/>
                </a:solidFill>
                <a:latin typeface="Courier New" pitchFamily="34" charset="0"/>
                <a:ea typeface="Courier New" pitchFamily="34" charset="-122"/>
                <a:cs typeface="Courier New" pitchFamily="34" charset="-120"/>
              </a:rPr>
              <a:t>// append &amp; repeat</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    return</a:t>
            </a:r>
            <a:pPr indent="0" marL="0">
              <a:buNone/>
            </a:pPr>
            <a:r>
              <a:rPr lang="en-US" sz="1500" dirty="0">
                <a:solidFill>
                  <a:srgbClr val="E9E4FF"/>
                </a:solidFill>
                <a:latin typeface="Courier New" pitchFamily="34" charset="0"/>
                <a:ea typeface="Courier New" pitchFamily="34" charset="-122"/>
                <a:cs typeface="Courier New" pitchFamily="34" charset="-120"/>
              </a:rPr>
              <a:t> text;</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a:t>
            </a:r>
            <a:endParaRPr lang="en-US" sz="1500" dirty="0"/>
          </a:p>
        </p:txBody>
      </p:sp>
      <p:sp>
        <p:nvSpPr>
          <p:cNvPr id="13" name="a2_f0_c"/>
          <p:cNvSpPr/>
          <p:nvPr/>
        </p:nvSpPr>
        <p:spPr>
          <a:xfrm>
            <a:off x="7680960" y="1828800"/>
            <a:ext cx="777240" cy="777240"/>
          </a:xfrm>
          <a:prstGeom prst="ellipse">
            <a:avLst/>
          </a:prstGeom>
          <a:solidFill>
            <a:srgbClr val="2EE6A6">
              <a:alpha val="20000"/>
            </a:srgbClr>
          </a:solidFill>
          <a:ln w="19050">
            <a:solidFill>
              <a:srgbClr val="2EE6A6"/>
            </a:solidFill>
            <a:prstDash val="solid"/>
          </a:ln>
        </p:spPr>
      </p:sp>
      <p:pic>
        <p:nvPicPr>
          <p:cNvPr id="14" name="a2_f0_i" descr="preencoded.png">    </p:cNvPr>
          <p:cNvPicPr>
            <a:picLocks noChangeAspect="1"/>
          </p:cNvPicPr>
          <p:nvPr/>
        </p:nvPicPr>
        <p:blipFill>
          <a:blip r:embed="rId1"/>
          <a:stretch>
            <a:fillRect/>
          </a:stretch>
        </p:blipFill>
        <p:spPr>
          <a:xfrm>
            <a:off x="7883042" y="2030882"/>
            <a:ext cx="373075" cy="373075"/>
          </a:xfrm>
          <a:prstGeom prst="rect">
            <a:avLst/>
          </a:prstGeom>
        </p:spPr>
      </p:pic>
      <p:sp>
        <p:nvSpPr>
          <p:cNvPr id="15" name="a2_ft0"/>
          <p:cNvSpPr txBox="1"/>
          <p:nvPr/>
        </p:nvSpPr>
        <p:spPr>
          <a:xfrm>
            <a:off x="8641080" y="1828800"/>
            <a:ext cx="310896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One token per loop</a:t>
            </a:r>
            <a:endParaRPr lang="en-US" sz="1800" dirty="0"/>
          </a:p>
        </p:txBody>
      </p:sp>
      <p:sp>
        <p:nvSpPr>
          <p:cNvPr id="16" name="a2_fd0"/>
          <p:cNvSpPr txBox="1"/>
          <p:nvPr/>
        </p:nvSpPr>
        <p:spPr>
          <a:xfrm>
            <a:off x="8641080" y="2240280"/>
            <a:ext cx="3108960" cy="7315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That's why answers stream in word by word</a:t>
            </a:r>
            <a:endParaRPr lang="en-US" sz="1400" dirty="0"/>
          </a:p>
        </p:txBody>
      </p:sp>
      <p:sp>
        <p:nvSpPr>
          <p:cNvPr id="17" name="a3_f1_c"/>
          <p:cNvSpPr/>
          <p:nvPr/>
        </p:nvSpPr>
        <p:spPr>
          <a:xfrm>
            <a:off x="7680960" y="3246120"/>
            <a:ext cx="777240" cy="777240"/>
          </a:xfrm>
          <a:prstGeom prst="ellipse">
            <a:avLst/>
          </a:prstGeom>
          <a:solidFill>
            <a:srgbClr val="FFB547">
              <a:alpha val="20000"/>
            </a:srgbClr>
          </a:solidFill>
          <a:ln w="19050">
            <a:solidFill>
              <a:srgbClr val="FFB547"/>
            </a:solidFill>
            <a:prstDash val="solid"/>
          </a:ln>
        </p:spPr>
      </p:sp>
      <p:pic>
        <p:nvPicPr>
          <p:cNvPr id="18" name="a3_f1_i" descr="preencoded.png">    </p:cNvPr>
          <p:cNvPicPr>
            <a:picLocks noChangeAspect="1"/>
          </p:cNvPicPr>
          <p:nvPr/>
        </p:nvPicPr>
        <p:blipFill>
          <a:blip r:embed="rId2"/>
          <a:stretch>
            <a:fillRect/>
          </a:stretch>
        </p:blipFill>
        <p:spPr>
          <a:xfrm>
            <a:off x="7883042" y="3448202"/>
            <a:ext cx="373075" cy="373075"/>
          </a:xfrm>
          <a:prstGeom prst="rect">
            <a:avLst/>
          </a:prstGeom>
        </p:spPr>
      </p:pic>
      <p:sp>
        <p:nvSpPr>
          <p:cNvPr id="19" name="a3_ft1"/>
          <p:cNvSpPr txBox="1"/>
          <p:nvPr/>
        </p:nvSpPr>
        <p:spPr>
          <a:xfrm>
            <a:off x="8641080" y="3246120"/>
            <a:ext cx="310896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Sample() has a knob</a:t>
            </a:r>
            <a:endParaRPr lang="en-US" sz="1800" dirty="0"/>
          </a:p>
        </p:txBody>
      </p:sp>
      <p:sp>
        <p:nvSpPr>
          <p:cNvPr id="20" name="a3_fd1"/>
          <p:cNvSpPr txBox="1"/>
          <p:nvPr/>
        </p:nvSpPr>
        <p:spPr>
          <a:xfrm>
            <a:off x="8641080" y="3657600"/>
            <a:ext cx="3108960" cy="7315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Temperature. More on that in 5 minutes</a:t>
            </a:r>
            <a:endParaRPr lang="en-US" sz="1400" dirty="0"/>
          </a:p>
        </p:txBody>
      </p:sp>
      <p:sp>
        <p:nvSpPr>
          <p:cNvPr id="21" name="a4_f2_c"/>
          <p:cNvSpPr/>
          <p:nvPr/>
        </p:nvSpPr>
        <p:spPr>
          <a:xfrm>
            <a:off x="7680960" y="4663440"/>
            <a:ext cx="777240" cy="777240"/>
          </a:xfrm>
          <a:prstGeom prst="ellipse">
            <a:avLst/>
          </a:prstGeom>
          <a:solidFill>
            <a:srgbClr val="FF5C8A">
              <a:alpha val="20000"/>
            </a:srgbClr>
          </a:solidFill>
          <a:ln w="19050">
            <a:solidFill>
              <a:srgbClr val="FF5C8A"/>
            </a:solidFill>
            <a:prstDash val="solid"/>
          </a:ln>
        </p:spPr>
      </p:sp>
      <p:pic>
        <p:nvPicPr>
          <p:cNvPr id="22" name="a4_f2_i" descr="preencoded.png">    </p:cNvPr>
          <p:cNvPicPr>
            <a:picLocks noChangeAspect="1"/>
          </p:cNvPicPr>
          <p:nvPr/>
        </p:nvPicPr>
        <p:blipFill>
          <a:blip r:embed="rId3"/>
          <a:stretch>
            <a:fillRect/>
          </a:stretch>
        </p:blipFill>
        <p:spPr>
          <a:xfrm>
            <a:off x="7883042" y="4865522"/>
            <a:ext cx="373075" cy="373075"/>
          </a:xfrm>
          <a:prstGeom prst="rect">
            <a:avLst/>
          </a:prstGeom>
        </p:spPr>
      </p:pic>
      <p:sp>
        <p:nvSpPr>
          <p:cNvPr id="23" name="a4_ft2"/>
          <p:cNvSpPr txBox="1"/>
          <p:nvPr/>
        </p:nvSpPr>
        <p:spPr>
          <a:xfrm>
            <a:off x="8641080" y="4663440"/>
            <a:ext cx="310896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Output costs more</a:t>
            </a:r>
            <a:endParaRPr lang="en-US" sz="1800" dirty="0"/>
          </a:p>
        </p:txBody>
      </p:sp>
      <p:sp>
        <p:nvSpPr>
          <p:cNvPr id="24" name="a4_fd2"/>
          <p:cNvSpPr txBox="1"/>
          <p:nvPr/>
        </p:nvSpPr>
        <p:spPr>
          <a:xfrm>
            <a:off x="8641080" y="5074920"/>
            <a:ext cx="3108960" cy="7315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Every output token is a full model pass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anim calcmode="lin" valueType="num">
                                      <p:cBhvr>
                                        <p:cTn id="55" dur="500" fill="hold"/>
                                        <p:tgtEl>
                                          <p:spTgt spid="17"/>
                                        </p:tgtEl>
                                        <p:attrNameLst>
                                          <p:attrName>ppt_x</p:attrName>
                                        </p:attrNameLst>
                                      </p:cBhvr>
                                      <p:tavLst>
                                        <p:tav tm="0">
                                          <p:val>
                                            <p:strVal val="#ppt_x"/>
                                          </p:val>
                                        </p:tav>
                                        <p:tav tm="100000">
                                          <p:val>
                                            <p:strVal val="#ppt_x"/>
                                          </p:val>
                                        </p:tav>
                                      </p:tavLst>
                                    </p:anim>
                                    <p:anim calcmode="lin" valueType="num">
                                      <p:cBhvr>
                                        <p:cTn id="56" dur="500" decel="100000" fill="hold"/>
                                        <p:tgtEl>
                                          <p:spTgt spid="17"/>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p:cTn id="60" dur="500" fill="hold"/>
                                        <p:tgtEl>
                                          <p:spTgt spid="18"/>
                                        </p:tgtEl>
                                        <p:attrNameLst>
                                          <p:attrName>ppt_x</p:attrName>
                                        </p:attrNameLst>
                                      </p:cBhvr>
                                      <p:tavLst>
                                        <p:tav tm="0">
                                          <p:val>
                                            <p:strVal val="#ppt_x"/>
                                          </p:val>
                                        </p:tav>
                                        <p:tav tm="100000">
                                          <p:val>
                                            <p:strVal val="#ppt_x"/>
                                          </p:val>
                                        </p:tav>
                                      </p:tavLst>
                                    </p:anim>
                                    <p:anim calcmode="lin" valueType="num">
                                      <p:cBhvr>
                                        <p:cTn id="61" dur="500" decel="1000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p:cTn id="65" dur="500" fill="hold"/>
                                        <p:tgtEl>
                                          <p:spTgt spid="19"/>
                                        </p:tgtEl>
                                        <p:attrNameLst>
                                          <p:attrName>ppt_x</p:attrName>
                                        </p:attrNameLst>
                                      </p:cBhvr>
                                      <p:tavLst>
                                        <p:tav tm="0">
                                          <p:val>
                                            <p:strVal val="#ppt_x"/>
                                          </p:val>
                                        </p:tav>
                                        <p:tav tm="100000">
                                          <p:val>
                                            <p:strVal val="#ppt_x"/>
                                          </p:val>
                                        </p:tav>
                                      </p:tavLst>
                                    </p:anim>
                                    <p:anim calcmode="lin" valueType="num">
                                      <p:cBhvr>
                                        <p:cTn id="66" dur="500" decel="1000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anim calcmode="lin" valueType="num">
                                      <p:cBhvr>
                                        <p:cTn id="70" dur="500" fill="hold"/>
                                        <p:tgtEl>
                                          <p:spTgt spid="20"/>
                                        </p:tgtEl>
                                        <p:attrNameLst>
                                          <p:attrName>ppt_x</p:attrName>
                                        </p:attrNameLst>
                                      </p:cBhvr>
                                      <p:tavLst>
                                        <p:tav tm="0">
                                          <p:val>
                                            <p:strVal val="#ppt_x"/>
                                          </p:val>
                                        </p:tav>
                                        <p:tav tm="100000">
                                          <p:val>
                                            <p:strVal val="#ppt_x"/>
                                          </p:val>
                                        </p:tav>
                                      </p:tavLst>
                                    </p:anim>
                                    <p:anim calcmode="lin" valueType="num">
                                      <p:cBhvr>
                                        <p:cTn id="71" dur="500" decel="100000" fill="hold"/>
                                        <p:tgtEl>
                                          <p:spTgt spid="20"/>
                                        </p:tgtEl>
                                        <p:attrNameLst>
                                          <p:attrName>ppt_y</p:attrName>
                                        </p:attrNameLst>
                                      </p:cBhvr>
                                      <p:tavLst>
                                        <p:tav tm="0">
                                          <p:val>
                                            <p:strVal val="#ppt_y+.06"/>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anim calcmode="lin" valueType="num">
                                      <p:cBhvr>
                                        <p:cTn id="77" dur="500" fill="hold"/>
                                        <p:tgtEl>
                                          <p:spTgt spid="21"/>
                                        </p:tgtEl>
                                        <p:attrNameLst>
                                          <p:attrName>ppt_x</p:attrName>
                                        </p:attrNameLst>
                                      </p:cBhvr>
                                      <p:tavLst>
                                        <p:tav tm="0">
                                          <p:val>
                                            <p:strVal val="#ppt_x"/>
                                          </p:val>
                                        </p:tav>
                                        <p:tav tm="100000">
                                          <p:val>
                                            <p:strVal val="#ppt_x"/>
                                          </p:val>
                                        </p:tav>
                                      </p:tavLst>
                                    </p:anim>
                                    <p:anim calcmode="lin" valueType="num">
                                      <p:cBhvr>
                                        <p:cTn id="78" dur="500" decel="1000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anim calcmode="lin" valueType="num">
                                      <p:cBhvr>
                                        <p:cTn id="82" dur="500" fill="hold"/>
                                        <p:tgtEl>
                                          <p:spTgt spid="22"/>
                                        </p:tgtEl>
                                        <p:attrNameLst>
                                          <p:attrName>ppt_x</p:attrName>
                                        </p:attrNameLst>
                                      </p:cBhvr>
                                      <p:tavLst>
                                        <p:tav tm="0">
                                          <p:val>
                                            <p:strVal val="#ppt_x"/>
                                          </p:val>
                                        </p:tav>
                                        <p:tav tm="100000">
                                          <p:val>
                                            <p:strVal val="#ppt_x"/>
                                          </p:val>
                                        </p:tav>
                                      </p:tavLst>
                                    </p:anim>
                                    <p:anim calcmode="lin" valueType="num">
                                      <p:cBhvr>
                                        <p:cTn id="83" dur="500" decel="1000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p:cTn id="87" dur="500" fill="hold"/>
                                        <p:tgtEl>
                                          <p:spTgt spid="23"/>
                                        </p:tgtEl>
                                        <p:attrNameLst>
                                          <p:attrName>ppt_x</p:attrName>
                                        </p:attrNameLst>
                                      </p:cBhvr>
                                      <p:tavLst>
                                        <p:tav tm="0">
                                          <p:val>
                                            <p:strVal val="#ppt_x"/>
                                          </p:val>
                                        </p:tav>
                                        <p:tav tm="100000">
                                          <p:val>
                                            <p:strVal val="#ppt_x"/>
                                          </p:val>
                                        </p:tav>
                                      </p:tavLst>
                                    </p:anim>
                                    <p:anim calcmode="lin" valueType="num">
                                      <p:cBhvr>
                                        <p:cTn id="88" dur="500" decel="1000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anim calcmode="lin" valueType="num">
                                      <p:cBhvr>
                                        <p:cTn id="92" dur="500" fill="hold"/>
                                        <p:tgtEl>
                                          <p:spTgt spid="24"/>
                                        </p:tgtEl>
                                        <p:attrNameLst>
                                          <p:attrName>ppt_x</p:attrName>
                                        </p:attrNameLst>
                                      </p:cBhvr>
                                      <p:tavLst>
                                        <p:tav tm="0">
                                          <p:val>
                                            <p:strVal val="#ppt_x"/>
                                          </p:val>
                                        </p:tav>
                                        <p:tav tm="100000">
                                          <p:val>
                                            <p:strVal val="#ppt_x"/>
                                          </p:val>
                                        </p:tav>
                                      </p:tavLst>
                                    </p:anim>
                                    <p:anim calcmode="lin" valueType="num">
                                      <p:cBhvr>
                                        <p:cTn id="93"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15</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CURRENCY OF LLMS</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Tokens: not words, not characters</a:t>
            </a:r>
            <a:endParaRPr lang="en-US" sz="3400" dirty="0"/>
          </a:p>
        </p:txBody>
      </p:sp>
      <p:sp>
        <p:nvSpPr>
          <p:cNvPr id="8" name="a1_c0"/>
          <p:cNvSpPr/>
          <p:nvPr/>
        </p:nvSpPr>
        <p:spPr>
          <a:xfrm>
            <a:off x="548640" y="1920240"/>
            <a:ext cx="1508760" cy="777240"/>
          </a:xfrm>
          <a:prstGeom prst="roundRect">
            <a:avLst>
              <a:gd name="adj" fmla="val 9412"/>
            </a:avLst>
          </a:prstGeom>
          <a:solidFill>
            <a:srgbClr val="7C4DFF">
              <a:alpha val="30000"/>
            </a:srgbClr>
          </a:solidFill>
          <a:ln w="19050">
            <a:solidFill>
              <a:srgbClr val="7C4DFF"/>
            </a:solidFill>
            <a:prstDash val="solid"/>
          </a:ln>
        </p:spPr>
      </p:sp>
      <p:sp>
        <p:nvSpPr>
          <p:cNvPr id="9" name="a1_ct0"/>
          <p:cNvSpPr txBox="1"/>
          <p:nvPr/>
        </p:nvSpPr>
        <p:spPr>
          <a:xfrm>
            <a:off x="548640" y="1920240"/>
            <a:ext cx="150876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Hello</a:t>
            </a:r>
            <a:endParaRPr lang="en-US" sz="2200" dirty="0"/>
          </a:p>
        </p:txBody>
      </p:sp>
      <p:sp>
        <p:nvSpPr>
          <p:cNvPr id="10" name="a1_c1"/>
          <p:cNvSpPr/>
          <p:nvPr/>
        </p:nvSpPr>
        <p:spPr>
          <a:xfrm>
            <a:off x="2148840" y="1920240"/>
            <a:ext cx="557784" cy="777240"/>
          </a:xfrm>
          <a:prstGeom prst="roundRect">
            <a:avLst>
              <a:gd name="adj" fmla="val 13115"/>
            </a:avLst>
          </a:prstGeom>
          <a:solidFill>
            <a:srgbClr val="FF5C8A">
              <a:alpha val="30000"/>
            </a:srgbClr>
          </a:solidFill>
          <a:ln w="19050">
            <a:solidFill>
              <a:srgbClr val="FF5C8A"/>
            </a:solidFill>
            <a:prstDash val="solid"/>
          </a:ln>
        </p:spPr>
      </p:sp>
      <p:sp>
        <p:nvSpPr>
          <p:cNvPr id="11" name="a1_ct1"/>
          <p:cNvSpPr txBox="1"/>
          <p:nvPr/>
        </p:nvSpPr>
        <p:spPr>
          <a:xfrm>
            <a:off x="2148840" y="1920240"/>
            <a:ext cx="557784"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12" name="a1_c2"/>
          <p:cNvSpPr/>
          <p:nvPr/>
        </p:nvSpPr>
        <p:spPr>
          <a:xfrm>
            <a:off x="2798064" y="1920240"/>
            <a:ext cx="557784" cy="777240"/>
          </a:xfrm>
          <a:prstGeom prst="roundRect">
            <a:avLst>
              <a:gd name="adj" fmla="val 13115"/>
            </a:avLst>
          </a:prstGeom>
          <a:solidFill>
            <a:srgbClr val="4FC3F7">
              <a:alpha val="30000"/>
            </a:srgbClr>
          </a:solidFill>
          <a:ln w="19050">
            <a:solidFill>
              <a:srgbClr val="4FC3F7"/>
            </a:solidFill>
            <a:prstDash val="solid"/>
          </a:ln>
        </p:spPr>
      </p:sp>
      <p:sp>
        <p:nvSpPr>
          <p:cNvPr id="13" name="a1_ct2"/>
          <p:cNvSpPr txBox="1"/>
          <p:nvPr/>
        </p:nvSpPr>
        <p:spPr>
          <a:xfrm>
            <a:off x="2798064" y="1920240"/>
            <a:ext cx="557784"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14" name="a1_c3"/>
          <p:cNvSpPr/>
          <p:nvPr/>
        </p:nvSpPr>
        <p:spPr>
          <a:xfrm>
            <a:off x="3447288" y="1920240"/>
            <a:ext cx="1033272" cy="777240"/>
          </a:xfrm>
          <a:prstGeom prst="roundRect">
            <a:avLst>
              <a:gd name="adj" fmla="val 9412"/>
            </a:avLst>
          </a:prstGeom>
          <a:solidFill>
            <a:srgbClr val="FFB547">
              <a:alpha val="30000"/>
            </a:srgbClr>
          </a:solidFill>
          <a:ln w="19050">
            <a:solidFill>
              <a:srgbClr val="FFB547"/>
            </a:solidFill>
            <a:prstDash val="solid"/>
          </a:ln>
        </p:spPr>
      </p:sp>
      <p:sp>
        <p:nvSpPr>
          <p:cNvPr id="15" name="a1_ct3"/>
          <p:cNvSpPr txBox="1"/>
          <p:nvPr/>
        </p:nvSpPr>
        <p:spPr>
          <a:xfrm>
            <a:off x="3447288" y="1920240"/>
            <a:ext cx="1033272"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NET</a:t>
            </a:r>
            <a:endParaRPr lang="en-US" sz="2200" dirty="0"/>
          </a:p>
        </p:txBody>
      </p:sp>
      <p:sp>
        <p:nvSpPr>
          <p:cNvPr id="16" name="a1_c4"/>
          <p:cNvSpPr/>
          <p:nvPr/>
        </p:nvSpPr>
        <p:spPr>
          <a:xfrm>
            <a:off x="4572000" y="1920240"/>
            <a:ext cx="1984248" cy="777240"/>
          </a:xfrm>
          <a:prstGeom prst="roundRect">
            <a:avLst>
              <a:gd name="adj" fmla="val 9412"/>
            </a:avLst>
          </a:prstGeom>
          <a:solidFill>
            <a:srgbClr val="2EE6A6">
              <a:alpha val="30000"/>
            </a:srgbClr>
          </a:solidFill>
          <a:ln w="19050">
            <a:solidFill>
              <a:srgbClr val="2EE6A6"/>
            </a:solidFill>
            <a:prstDash val="solid"/>
          </a:ln>
        </p:spPr>
      </p:sp>
      <p:sp>
        <p:nvSpPr>
          <p:cNvPr id="17" name="a1_ct4"/>
          <p:cNvSpPr txBox="1"/>
          <p:nvPr/>
        </p:nvSpPr>
        <p:spPr>
          <a:xfrm>
            <a:off x="4572000" y="1920240"/>
            <a:ext cx="1984248"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develop</a:t>
            </a:r>
            <a:endParaRPr lang="en-US" sz="2200" dirty="0"/>
          </a:p>
        </p:txBody>
      </p:sp>
      <p:sp>
        <p:nvSpPr>
          <p:cNvPr id="18" name="a1_c5"/>
          <p:cNvSpPr/>
          <p:nvPr/>
        </p:nvSpPr>
        <p:spPr>
          <a:xfrm>
            <a:off x="6647688" y="1920240"/>
            <a:ext cx="1033272" cy="777240"/>
          </a:xfrm>
          <a:prstGeom prst="roundRect">
            <a:avLst>
              <a:gd name="adj" fmla="val 9412"/>
            </a:avLst>
          </a:prstGeom>
          <a:solidFill>
            <a:srgbClr val="7C4DFF">
              <a:alpha val="30000"/>
            </a:srgbClr>
          </a:solidFill>
          <a:ln w="19050">
            <a:solidFill>
              <a:srgbClr val="7C4DFF"/>
            </a:solidFill>
            <a:prstDash val="solid"/>
          </a:ln>
        </p:spPr>
      </p:sp>
      <p:sp>
        <p:nvSpPr>
          <p:cNvPr id="19" name="a1_ct5"/>
          <p:cNvSpPr txBox="1"/>
          <p:nvPr/>
        </p:nvSpPr>
        <p:spPr>
          <a:xfrm>
            <a:off x="6647688" y="1920240"/>
            <a:ext cx="1033272"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ers</a:t>
            </a:r>
            <a:endParaRPr lang="en-US" sz="2200" dirty="0"/>
          </a:p>
        </p:txBody>
      </p:sp>
      <p:sp>
        <p:nvSpPr>
          <p:cNvPr id="20" name="a1_c6"/>
          <p:cNvSpPr/>
          <p:nvPr/>
        </p:nvSpPr>
        <p:spPr>
          <a:xfrm>
            <a:off x="7772400" y="1920240"/>
            <a:ext cx="557784" cy="777240"/>
          </a:xfrm>
          <a:prstGeom prst="roundRect">
            <a:avLst>
              <a:gd name="adj" fmla="val 13115"/>
            </a:avLst>
          </a:prstGeom>
          <a:solidFill>
            <a:srgbClr val="FF5C8A">
              <a:alpha val="30000"/>
            </a:srgbClr>
          </a:solidFill>
          <a:ln w="19050">
            <a:solidFill>
              <a:srgbClr val="FF5C8A"/>
            </a:solidFill>
            <a:prstDash val="solid"/>
          </a:ln>
        </p:spPr>
      </p:sp>
      <p:sp>
        <p:nvSpPr>
          <p:cNvPr id="21" name="a1_ct6"/>
          <p:cNvSpPr txBox="1"/>
          <p:nvPr/>
        </p:nvSpPr>
        <p:spPr>
          <a:xfrm>
            <a:off x="7772400" y="1920240"/>
            <a:ext cx="557784"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22" name="a1_c7"/>
          <p:cNvSpPr/>
          <p:nvPr/>
        </p:nvSpPr>
        <p:spPr>
          <a:xfrm>
            <a:off x="8421624" y="1920240"/>
            <a:ext cx="795528" cy="777240"/>
          </a:xfrm>
          <a:prstGeom prst="roundRect">
            <a:avLst>
              <a:gd name="adj" fmla="val 9412"/>
            </a:avLst>
          </a:prstGeom>
          <a:solidFill>
            <a:srgbClr val="4FC3F7">
              <a:alpha val="30000"/>
            </a:srgbClr>
          </a:solidFill>
          <a:ln w="19050">
            <a:solidFill>
              <a:srgbClr val="4FC3F7"/>
            </a:solidFill>
            <a:prstDash val="solid"/>
          </a:ln>
        </p:spPr>
      </p:sp>
      <p:sp>
        <p:nvSpPr>
          <p:cNvPr id="23" name="a1_ct7"/>
          <p:cNvSpPr txBox="1"/>
          <p:nvPr/>
        </p:nvSpPr>
        <p:spPr>
          <a:xfrm>
            <a:off x="8421624" y="1920240"/>
            <a:ext cx="795528"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24" name="a1_cap"/>
          <p:cNvSpPr txBox="1"/>
          <p:nvPr/>
        </p:nvSpPr>
        <p:spPr>
          <a:xfrm>
            <a:off x="548640" y="2834640"/>
            <a:ext cx="8229600" cy="365760"/>
          </a:xfrm>
          <a:prstGeom prst="rect">
            <a:avLst/>
          </a:prstGeom>
          <a:noFill/>
          <a:ln/>
        </p:spPr>
        <p:txBody>
          <a:bodyPr wrap="square" lIns="0" tIns="0" rIns="0" bIns="0" rtlCol="0" anchor="t"/>
          <a:lstStyle/>
          <a:p>
            <a:pPr indent="0" marL="0">
              <a:buNone/>
            </a:pPr>
            <a:r>
              <a:rPr lang="en-US" sz="1400" i="1" dirty="0">
                <a:solidFill>
                  <a:srgbClr val="A99BD6"/>
                </a:solidFill>
                <a:latin typeface="Calibri" pitchFamily="34" charset="0"/>
                <a:ea typeface="Calibri" pitchFamily="34" charset="-122"/>
                <a:cs typeface="Calibri" pitchFamily="34" charset="-120"/>
              </a:rPr>
              <a:t>“Hello, .NET developers! 🚀” → 8 tokens (roughly; every model's tokenizer differs)</a:t>
            </a:r>
            <a:endParaRPr lang="en-US" sz="1400" dirty="0"/>
          </a:p>
        </p:txBody>
      </p:sp>
      <p:sp>
        <p:nvSpPr>
          <p:cNvPr id="25" name="a2_s0"/>
          <p:cNvSpPr/>
          <p:nvPr/>
        </p:nvSpPr>
        <p:spPr>
          <a:xfrm>
            <a:off x="548640" y="3566160"/>
            <a:ext cx="352044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6" name="a2_sn0"/>
          <p:cNvSpPr txBox="1"/>
          <p:nvPr/>
        </p:nvSpPr>
        <p:spPr>
          <a:xfrm>
            <a:off x="822960" y="3794760"/>
            <a:ext cx="3017520" cy="1097280"/>
          </a:xfrm>
          <a:prstGeom prst="rect">
            <a:avLst/>
          </a:prstGeom>
          <a:noFill/>
          <a:ln/>
        </p:spPr>
        <p:txBody>
          <a:bodyPr wrap="square" lIns="0" tIns="0" rIns="0" bIns="0" rtlCol="0" anchor="t"/>
          <a:lstStyle/>
          <a:p>
            <a:pPr indent="0" marL="0">
              <a:buNone/>
            </a:pPr>
            <a:r>
              <a:rPr lang="en-US" sz="6000" b="1" dirty="0">
                <a:solidFill>
                  <a:srgbClr val="2EE6A6"/>
                </a:solidFill>
                <a:latin typeface="Arial" pitchFamily="34" charset="0"/>
                <a:ea typeface="Arial" pitchFamily="34" charset="-122"/>
                <a:cs typeface="Arial" pitchFamily="34" charset="-120"/>
              </a:rPr>
              <a:t>≈ 4</a:t>
            </a:r>
            <a:endParaRPr lang="en-US" sz="6000" dirty="0"/>
          </a:p>
        </p:txBody>
      </p:sp>
      <p:sp>
        <p:nvSpPr>
          <p:cNvPr id="27" name="a2_sl0"/>
          <p:cNvSpPr txBox="1"/>
          <p:nvPr/>
        </p:nvSpPr>
        <p:spPr>
          <a:xfrm>
            <a:off x="822960" y="4983480"/>
            <a:ext cx="3017520" cy="731520"/>
          </a:xfrm>
          <a:prstGeom prst="rect">
            <a:avLst/>
          </a:prstGeom>
          <a:noFill/>
          <a:ln/>
        </p:spPr>
        <p:txBody>
          <a:bodyPr wrap="square" lIns="0" tIns="0" rIns="0" bIns="0" rtlCol="0" anchor="t"/>
          <a:lstStyle/>
          <a:p>
            <a:pPr indent="0" marL="0">
              <a:buNone/>
            </a:pPr>
            <a:r>
              <a:rPr lang="en-US" sz="1700" dirty="0">
                <a:solidFill>
                  <a:srgbClr val="E9E4FF"/>
                </a:solidFill>
                <a:latin typeface="Calibri" pitchFamily="34" charset="0"/>
                <a:ea typeface="Calibri" pitchFamily="34" charset="-122"/>
                <a:cs typeface="Calibri" pitchFamily="34" charset="-120"/>
              </a:rPr>
              <a:t>characters per token (English)</a:t>
            </a:r>
            <a:endParaRPr lang="en-US" sz="1700" dirty="0"/>
          </a:p>
        </p:txBody>
      </p:sp>
      <p:sp>
        <p:nvSpPr>
          <p:cNvPr id="28" name="a3_s1"/>
          <p:cNvSpPr/>
          <p:nvPr/>
        </p:nvSpPr>
        <p:spPr>
          <a:xfrm>
            <a:off x="4297680" y="3566160"/>
            <a:ext cx="352044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9" name="a3_sn1"/>
          <p:cNvSpPr txBox="1"/>
          <p:nvPr/>
        </p:nvSpPr>
        <p:spPr>
          <a:xfrm>
            <a:off x="4572000" y="3794760"/>
            <a:ext cx="3017520" cy="1097280"/>
          </a:xfrm>
          <a:prstGeom prst="rect">
            <a:avLst/>
          </a:prstGeom>
          <a:noFill/>
          <a:ln/>
        </p:spPr>
        <p:txBody>
          <a:bodyPr wrap="square" lIns="0" tIns="0" rIns="0" bIns="0" rtlCol="0" anchor="t"/>
          <a:lstStyle/>
          <a:p>
            <a:pPr indent="0" marL="0">
              <a:buNone/>
            </a:pPr>
            <a:r>
              <a:rPr lang="en-US" sz="6000" b="1" dirty="0">
                <a:solidFill>
                  <a:srgbClr val="FFB547"/>
                </a:solidFill>
                <a:latin typeface="Arial" pitchFamily="34" charset="0"/>
                <a:ea typeface="Arial" pitchFamily="34" charset="-122"/>
                <a:cs typeface="Arial" pitchFamily="34" charset="-120"/>
              </a:rPr>
              <a:t>≈ ¾</a:t>
            </a:r>
            <a:endParaRPr lang="en-US" sz="6000" dirty="0"/>
          </a:p>
        </p:txBody>
      </p:sp>
      <p:sp>
        <p:nvSpPr>
          <p:cNvPr id="30" name="a3_sl1"/>
          <p:cNvSpPr txBox="1"/>
          <p:nvPr/>
        </p:nvSpPr>
        <p:spPr>
          <a:xfrm>
            <a:off x="4572000" y="4983480"/>
            <a:ext cx="3017520" cy="731520"/>
          </a:xfrm>
          <a:prstGeom prst="rect">
            <a:avLst/>
          </a:prstGeom>
          <a:noFill/>
          <a:ln/>
        </p:spPr>
        <p:txBody>
          <a:bodyPr wrap="square" lIns="0" tIns="0" rIns="0" bIns="0" rtlCol="0" anchor="t"/>
          <a:lstStyle/>
          <a:p>
            <a:pPr indent="0" marL="0">
              <a:buNone/>
            </a:pPr>
            <a:r>
              <a:rPr lang="en-US" sz="1700" dirty="0">
                <a:solidFill>
                  <a:srgbClr val="E9E4FF"/>
                </a:solidFill>
                <a:latin typeface="Calibri" pitchFamily="34" charset="0"/>
                <a:ea typeface="Calibri" pitchFamily="34" charset="-122"/>
                <a:cs typeface="Calibri" pitchFamily="34" charset="-120"/>
              </a:rPr>
              <a:t>of a word per token</a:t>
            </a:r>
            <a:endParaRPr lang="en-US" sz="1700" dirty="0"/>
          </a:p>
        </p:txBody>
      </p:sp>
      <p:sp>
        <p:nvSpPr>
          <p:cNvPr id="31" name="a4_s2"/>
          <p:cNvSpPr/>
          <p:nvPr/>
        </p:nvSpPr>
        <p:spPr>
          <a:xfrm>
            <a:off x="8046720" y="3566160"/>
            <a:ext cx="352044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2" name="a4_sn2"/>
          <p:cNvSpPr txBox="1"/>
          <p:nvPr/>
        </p:nvSpPr>
        <p:spPr>
          <a:xfrm>
            <a:off x="8321040" y="3794760"/>
            <a:ext cx="3017520" cy="1097280"/>
          </a:xfrm>
          <a:prstGeom prst="rect">
            <a:avLst/>
          </a:prstGeom>
          <a:noFill/>
          <a:ln/>
        </p:spPr>
        <p:txBody>
          <a:bodyPr wrap="square" lIns="0" tIns="0" rIns="0" bIns="0" rtlCol="0" anchor="t"/>
          <a:lstStyle/>
          <a:p>
            <a:pPr indent="0" marL="0">
              <a:buNone/>
            </a:pPr>
            <a:r>
              <a:rPr lang="en-US" sz="6000" b="1" dirty="0">
                <a:solidFill>
                  <a:srgbClr val="FF5C8A"/>
                </a:solidFill>
                <a:latin typeface="Arial" pitchFamily="34" charset="0"/>
                <a:ea typeface="Arial" pitchFamily="34" charset="-122"/>
                <a:cs typeface="Arial" pitchFamily="34" charset="-120"/>
              </a:rPr>
              <a:t>1,000</a:t>
            </a:r>
            <a:endParaRPr lang="en-US" sz="6000" dirty="0"/>
          </a:p>
        </p:txBody>
      </p:sp>
      <p:sp>
        <p:nvSpPr>
          <p:cNvPr id="33" name="a4_sl2"/>
          <p:cNvSpPr txBox="1"/>
          <p:nvPr/>
        </p:nvSpPr>
        <p:spPr>
          <a:xfrm>
            <a:off x="8321040" y="4983480"/>
            <a:ext cx="3017520" cy="731520"/>
          </a:xfrm>
          <a:prstGeom prst="rect">
            <a:avLst/>
          </a:prstGeom>
          <a:noFill/>
          <a:ln/>
        </p:spPr>
        <p:txBody>
          <a:bodyPr wrap="square" lIns="0" tIns="0" rIns="0" bIns="0" rtlCol="0" anchor="t"/>
          <a:lstStyle/>
          <a:p>
            <a:pPr indent="0" marL="0">
              <a:buNone/>
            </a:pPr>
            <a:r>
              <a:rPr lang="en-US" sz="1700" dirty="0">
                <a:solidFill>
                  <a:srgbClr val="E9E4FF"/>
                </a:solidFill>
                <a:latin typeface="Calibri" pitchFamily="34" charset="0"/>
                <a:ea typeface="Calibri" pitchFamily="34" charset="-122"/>
                <a:cs typeface="Calibri" pitchFamily="34" charset="-120"/>
              </a:rPr>
              <a:t>tokens ≈ 750 words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8" fill="hold">
                      <p:stCondLst>
                        <p:cond delay="indefinite"/>
                      </p:stCondLst>
                      <p:childTnLst>
                        <p:par>
                          <p:cTn id="8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anim calcmode="lin" valueType="num">
                                      <p:cBhvr>
                                        <p:cTn id="66" dur="500" fill="hold"/>
                                        <p:tgtEl>
                                          <p:spTgt spid="20"/>
                                        </p:tgtEl>
                                        <p:attrNameLst>
                                          <p:attrName>ppt_x</p:attrName>
                                        </p:attrNameLst>
                                      </p:cBhvr>
                                      <p:tavLst>
                                        <p:tav tm="0">
                                          <p:val>
                                            <p:strVal val="#ppt_x"/>
                                          </p:val>
                                        </p:tav>
                                        <p:tav tm="100000">
                                          <p:val>
                                            <p:strVal val="#ppt_x"/>
                                          </p:val>
                                        </p:tav>
                                      </p:tavLst>
                                    </p:anim>
                                    <p:anim calcmode="lin" valueType="num">
                                      <p:cBhvr>
                                        <p:cTn id="67" dur="500" decel="100000" fill="hold"/>
                                        <p:tgtEl>
                                          <p:spTgt spid="20"/>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anim calcmode="lin" valueType="num">
                                      <p:cBhvr>
                                        <p:cTn id="71" dur="500" fill="hold"/>
                                        <p:tgtEl>
                                          <p:spTgt spid="21"/>
                                        </p:tgtEl>
                                        <p:attrNameLst>
                                          <p:attrName>ppt_x</p:attrName>
                                        </p:attrNameLst>
                                      </p:cBhvr>
                                      <p:tavLst>
                                        <p:tav tm="0">
                                          <p:val>
                                            <p:strVal val="#ppt_x"/>
                                          </p:val>
                                        </p:tav>
                                        <p:tav tm="100000">
                                          <p:val>
                                            <p:strVal val="#ppt_x"/>
                                          </p:val>
                                        </p:tav>
                                      </p:tavLst>
                                    </p:anim>
                                    <p:anim calcmode="lin" valueType="num">
                                      <p:cBhvr>
                                        <p:cTn id="72" dur="500" decel="100000" fill="hold"/>
                                        <p:tgtEl>
                                          <p:spTgt spid="21"/>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p:cTn id="76" dur="500" fill="hold"/>
                                        <p:tgtEl>
                                          <p:spTgt spid="22"/>
                                        </p:tgtEl>
                                        <p:attrNameLst>
                                          <p:attrName>ppt_x</p:attrName>
                                        </p:attrNameLst>
                                      </p:cBhvr>
                                      <p:tavLst>
                                        <p:tav tm="0">
                                          <p:val>
                                            <p:strVal val="#ppt_x"/>
                                          </p:val>
                                        </p:tav>
                                        <p:tav tm="100000">
                                          <p:val>
                                            <p:strVal val="#ppt_x"/>
                                          </p:val>
                                        </p:tav>
                                      </p:tavLst>
                                    </p:anim>
                                    <p:anim calcmode="lin" valueType="num">
                                      <p:cBhvr>
                                        <p:cTn id="77" dur="500" decel="100000" fill="hold"/>
                                        <p:tgtEl>
                                          <p:spTgt spid="22"/>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500"/>
                                        <p:tgtEl>
                                          <p:spTgt spid="23"/>
                                        </p:tgtEl>
                                      </p:cBhvr>
                                    </p:animEffect>
                                    <p:anim calcmode="lin" valueType="num">
                                      <p:cBhvr>
                                        <p:cTn id="81" dur="500" fill="hold"/>
                                        <p:tgtEl>
                                          <p:spTgt spid="23"/>
                                        </p:tgtEl>
                                        <p:attrNameLst>
                                          <p:attrName>ppt_x</p:attrName>
                                        </p:attrNameLst>
                                      </p:cBhvr>
                                      <p:tavLst>
                                        <p:tav tm="0">
                                          <p:val>
                                            <p:strVal val="#ppt_x"/>
                                          </p:val>
                                        </p:tav>
                                        <p:tav tm="100000">
                                          <p:val>
                                            <p:strVal val="#ppt_x"/>
                                          </p:val>
                                        </p:tav>
                                      </p:tavLst>
                                    </p:anim>
                                    <p:anim calcmode="lin" valueType="num">
                                      <p:cBhvr>
                                        <p:cTn id="82" dur="500" decel="100000" fill="hold"/>
                                        <p:tgtEl>
                                          <p:spTgt spid="23"/>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500"/>
                                        <p:tgtEl>
                                          <p:spTgt spid="24"/>
                                        </p:tgtEl>
                                      </p:cBhvr>
                                    </p:animEffect>
                                    <p:anim calcmode="lin" valueType="num">
                                      <p:cBhvr>
                                        <p:cTn id="86" dur="500" fill="hold"/>
                                        <p:tgtEl>
                                          <p:spTgt spid="24"/>
                                        </p:tgtEl>
                                        <p:attrNameLst>
                                          <p:attrName>ppt_x</p:attrName>
                                        </p:attrNameLst>
                                      </p:cBhvr>
                                      <p:tavLst>
                                        <p:tav tm="0">
                                          <p:val>
                                            <p:strVal val="#ppt_x"/>
                                          </p:val>
                                        </p:tav>
                                        <p:tav tm="100000">
                                          <p:val>
                                            <p:strVal val="#ppt_x"/>
                                          </p:val>
                                        </p:tav>
                                      </p:tavLst>
                                    </p:anim>
                                    <p:anim calcmode="lin" valueType="num">
                                      <p:cBhvr>
                                        <p:cTn id="87"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anim calcmode="lin" valueType="num">
                                      <p:cBhvr>
                                        <p:cTn id="103" dur="500" fill="hold"/>
                                        <p:tgtEl>
                                          <p:spTgt spid="27"/>
                                        </p:tgtEl>
                                        <p:attrNameLst>
                                          <p:attrName>ppt_x</p:attrName>
                                        </p:attrNameLst>
                                      </p:cBhvr>
                                      <p:tavLst>
                                        <p:tav tm="0">
                                          <p:val>
                                            <p:strVal val="#ppt_x"/>
                                          </p:val>
                                        </p:tav>
                                        <p:tav tm="100000">
                                          <p:val>
                                            <p:strVal val="#ppt_x"/>
                                          </p:val>
                                        </p:tav>
                                      </p:tavLst>
                                    </p:anim>
                                    <p:anim calcmode="lin" valueType="num">
                                      <p:cBhvr>
                                        <p:cTn id="104"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anim calcmode="lin" valueType="num">
                                      <p:cBhvr>
                                        <p:cTn id="110" dur="500" fill="hold"/>
                                        <p:tgtEl>
                                          <p:spTgt spid="28"/>
                                        </p:tgtEl>
                                        <p:attrNameLst>
                                          <p:attrName>ppt_x</p:attrName>
                                        </p:attrNameLst>
                                      </p:cBhvr>
                                      <p:tavLst>
                                        <p:tav tm="0">
                                          <p:val>
                                            <p:strVal val="#ppt_x"/>
                                          </p:val>
                                        </p:tav>
                                        <p:tav tm="100000">
                                          <p:val>
                                            <p:strVal val="#ppt_x"/>
                                          </p:val>
                                        </p:tav>
                                      </p:tavLst>
                                    </p:anim>
                                    <p:anim calcmode="lin" valueType="num">
                                      <p:cBhvr>
                                        <p:cTn id="111" dur="500" decel="100000" fill="hold"/>
                                        <p:tgtEl>
                                          <p:spTgt spid="28"/>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anim calcmode="lin" valueType="num">
                                      <p:cBhvr>
                                        <p:cTn id="115" dur="500" fill="hold"/>
                                        <p:tgtEl>
                                          <p:spTgt spid="29"/>
                                        </p:tgtEl>
                                        <p:attrNameLst>
                                          <p:attrName>ppt_x</p:attrName>
                                        </p:attrNameLst>
                                      </p:cBhvr>
                                      <p:tavLst>
                                        <p:tav tm="0">
                                          <p:val>
                                            <p:strVal val="#ppt_x"/>
                                          </p:val>
                                        </p:tav>
                                        <p:tav tm="100000">
                                          <p:val>
                                            <p:strVal val="#ppt_x"/>
                                          </p:val>
                                        </p:tav>
                                      </p:tavLst>
                                    </p:anim>
                                    <p:anim calcmode="lin" valueType="num">
                                      <p:cBhvr>
                                        <p:cTn id="116" dur="500" decel="1000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p:cTn id="120" dur="500" fill="hold"/>
                                        <p:tgtEl>
                                          <p:spTgt spid="30"/>
                                        </p:tgtEl>
                                        <p:attrNameLst>
                                          <p:attrName>ppt_x</p:attrName>
                                        </p:attrNameLst>
                                      </p:cBhvr>
                                      <p:tavLst>
                                        <p:tav tm="0">
                                          <p:val>
                                            <p:strVal val="#ppt_x"/>
                                          </p:val>
                                        </p:tav>
                                        <p:tav tm="100000">
                                          <p:val>
                                            <p:strVal val="#ppt_x"/>
                                          </p:val>
                                        </p:tav>
                                      </p:tavLst>
                                    </p:anim>
                                    <p:anim calcmode="lin" valueType="num">
                                      <p:cBhvr>
                                        <p:cTn id="121" dur="500" decel="100000" fill="hold"/>
                                        <p:tgtEl>
                                          <p:spTgt spid="30"/>
                                        </p:tgtEl>
                                        <p:attrNameLst>
                                          <p:attrName>ppt_y</p:attrName>
                                        </p:attrNameLst>
                                      </p:cBhvr>
                                      <p:tavLst>
                                        <p:tav tm="0">
                                          <p:val>
                                            <p:strVal val="#ppt_y+.06"/>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00"/>
                                        <p:tgtEl>
                                          <p:spTgt spid="31"/>
                                        </p:tgtEl>
                                      </p:cBhvr>
                                    </p:animEffect>
                                    <p:anim calcmode="lin" valueType="num">
                                      <p:cBhvr>
                                        <p:cTn id="127" dur="500" fill="hold"/>
                                        <p:tgtEl>
                                          <p:spTgt spid="31"/>
                                        </p:tgtEl>
                                        <p:attrNameLst>
                                          <p:attrName>ppt_x</p:attrName>
                                        </p:attrNameLst>
                                      </p:cBhvr>
                                      <p:tavLst>
                                        <p:tav tm="0">
                                          <p:val>
                                            <p:strVal val="#ppt_x"/>
                                          </p:val>
                                        </p:tav>
                                        <p:tav tm="100000">
                                          <p:val>
                                            <p:strVal val="#ppt_x"/>
                                          </p:val>
                                        </p:tav>
                                      </p:tavLst>
                                    </p:anim>
                                    <p:anim calcmode="lin" valueType="num">
                                      <p:cBhvr>
                                        <p:cTn id="128" dur="500" decel="1000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00"/>
                                        <p:tgtEl>
                                          <p:spTgt spid="32"/>
                                        </p:tgtEl>
                                      </p:cBhvr>
                                    </p:animEffect>
                                    <p:anim calcmode="lin" valueType="num">
                                      <p:cBhvr>
                                        <p:cTn id="132" dur="500" fill="hold"/>
                                        <p:tgtEl>
                                          <p:spTgt spid="32"/>
                                        </p:tgtEl>
                                        <p:attrNameLst>
                                          <p:attrName>ppt_x</p:attrName>
                                        </p:attrNameLst>
                                      </p:cBhvr>
                                      <p:tavLst>
                                        <p:tav tm="0">
                                          <p:val>
                                            <p:strVal val="#ppt_x"/>
                                          </p:val>
                                        </p:tav>
                                        <p:tav tm="100000">
                                          <p:val>
                                            <p:strVal val="#ppt_x"/>
                                          </p:val>
                                        </p:tav>
                                      </p:tavLst>
                                    </p:anim>
                                    <p:anim calcmode="lin" valueType="num">
                                      <p:cBhvr>
                                        <p:cTn id="133" dur="500" decel="1000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00"/>
                                        <p:tgtEl>
                                          <p:spTgt spid="33"/>
                                        </p:tgtEl>
                                      </p:cBhvr>
                                    </p:animEffect>
                                    <p:anim calcmode="lin" valueType="num">
                                      <p:cBhvr>
                                        <p:cTn id="137" dur="500" fill="hold"/>
                                        <p:tgtEl>
                                          <p:spTgt spid="33"/>
                                        </p:tgtEl>
                                        <p:attrNameLst>
                                          <p:attrName>ppt_x</p:attrName>
                                        </p:attrNameLst>
                                      </p:cBhvr>
                                      <p:tavLst>
                                        <p:tav tm="0">
                                          <p:val>
                                            <p:strVal val="#ppt_x"/>
                                          </p:val>
                                        </p:tav>
                                        <p:tav tm="100000">
                                          <p:val>
                                            <p:strVal val="#ppt_x"/>
                                          </p:val>
                                        </p:tav>
                                      </p:tavLst>
                                    </p:anim>
                                    <p:anim calcmode="lin" valueType="num">
                                      <p:cBhvr>
                                        <p:cTn id="138" dur="50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16</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WHY THIS MATTERS IN INDIA</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Same sentence, different bill</a:t>
            </a:r>
            <a:endParaRPr lang="en-US" sz="3400" dirty="0"/>
          </a:p>
        </p:txBody>
      </p:sp>
      <p:graphicFrame>
        <p:nvGraphicFramePr>
          <p:cNvPr id="8" name="a1_chart" descr=""/>
          <p:cNvGraphicFramePr/>
          <p:nvPr/>
        </p:nvGraphicFramePr>
        <p:xfrm>
          <a:off x="548640" y="173736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9" name="a2_why"/>
          <p:cNvSpPr/>
          <p:nvPr/>
        </p:nvSpPr>
        <p:spPr>
          <a:xfrm>
            <a:off x="7589520" y="1783080"/>
            <a:ext cx="4069080" cy="4206240"/>
          </a:xfrm>
          <a:prstGeom prst="roundRect">
            <a:avLst>
              <a:gd name="adj" fmla="val 2697"/>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0" name="a2_big"/>
          <p:cNvSpPr txBox="1"/>
          <p:nvPr/>
        </p:nvSpPr>
        <p:spPr>
          <a:xfrm>
            <a:off x="7909560" y="2011680"/>
            <a:ext cx="3474720" cy="1097280"/>
          </a:xfrm>
          <a:prstGeom prst="rect">
            <a:avLst/>
          </a:prstGeom>
          <a:noFill/>
          <a:ln/>
        </p:spPr>
        <p:txBody>
          <a:bodyPr wrap="square" lIns="0" tIns="0" rIns="0" bIns="0" rtlCol="0" anchor="t"/>
          <a:lstStyle/>
          <a:p>
            <a:pPr indent="0" marL="0">
              <a:buNone/>
            </a:pPr>
            <a:r>
              <a:rPr lang="en-US" sz="7200" b="1" dirty="0">
                <a:solidFill>
                  <a:srgbClr val="FFB547"/>
                </a:solidFill>
                <a:latin typeface="Arial" pitchFamily="34" charset="0"/>
                <a:ea typeface="Arial" pitchFamily="34" charset="-122"/>
                <a:cs typeface="Arial" pitchFamily="34" charset="-120"/>
              </a:rPr>
              <a:t>3×</a:t>
            </a:r>
            <a:endParaRPr lang="en-US" sz="7200" dirty="0"/>
          </a:p>
        </p:txBody>
      </p:sp>
      <p:sp>
        <p:nvSpPr>
          <p:cNvPr id="11" name="a2_bl"/>
          <p:cNvSpPr txBox="1"/>
          <p:nvPr/>
        </p:nvSpPr>
        <p:spPr>
          <a:xfrm>
            <a:off x="7909560" y="3154680"/>
            <a:ext cx="347472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more tokens for many Indic scripts (illustrative)</a:t>
            </a:r>
            <a:endParaRPr lang="en-US" sz="1600" dirty="0"/>
          </a:p>
        </p:txBody>
      </p:sp>
      <p:sp>
        <p:nvSpPr>
          <p:cNvPr id="12" name="a3_bd"/>
          <p:cNvSpPr txBox="1"/>
          <p:nvPr/>
        </p:nvSpPr>
        <p:spPr>
          <a:xfrm>
            <a:off x="7909560" y="3886200"/>
            <a:ext cx="3474720" cy="20116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Tokenizers are trained mostly on English text. Other scripts get chopped into smaller pieces, so they cost more, run slower and fill the context faster.</a:t>
            </a:r>
            <a:endParaRPr lang="en-US" sz="1400" dirty="0"/>
          </a:p>
          <a:p>
            <a:pPr indent="0" marL="0">
              <a:buNone/>
            </a:pPr>
            <a:endParaRPr lang="en-US" sz="1400" dirty="0"/>
          </a:p>
          <a:p>
            <a:pPr indent="0" marL="0">
              <a:buNone/>
            </a:pPr>
            <a:r>
              <a:rPr lang="en-US" sz="1400" dirty="0">
                <a:solidFill>
                  <a:srgbClr val="A99BD6"/>
                </a:solidFill>
                <a:latin typeface="Calibri" pitchFamily="34" charset="0"/>
                <a:ea typeface="Calibri" pitchFamily="34" charset="-122"/>
                <a:cs typeface="Calibri" pitchFamily="34" charset="-120"/>
              </a:rPr>
              <a:t>We'll measure it live in Demo 3.</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decel="100000" fill="hold"/>
                                        <p:tgtEl>
                                          <p:spTgt spid="9"/>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decel="100000" fill="hold"/>
                                        <p:tgtEl>
                                          <p:spTgt spid="10"/>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anim calcmode="lin" valueType="num">
                                      <p:cBhvr>
                                        <p:cTn id="23" dur="500" fill="hold"/>
                                        <p:tgtEl>
                                          <p:spTgt spid="11"/>
                                        </p:tgtEl>
                                        <p:attrNameLst>
                                          <p:attrName>ppt_x</p:attrName>
                                        </p:attrNameLst>
                                      </p:cBhvr>
                                      <p:tavLst>
                                        <p:tav tm="0">
                                          <p:val>
                                            <p:strVal val="#ppt_x"/>
                                          </p:val>
                                        </p:tav>
                                        <p:tav tm="100000">
                                          <p:val>
                                            <p:strVal val="#ppt_x"/>
                                          </p:val>
                                        </p:tav>
                                      </p:tavLst>
                                    </p:anim>
                                    <p:anim calcmode="lin" valueType="num">
                                      <p:cBhvr>
                                        <p:cTn id="24"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anim calcmode="lin" valueType="num">
                                      <p:cBhvr>
                                        <p:cTn id="30" dur="500" fill="hold"/>
                                        <p:tgtEl>
                                          <p:spTgt spid="12"/>
                                        </p:tgtEl>
                                        <p:attrNameLst>
                                          <p:attrName>ppt_x</p:attrName>
                                        </p:attrNameLst>
                                      </p:cBhvr>
                                      <p:tavLst>
                                        <p:tav tm="0">
                                          <p:val>
                                            <p:strVal val="#ppt_x"/>
                                          </p:val>
                                        </p:tav>
                                        <p:tav tm="100000">
                                          <p:val>
                                            <p:strVal val="#ppt_x"/>
                                          </p:val>
                                        </p:tav>
                                      </p:tavLst>
                                    </p:anim>
                                    <p:anim calcmode="lin" valueType="num">
                                      <p:cBhvr>
                                        <p:cTn id="31"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17</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CONTEXT WINDOW</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The model's RAM, and it forgets everything</a:t>
            </a:r>
            <a:endParaRPr lang="en-US" sz="3400" dirty="0"/>
          </a:p>
        </p:txBody>
      </p:sp>
      <p:sp>
        <p:nvSpPr>
          <p:cNvPr id="8" name="Shape 6"/>
          <p:cNvSpPr/>
          <p:nvPr/>
        </p:nvSpPr>
        <p:spPr>
          <a:xfrm>
            <a:off x="548640" y="1920240"/>
            <a:ext cx="11091672" cy="1005840"/>
          </a:xfrm>
          <a:prstGeom prst="roundRect">
            <a:avLst>
              <a:gd name="adj" fmla="val 9091"/>
            </a:avLst>
          </a:prstGeom>
          <a:solidFill>
            <a:srgbClr val="1A1433"/>
          </a:solidFill>
          <a:ln w="12700">
            <a:solidFill>
              <a:srgbClr val="3A2F6B"/>
            </a:solidFill>
            <a:prstDash val="dash"/>
          </a:ln>
        </p:spPr>
      </p:sp>
      <p:sp>
        <p:nvSpPr>
          <p:cNvPr id="9" name="a1_seg0"/>
          <p:cNvSpPr/>
          <p:nvPr/>
        </p:nvSpPr>
        <p:spPr>
          <a:xfrm>
            <a:off x="594360" y="1993392"/>
            <a:ext cx="1554480" cy="859536"/>
          </a:xfrm>
          <a:prstGeom prst="rect">
            <a:avLst/>
          </a:prstGeom>
          <a:solidFill>
            <a:srgbClr val="7C4DFF">
              <a:alpha val="75000"/>
            </a:srgbClr>
          </a:solidFill>
          <a:ln/>
        </p:spPr>
      </p:sp>
      <p:sp>
        <p:nvSpPr>
          <p:cNvPr id="10" name="a1_segt0"/>
          <p:cNvSpPr txBox="1"/>
          <p:nvPr/>
        </p:nvSpPr>
        <p:spPr>
          <a:xfrm>
            <a:off x="594360" y="1993392"/>
            <a:ext cx="1554480" cy="859536"/>
          </a:xfrm>
          <a:prstGeom prst="rect">
            <a:avLst/>
          </a:prstGeom>
          <a:noFill/>
          <a:ln/>
        </p:spPr>
        <p:txBody>
          <a:bodyPr wrap="square" lIns="25400" tIns="25400" rIns="25400" bIns="2540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System prompt</a:t>
            </a:r>
            <a:endParaRPr lang="en-US" sz="1300" dirty="0"/>
          </a:p>
        </p:txBody>
      </p:sp>
      <p:sp>
        <p:nvSpPr>
          <p:cNvPr id="11" name="a2_seg1"/>
          <p:cNvSpPr/>
          <p:nvPr/>
        </p:nvSpPr>
        <p:spPr>
          <a:xfrm>
            <a:off x="2240280" y="1993392"/>
            <a:ext cx="2651760" cy="859536"/>
          </a:xfrm>
          <a:prstGeom prst="rect">
            <a:avLst/>
          </a:prstGeom>
          <a:solidFill>
            <a:srgbClr val="4FC3F7">
              <a:alpha val="75000"/>
            </a:srgbClr>
          </a:solidFill>
          <a:ln/>
        </p:spPr>
      </p:sp>
      <p:sp>
        <p:nvSpPr>
          <p:cNvPr id="12" name="a2_segt1"/>
          <p:cNvSpPr txBox="1"/>
          <p:nvPr/>
        </p:nvSpPr>
        <p:spPr>
          <a:xfrm>
            <a:off x="2240280" y="1993392"/>
            <a:ext cx="2651760" cy="859536"/>
          </a:xfrm>
          <a:prstGeom prst="rect">
            <a:avLst/>
          </a:prstGeom>
          <a:noFill/>
          <a:ln/>
        </p:spPr>
        <p:txBody>
          <a:bodyPr wrap="square" lIns="25400" tIns="25400" rIns="25400" bIns="2540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Chat history</a:t>
            </a:r>
            <a:endParaRPr lang="en-US" sz="1300" dirty="0"/>
          </a:p>
        </p:txBody>
      </p:sp>
      <p:sp>
        <p:nvSpPr>
          <p:cNvPr id="13" name="a3_seg2"/>
          <p:cNvSpPr/>
          <p:nvPr/>
        </p:nvSpPr>
        <p:spPr>
          <a:xfrm>
            <a:off x="4983480" y="1993392"/>
            <a:ext cx="3108960" cy="859536"/>
          </a:xfrm>
          <a:prstGeom prst="rect">
            <a:avLst/>
          </a:prstGeom>
          <a:solidFill>
            <a:srgbClr val="FFB547">
              <a:alpha val="75000"/>
            </a:srgbClr>
          </a:solidFill>
          <a:ln/>
        </p:spPr>
      </p:sp>
      <p:sp>
        <p:nvSpPr>
          <p:cNvPr id="14" name="a3_segt2"/>
          <p:cNvSpPr txBox="1"/>
          <p:nvPr/>
        </p:nvSpPr>
        <p:spPr>
          <a:xfrm>
            <a:off x="4983480" y="1993392"/>
            <a:ext cx="3108960" cy="859536"/>
          </a:xfrm>
          <a:prstGeom prst="rect">
            <a:avLst/>
          </a:prstGeom>
          <a:noFill/>
          <a:ln/>
        </p:spPr>
        <p:txBody>
          <a:bodyPr wrap="square" lIns="25400" tIns="25400" rIns="25400" bIns="2540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Your documents</a:t>
            </a:r>
            <a:endParaRPr lang="en-US" sz="1300" dirty="0"/>
          </a:p>
        </p:txBody>
      </p:sp>
      <p:sp>
        <p:nvSpPr>
          <p:cNvPr id="15" name="a4_seg3"/>
          <p:cNvSpPr/>
          <p:nvPr/>
        </p:nvSpPr>
        <p:spPr>
          <a:xfrm>
            <a:off x="8183880" y="1993392"/>
            <a:ext cx="1188720" cy="859536"/>
          </a:xfrm>
          <a:prstGeom prst="rect">
            <a:avLst/>
          </a:prstGeom>
          <a:solidFill>
            <a:srgbClr val="FF5C8A">
              <a:alpha val="75000"/>
            </a:srgbClr>
          </a:solidFill>
          <a:ln/>
        </p:spPr>
      </p:sp>
      <p:sp>
        <p:nvSpPr>
          <p:cNvPr id="16" name="a4_segt3"/>
          <p:cNvSpPr txBox="1"/>
          <p:nvPr/>
        </p:nvSpPr>
        <p:spPr>
          <a:xfrm>
            <a:off x="8183880" y="1993392"/>
            <a:ext cx="1188720" cy="859536"/>
          </a:xfrm>
          <a:prstGeom prst="rect">
            <a:avLst/>
          </a:prstGeom>
          <a:noFill/>
          <a:ln/>
        </p:spPr>
        <p:txBody>
          <a:bodyPr wrap="square" lIns="25400" tIns="25400" rIns="25400" bIns="2540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Question</a:t>
            </a:r>
            <a:endParaRPr lang="en-US" sz="1300" dirty="0"/>
          </a:p>
        </p:txBody>
      </p:sp>
      <p:sp>
        <p:nvSpPr>
          <p:cNvPr id="17" name="a5_seg4"/>
          <p:cNvSpPr/>
          <p:nvPr/>
        </p:nvSpPr>
        <p:spPr>
          <a:xfrm>
            <a:off x="9464040" y="1993392"/>
            <a:ext cx="1645920" cy="859536"/>
          </a:xfrm>
          <a:prstGeom prst="rect">
            <a:avLst/>
          </a:prstGeom>
          <a:solidFill>
            <a:srgbClr val="2EE6A6">
              <a:alpha val="75000"/>
            </a:srgbClr>
          </a:solidFill>
          <a:ln/>
        </p:spPr>
      </p:sp>
      <p:sp>
        <p:nvSpPr>
          <p:cNvPr id="18" name="a5_segt4"/>
          <p:cNvSpPr txBox="1"/>
          <p:nvPr/>
        </p:nvSpPr>
        <p:spPr>
          <a:xfrm>
            <a:off x="9464040" y="1993392"/>
            <a:ext cx="1645920" cy="859536"/>
          </a:xfrm>
          <a:prstGeom prst="rect">
            <a:avLst/>
          </a:prstGeom>
          <a:noFill/>
          <a:ln/>
        </p:spPr>
        <p:txBody>
          <a:bodyPr wrap="square" lIns="25400" tIns="25400" rIns="25400" bIns="25400" rtlCol="0" anchor="ctr"/>
          <a:lstStyle/>
          <a:p>
            <a:pPr algn="ctr" indent="0" marL="0">
              <a:buNone/>
            </a:pPr>
            <a:r>
              <a:rPr lang="en-US" sz="1300" b="1" dirty="0">
                <a:solidFill>
                  <a:srgbClr val="0D0A1A"/>
                </a:solidFill>
                <a:latin typeface="Arial" pitchFamily="34" charset="0"/>
                <a:ea typeface="Arial" pitchFamily="34" charset="-122"/>
                <a:cs typeface="Arial" pitchFamily="34" charset="-120"/>
              </a:rPr>
              <a:t>Answer</a:t>
            </a:r>
            <a:endParaRPr lang="en-US" sz="1300" dirty="0"/>
          </a:p>
        </p:txBody>
      </p:sp>
      <p:sp>
        <p:nvSpPr>
          <p:cNvPr id="19" name="Text 17"/>
          <p:cNvSpPr txBox="1"/>
          <p:nvPr/>
        </p:nvSpPr>
        <p:spPr>
          <a:xfrm>
            <a:off x="548640" y="3017520"/>
            <a:ext cx="11064240" cy="365760"/>
          </a:xfrm>
          <a:prstGeom prst="rect">
            <a:avLst/>
          </a:prstGeom>
          <a:noFill/>
          <a:ln/>
        </p:spPr>
        <p:txBody>
          <a:bodyPr wrap="square" lIns="0" tIns="0" rIns="0" bIns="0" rtlCol="0" anchor="t"/>
          <a:lstStyle/>
          <a:p>
            <a:pPr algn="ctr" indent="0" marL="0">
              <a:buNone/>
            </a:pPr>
            <a:r>
              <a:rPr lang="en-US" sz="1300" i="1" dirty="0">
                <a:solidFill>
                  <a:srgbClr val="A99BD6"/>
                </a:solidFill>
                <a:latin typeface="Calibri" pitchFamily="34" charset="0"/>
                <a:ea typeface="Calibri" pitchFamily="34" charset="-122"/>
                <a:cs typeface="Calibri" pitchFamily="34" charset="-120"/>
              </a:rPr>
              <a:t>← everything the model can “see” in one request: e.g. 128K tokens ≈ a 300-page book →</a:t>
            </a:r>
            <a:endParaRPr lang="en-US" sz="1300" dirty="0"/>
          </a:p>
        </p:txBody>
      </p:sp>
      <p:sp>
        <p:nvSpPr>
          <p:cNvPr id="20" name="a6_p0"/>
          <p:cNvSpPr/>
          <p:nvPr/>
        </p:nvSpPr>
        <p:spPr>
          <a:xfrm>
            <a:off x="548640" y="3657600"/>
            <a:ext cx="3520440" cy="2423160"/>
          </a:xfrm>
          <a:prstGeom prst="roundRect">
            <a:avLst>
              <a:gd name="adj" fmla="val 4528"/>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1" name="a6_pi0_c"/>
          <p:cNvSpPr/>
          <p:nvPr/>
        </p:nvSpPr>
        <p:spPr>
          <a:xfrm>
            <a:off x="822960" y="3931920"/>
            <a:ext cx="685800" cy="685800"/>
          </a:xfrm>
          <a:prstGeom prst="ellipse">
            <a:avLst/>
          </a:prstGeom>
          <a:solidFill>
            <a:srgbClr val="2EE6A6">
              <a:alpha val="20000"/>
            </a:srgbClr>
          </a:solidFill>
          <a:ln w="19050">
            <a:solidFill>
              <a:srgbClr val="2EE6A6"/>
            </a:solidFill>
            <a:prstDash val="solid"/>
          </a:ln>
        </p:spPr>
      </p:sp>
      <p:pic>
        <p:nvPicPr>
          <p:cNvPr id="22" name="a6_pi0_i" descr="preencoded.png">    </p:cNvPr>
          <p:cNvPicPr>
            <a:picLocks noChangeAspect="1"/>
          </p:cNvPicPr>
          <p:nvPr/>
        </p:nvPicPr>
        <p:blipFill>
          <a:blip r:embed="rId1"/>
          <a:stretch>
            <a:fillRect/>
          </a:stretch>
        </p:blipFill>
        <p:spPr>
          <a:xfrm>
            <a:off x="1001268" y="4110228"/>
            <a:ext cx="329184" cy="329184"/>
          </a:xfrm>
          <a:prstGeom prst="rect">
            <a:avLst/>
          </a:prstGeom>
        </p:spPr>
      </p:pic>
      <p:sp>
        <p:nvSpPr>
          <p:cNvPr id="23" name="a6_pt0"/>
          <p:cNvSpPr txBox="1"/>
          <p:nvPr/>
        </p:nvSpPr>
        <p:spPr>
          <a:xfrm>
            <a:off x="1645920" y="397764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Stateless</a:t>
            </a:r>
            <a:endParaRPr lang="en-US" sz="1800" dirty="0"/>
          </a:p>
        </p:txBody>
      </p:sp>
      <p:sp>
        <p:nvSpPr>
          <p:cNvPr id="24" name="a6_pd0"/>
          <p:cNvSpPr txBox="1"/>
          <p:nvPr/>
        </p:nvSpPr>
        <p:spPr>
          <a:xfrm>
            <a:off x="822960" y="4800600"/>
            <a:ext cx="3017520" cy="11887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The API remembers nothing between calls. Chat “memory” = you resending the history every time.</a:t>
            </a:r>
            <a:endParaRPr lang="en-US" sz="1400" dirty="0"/>
          </a:p>
        </p:txBody>
      </p:sp>
      <p:sp>
        <p:nvSpPr>
          <p:cNvPr id="25" name="a7_p1"/>
          <p:cNvSpPr/>
          <p:nvPr/>
        </p:nvSpPr>
        <p:spPr>
          <a:xfrm>
            <a:off x="4297680" y="3657600"/>
            <a:ext cx="3520440" cy="2423160"/>
          </a:xfrm>
          <a:prstGeom prst="roundRect">
            <a:avLst>
              <a:gd name="adj" fmla="val 4528"/>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6" name="a7_pi1_c"/>
          <p:cNvSpPr/>
          <p:nvPr/>
        </p:nvSpPr>
        <p:spPr>
          <a:xfrm>
            <a:off x="4572000" y="3931920"/>
            <a:ext cx="685800" cy="685800"/>
          </a:xfrm>
          <a:prstGeom prst="ellipse">
            <a:avLst/>
          </a:prstGeom>
          <a:solidFill>
            <a:srgbClr val="FFB547">
              <a:alpha val="20000"/>
            </a:srgbClr>
          </a:solidFill>
          <a:ln w="19050">
            <a:solidFill>
              <a:srgbClr val="FFB547"/>
            </a:solidFill>
            <a:prstDash val="solid"/>
          </a:ln>
        </p:spPr>
      </p:sp>
      <p:pic>
        <p:nvPicPr>
          <p:cNvPr id="27" name="a7_pi1_i" descr="preencoded.png">    </p:cNvPr>
          <p:cNvPicPr>
            <a:picLocks noChangeAspect="1"/>
          </p:cNvPicPr>
          <p:nvPr/>
        </p:nvPicPr>
        <p:blipFill>
          <a:blip r:embed="rId2"/>
          <a:stretch>
            <a:fillRect/>
          </a:stretch>
        </p:blipFill>
        <p:spPr>
          <a:xfrm>
            <a:off x="4750308" y="4110228"/>
            <a:ext cx="329184" cy="329184"/>
          </a:xfrm>
          <a:prstGeom prst="rect">
            <a:avLst/>
          </a:prstGeom>
        </p:spPr>
      </p:pic>
      <p:sp>
        <p:nvSpPr>
          <p:cNvPr id="28" name="a7_pt1"/>
          <p:cNvSpPr txBox="1"/>
          <p:nvPr/>
        </p:nvSpPr>
        <p:spPr>
          <a:xfrm>
            <a:off x="5394960" y="397764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You pay for all of it</a:t>
            </a:r>
            <a:endParaRPr lang="en-US" sz="1800" dirty="0"/>
          </a:p>
        </p:txBody>
      </p:sp>
      <p:sp>
        <p:nvSpPr>
          <p:cNvPr id="29" name="a7_pd1"/>
          <p:cNvSpPr txBox="1"/>
          <p:nvPr/>
        </p:nvSpPr>
        <p:spPr>
          <a:xfrm>
            <a:off x="4572000" y="4800600"/>
            <a:ext cx="3017520" cy="11887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Turn 20 of a chat resends turns 1–19. Costs grow with every message.</a:t>
            </a:r>
            <a:endParaRPr lang="en-US" sz="1400" dirty="0"/>
          </a:p>
        </p:txBody>
      </p:sp>
      <p:sp>
        <p:nvSpPr>
          <p:cNvPr id="30" name="a8_p2"/>
          <p:cNvSpPr/>
          <p:nvPr/>
        </p:nvSpPr>
        <p:spPr>
          <a:xfrm>
            <a:off x="8046720" y="3657600"/>
            <a:ext cx="3520440" cy="2423160"/>
          </a:xfrm>
          <a:prstGeom prst="roundRect">
            <a:avLst>
              <a:gd name="adj" fmla="val 4528"/>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1" name="a8_pi2_c"/>
          <p:cNvSpPr/>
          <p:nvPr/>
        </p:nvSpPr>
        <p:spPr>
          <a:xfrm>
            <a:off x="8321040" y="3931920"/>
            <a:ext cx="685800" cy="685800"/>
          </a:xfrm>
          <a:prstGeom prst="ellipse">
            <a:avLst/>
          </a:prstGeom>
          <a:solidFill>
            <a:srgbClr val="FF5C8A">
              <a:alpha val="20000"/>
            </a:srgbClr>
          </a:solidFill>
          <a:ln w="19050">
            <a:solidFill>
              <a:srgbClr val="FF5C8A"/>
            </a:solidFill>
            <a:prstDash val="solid"/>
          </a:ln>
        </p:spPr>
      </p:sp>
      <p:pic>
        <p:nvPicPr>
          <p:cNvPr id="32" name="a8_pi2_i" descr="preencoded.png">    </p:cNvPr>
          <p:cNvPicPr>
            <a:picLocks noChangeAspect="1"/>
          </p:cNvPicPr>
          <p:nvPr/>
        </p:nvPicPr>
        <p:blipFill>
          <a:blip r:embed="rId3"/>
          <a:stretch>
            <a:fillRect/>
          </a:stretch>
        </p:blipFill>
        <p:spPr>
          <a:xfrm>
            <a:off x="8499348" y="4110228"/>
            <a:ext cx="329184" cy="329184"/>
          </a:xfrm>
          <a:prstGeom prst="rect">
            <a:avLst/>
          </a:prstGeom>
        </p:spPr>
      </p:pic>
      <p:sp>
        <p:nvSpPr>
          <p:cNvPr id="33" name="a8_pt2"/>
          <p:cNvSpPr txBox="1"/>
          <p:nvPr/>
        </p:nvSpPr>
        <p:spPr>
          <a:xfrm>
            <a:off x="9144000" y="397764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Overflow = error or amnesia</a:t>
            </a:r>
            <a:endParaRPr lang="en-US" sz="1800" dirty="0"/>
          </a:p>
        </p:txBody>
      </p:sp>
      <p:sp>
        <p:nvSpPr>
          <p:cNvPr id="34" name="a8_pd2"/>
          <p:cNvSpPr txBox="1"/>
          <p:nvPr/>
        </p:nvSpPr>
        <p:spPr>
          <a:xfrm>
            <a:off x="8321040" y="4800600"/>
            <a:ext cx="3017520" cy="118872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Too big → HTTP 400, or you trim the oldest messages. Long contexts also get “lost in the middle”.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500"/>
                                        <p:tgtEl>
                                          <p:spTgt spid="9"/>
                                        </p:tgtEl>
                                      </p:cBhvr>
                                    </p:animEffect>
                                    <p:anim calcmode="lin" valueType="num">
                                      <p:cBhvr>
                                        <p:cTn id="6" dur="500" fill="hold"/>
                                        <p:tgtEl>
                                          <p:spTgt spid="9"/>
                                        </p:tgtEl>
                                        <p:attrNameLst>
                                          <p:attrName>ppt_x</p:attrName>
                                        </p:attrNameLst>
                                      </p:cBhvr>
                                      <p:tavLst>
                                        <p:tav tm="0">
                                          <p:val>
                                            <p:strVal val="#ppt_x"/>
                                          </p:val>
                                        </p:tav>
                                        <p:tav tm="100000">
                                          <p:val>
                                            <p:strVal val="#ppt_x"/>
                                          </p:val>
                                        </p:tav>
                                      </p:tavLst>
                                    </p:anim>
                                    <p:anim calcmode="lin" valueType="num">
                                      <p:cBhvr>
                                        <p:cTn id="7" dur="500" decel="100000" fill="hold"/>
                                        <p:tgtEl>
                                          <p:spTgt spid="9"/>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decel="100000" fill="hold"/>
                                        <p:tgtEl>
                                          <p:spTgt spid="10"/>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decel="100000" fill="hold"/>
                                        <p:tgtEl>
                                          <p:spTgt spid="11"/>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anim calcmode="lin" valueType="num">
                                      <p:cBhvr>
                                        <p:cTn id="30" dur="500" fill="hold"/>
                                        <p:tgtEl>
                                          <p:spTgt spid="13"/>
                                        </p:tgtEl>
                                        <p:attrNameLst>
                                          <p:attrName>ppt_x</p:attrName>
                                        </p:attrNameLst>
                                      </p:cBhvr>
                                      <p:tavLst>
                                        <p:tav tm="0">
                                          <p:val>
                                            <p:strVal val="#ppt_x"/>
                                          </p:val>
                                        </p:tav>
                                        <p:tav tm="100000">
                                          <p:val>
                                            <p:strVal val="#ppt_x"/>
                                          </p:val>
                                        </p:tav>
                                      </p:tavLst>
                                    </p:anim>
                                    <p:anim calcmode="lin" valueType="num">
                                      <p:cBhvr>
                                        <p:cTn id="31" dur="500" decel="100000" fill="hold"/>
                                        <p:tgtEl>
                                          <p:spTgt spid="13"/>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anim calcmode="lin" valueType="num">
                                      <p:cBhvr>
                                        <p:cTn id="35" dur="500" fill="hold"/>
                                        <p:tgtEl>
                                          <p:spTgt spid="14"/>
                                        </p:tgtEl>
                                        <p:attrNameLst>
                                          <p:attrName>ppt_x</p:attrName>
                                        </p:attrNameLst>
                                      </p:cBhvr>
                                      <p:tavLst>
                                        <p:tav tm="0">
                                          <p:val>
                                            <p:strVal val="#ppt_x"/>
                                          </p:val>
                                        </p:tav>
                                        <p:tav tm="100000">
                                          <p:val>
                                            <p:strVal val="#ppt_x"/>
                                          </p:val>
                                        </p:tav>
                                      </p:tavLst>
                                    </p:anim>
                                    <p:anim calcmode="lin" valueType="num">
                                      <p:cBhvr>
                                        <p:cTn id="36" dur="500" decel="100000" fill="hold"/>
                                        <p:tgtEl>
                                          <p:spTgt spid="14"/>
                                        </p:tgtEl>
                                        <p:attrNameLst>
                                          <p:attrName>ppt_y</p:attrName>
                                        </p:attrNameLst>
                                      </p:cBhvr>
                                      <p:tavLst>
                                        <p:tav tm="0">
                                          <p:val>
                                            <p:strVal val="#ppt_y+.06"/>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decel="100000" fill="hold"/>
                                        <p:tgtEl>
                                          <p:spTgt spid="15"/>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anim calcmode="lin" valueType="num">
                                      <p:cBhvr>
                                        <p:cTn id="47" dur="500" fill="hold"/>
                                        <p:tgtEl>
                                          <p:spTgt spid="16"/>
                                        </p:tgtEl>
                                        <p:attrNameLst>
                                          <p:attrName>ppt_x</p:attrName>
                                        </p:attrNameLst>
                                      </p:cBhvr>
                                      <p:tavLst>
                                        <p:tav tm="0">
                                          <p:val>
                                            <p:strVal val="#ppt_x"/>
                                          </p:val>
                                        </p:tav>
                                        <p:tav tm="100000">
                                          <p:val>
                                            <p:strVal val="#ppt_x"/>
                                          </p:val>
                                        </p:tav>
                                      </p:tavLst>
                                    </p:anim>
                                    <p:anim calcmode="lin" valueType="num">
                                      <p:cBhvr>
                                        <p:cTn id="48" dur="5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decel="100000" fill="hold"/>
                                        <p:tgtEl>
                                          <p:spTgt spid="17"/>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decel="100000" fill="hold"/>
                                        <p:tgtEl>
                                          <p:spTgt spid="18"/>
                                        </p:tgtEl>
                                        <p:attrNameLst>
                                          <p:attrName>ppt_y</p:attrName>
                                        </p:attrNameLst>
                                      </p:cBhvr>
                                      <p:tavLst>
                                        <p:tav tm="0">
                                          <p:val>
                                            <p:strVal val="#ppt_y+.06"/>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anim calcmode="lin" valueType="num">
                                      <p:cBhvr>
                                        <p:cTn id="66" dur="500" fill="hold"/>
                                        <p:tgtEl>
                                          <p:spTgt spid="20"/>
                                        </p:tgtEl>
                                        <p:attrNameLst>
                                          <p:attrName>ppt_x</p:attrName>
                                        </p:attrNameLst>
                                      </p:cBhvr>
                                      <p:tavLst>
                                        <p:tav tm="0">
                                          <p:val>
                                            <p:strVal val="#ppt_x"/>
                                          </p:val>
                                        </p:tav>
                                        <p:tav tm="100000">
                                          <p:val>
                                            <p:strVal val="#ppt_x"/>
                                          </p:val>
                                        </p:tav>
                                      </p:tavLst>
                                    </p:anim>
                                    <p:anim calcmode="lin" valueType="num">
                                      <p:cBhvr>
                                        <p:cTn id="67" dur="500" decel="100000" fill="hold"/>
                                        <p:tgtEl>
                                          <p:spTgt spid="20"/>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anim calcmode="lin" valueType="num">
                                      <p:cBhvr>
                                        <p:cTn id="71" dur="500" fill="hold"/>
                                        <p:tgtEl>
                                          <p:spTgt spid="21"/>
                                        </p:tgtEl>
                                        <p:attrNameLst>
                                          <p:attrName>ppt_x</p:attrName>
                                        </p:attrNameLst>
                                      </p:cBhvr>
                                      <p:tavLst>
                                        <p:tav tm="0">
                                          <p:val>
                                            <p:strVal val="#ppt_x"/>
                                          </p:val>
                                        </p:tav>
                                        <p:tav tm="100000">
                                          <p:val>
                                            <p:strVal val="#ppt_x"/>
                                          </p:val>
                                        </p:tav>
                                      </p:tavLst>
                                    </p:anim>
                                    <p:anim calcmode="lin" valueType="num">
                                      <p:cBhvr>
                                        <p:cTn id="72" dur="500" decel="100000" fill="hold"/>
                                        <p:tgtEl>
                                          <p:spTgt spid="21"/>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p:cTn id="76" dur="500" fill="hold"/>
                                        <p:tgtEl>
                                          <p:spTgt spid="22"/>
                                        </p:tgtEl>
                                        <p:attrNameLst>
                                          <p:attrName>ppt_x</p:attrName>
                                        </p:attrNameLst>
                                      </p:cBhvr>
                                      <p:tavLst>
                                        <p:tav tm="0">
                                          <p:val>
                                            <p:strVal val="#ppt_x"/>
                                          </p:val>
                                        </p:tav>
                                        <p:tav tm="100000">
                                          <p:val>
                                            <p:strVal val="#ppt_x"/>
                                          </p:val>
                                        </p:tav>
                                      </p:tavLst>
                                    </p:anim>
                                    <p:anim calcmode="lin" valueType="num">
                                      <p:cBhvr>
                                        <p:cTn id="77" dur="500" decel="100000" fill="hold"/>
                                        <p:tgtEl>
                                          <p:spTgt spid="22"/>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500"/>
                                        <p:tgtEl>
                                          <p:spTgt spid="23"/>
                                        </p:tgtEl>
                                      </p:cBhvr>
                                    </p:animEffect>
                                    <p:anim calcmode="lin" valueType="num">
                                      <p:cBhvr>
                                        <p:cTn id="81" dur="500" fill="hold"/>
                                        <p:tgtEl>
                                          <p:spTgt spid="23"/>
                                        </p:tgtEl>
                                        <p:attrNameLst>
                                          <p:attrName>ppt_x</p:attrName>
                                        </p:attrNameLst>
                                      </p:cBhvr>
                                      <p:tavLst>
                                        <p:tav tm="0">
                                          <p:val>
                                            <p:strVal val="#ppt_x"/>
                                          </p:val>
                                        </p:tav>
                                        <p:tav tm="100000">
                                          <p:val>
                                            <p:strVal val="#ppt_x"/>
                                          </p:val>
                                        </p:tav>
                                      </p:tavLst>
                                    </p:anim>
                                    <p:anim calcmode="lin" valueType="num">
                                      <p:cBhvr>
                                        <p:cTn id="82" dur="500" decel="100000" fill="hold"/>
                                        <p:tgtEl>
                                          <p:spTgt spid="23"/>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500"/>
                                        <p:tgtEl>
                                          <p:spTgt spid="24"/>
                                        </p:tgtEl>
                                      </p:cBhvr>
                                    </p:animEffect>
                                    <p:anim calcmode="lin" valueType="num">
                                      <p:cBhvr>
                                        <p:cTn id="86" dur="500" fill="hold"/>
                                        <p:tgtEl>
                                          <p:spTgt spid="24"/>
                                        </p:tgtEl>
                                        <p:attrNameLst>
                                          <p:attrName>ppt_x</p:attrName>
                                        </p:attrNameLst>
                                      </p:cBhvr>
                                      <p:tavLst>
                                        <p:tav tm="0">
                                          <p:val>
                                            <p:strVal val="#ppt_x"/>
                                          </p:val>
                                        </p:tav>
                                        <p:tav tm="100000">
                                          <p:val>
                                            <p:strVal val="#ppt_x"/>
                                          </p:val>
                                        </p:tav>
                                      </p:tavLst>
                                    </p:anim>
                                    <p:anim calcmode="lin" valueType="num">
                                      <p:cBhvr>
                                        <p:cTn id="87"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anim calcmode="lin" valueType="num">
                                      <p:cBhvr>
                                        <p:cTn id="103" dur="500" fill="hold"/>
                                        <p:tgtEl>
                                          <p:spTgt spid="27"/>
                                        </p:tgtEl>
                                        <p:attrNameLst>
                                          <p:attrName>ppt_x</p:attrName>
                                        </p:attrNameLst>
                                      </p:cBhvr>
                                      <p:tavLst>
                                        <p:tav tm="0">
                                          <p:val>
                                            <p:strVal val="#ppt_x"/>
                                          </p:val>
                                        </p:tav>
                                        <p:tav tm="100000">
                                          <p:val>
                                            <p:strVal val="#ppt_x"/>
                                          </p:val>
                                        </p:tav>
                                      </p:tavLst>
                                    </p:anim>
                                    <p:anim calcmode="lin" valueType="num">
                                      <p:cBhvr>
                                        <p:cTn id="104" dur="500" decel="100000" fill="hold"/>
                                        <p:tgtEl>
                                          <p:spTgt spid="27"/>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anim calcmode="lin" valueType="num">
                                      <p:cBhvr>
                                        <p:cTn id="108" dur="500" fill="hold"/>
                                        <p:tgtEl>
                                          <p:spTgt spid="28"/>
                                        </p:tgtEl>
                                        <p:attrNameLst>
                                          <p:attrName>ppt_x</p:attrName>
                                        </p:attrNameLst>
                                      </p:cBhvr>
                                      <p:tavLst>
                                        <p:tav tm="0">
                                          <p:val>
                                            <p:strVal val="#ppt_x"/>
                                          </p:val>
                                        </p:tav>
                                        <p:tav tm="100000">
                                          <p:val>
                                            <p:strVal val="#ppt_x"/>
                                          </p:val>
                                        </p:tav>
                                      </p:tavLst>
                                    </p:anim>
                                    <p:anim calcmode="lin" valueType="num">
                                      <p:cBhvr>
                                        <p:cTn id="109" dur="500" decel="100000" fill="hold"/>
                                        <p:tgtEl>
                                          <p:spTgt spid="28"/>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anim calcmode="lin" valueType="num">
                                      <p:cBhvr>
                                        <p:cTn id="113" dur="500" fill="hold"/>
                                        <p:tgtEl>
                                          <p:spTgt spid="29"/>
                                        </p:tgtEl>
                                        <p:attrNameLst>
                                          <p:attrName>ppt_x</p:attrName>
                                        </p:attrNameLst>
                                      </p:cBhvr>
                                      <p:tavLst>
                                        <p:tav tm="0">
                                          <p:val>
                                            <p:strVal val="#ppt_x"/>
                                          </p:val>
                                        </p:tav>
                                        <p:tav tm="100000">
                                          <p:val>
                                            <p:strVal val="#ppt_x"/>
                                          </p:val>
                                        </p:tav>
                                      </p:tavLst>
                                    </p:anim>
                                    <p:anim calcmode="lin" valueType="num">
                                      <p:cBhvr>
                                        <p:cTn id="114" dur="500" decel="100000" fill="hold"/>
                                        <p:tgtEl>
                                          <p:spTgt spid="29"/>
                                        </p:tgtEl>
                                        <p:attrNameLst>
                                          <p:attrName>ppt_y</p:attrName>
                                        </p:attrNameLst>
                                      </p:cBhvr>
                                      <p:tavLst>
                                        <p:tav tm="0">
                                          <p:val>
                                            <p:strVal val="#ppt_y+.06"/>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p:cTn id="120" dur="500" fill="hold"/>
                                        <p:tgtEl>
                                          <p:spTgt spid="30"/>
                                        </p:tgtEl>
                                        <p:attrNameLst>
                                          <p:attrName>ppt_x</p:attrName>
                                        </p:attrNameLst>
                                      </p:cBhvr>
                                      <p:tavLst>
                                        <p:tav tm="0">
                                          <p:val>
                                            <p:strVal val="#ppt_x"/>
                                          </p:val>
                                        </p:tav>
                                        <p:tav tm="100000">
                                          <p:val>
                                            <p:strVal val="#ppt_x"/>
                                          </p:val>
                                        </p:tav>
                                      </p:tavLst>
                                    </p:anim>
                                    <p:anim calcmode="lin" valueType="num">
                                      <p:cBhvr>
                                        <p:cTn id="121" dur="500" decel="100000" fill="hold"/>
                                        <p:tgtEl>
                                          <p:spTgt spid="30"/>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500"/>
                                        <p:tgtEl>
                                          <p:spTgt spid="31"/>
                                        </p:tgtEl>
                                      </p:cBhvr>
                                    </p:animEffect>
                                    <p:anim calcmode="lin" valueType="num">
                                      <p:cBhvr>
                                        <p:cTn id="125" dur="500" fill="hold"/>
                                        <p:tgtEl>
                                          <p:spTgt spid="31"/>
                                        </p:tgtEl>
                                        <p:attrNameLst>
                                          <p:attrName>ppt_x</p:attrName>
                                        </p:attrNameLst>
                                      </p:cBhvr>
                                      <p:tavLst>
                                        <p:tav tm="0">
                                          <p:val>
                                            <p:strVal val="#ppt_x"/>
                                          </p:val>
                                        </p:tav>
                                        <p:tav tm="100000">
                                          <p:val>
                                            <p:strVal val="#ppt_x"/>
                                          </p:val>
                                        </p:tav>
                                      </p:tavLst>
                                    </p:anim>
                                    <p:anim calcmode="lin" valueType="num">
                                      <p:cBhvr>
                                        <p:cTn id="126" dur="500" decel="10000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p:cTn id="130" dur="500" fill="hold"/>
                                        <p:tgtEl>
                                          <p:spTgt spid="32"/>
                                        </p:tgtEl>
                                        <p:attrNameLst>
                                          <p:attrName>ppt_x</p:attrName>
                                        </p:attrNameLst>
                                      </p:cBhvr>
                                      <p:tavLst>
                                        <p:tav tm="0">
                                          <p:val>
                                            <p:strVal val="#ppt_x"/>
                                          </p:val>
                                        </p:tav>
                                        <p:tav tm="100000">
                                          <p:val>
                                            <p:strVal val="#ppt_x"/>
                                          </p:val>
                                        </p:tav>
                                      </p:tavLst>
                                    </p:anim>
                                    <p:anim calcmode="lin" valueType="num">
                                      <p:cBhvr>
                                        <p:cTn id="131" dur="500" decel="1000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anim calcmode="lin" valueType="num">
                                      <p:cBhvr>
                                        <p:cTn id="135" dur="500" fill="hold"/>
                                        <p:tgtEl>
                                          <p:spTgt spid="33"/>
                                        </p:tgtEl>
                                        <p:attrNameLst>
                                          <p:attrName>ppt_x</p:attrName>
                                        </p:attrNameLst>
                                      </p:cBhvr>
                                      <p:tavLst>
                                        <p:tav tm="0">
                                          <p:val>
                                            <p:strVal val="#ppt_x"/>
                                          </p:val>
                                        </p:tav>
                                        <p:tav tm="100000">
                                          <p:val>
                                            <p:strVal val="#ppt_x"/>
                                          </p:val>
                                        </p:tav>
                                      </p:tavLst>
                                    </p:anim>
                                    <p:anim calcmode="lin" valueType="num">
                                      <p:cBhvr>
                                        <p:cTn id="136" dur="500" decel="1000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anim calcmode="lin" valueType="num">
                                      <p:cBhvr>
                                        <p:cTn id="140" dur="500" fill="hold"/>
                                        <p:tgtEl>
                                          <p:spTgt spid="34"/>
                                        </p:tgtEl>
                                        <p:attrNameLst>
                                          <p:attrName>ppt_x</p:attrName>
                                        </p:attrNameLst>
                                      </p:cBhvr>
                                      <p:tavLst>
                                        <p:tav tm="0">
                                          <p:val>
                                            <p:strVal val="#ppt_x"/>
                                          </p:val>
                                        </p:tav>
                                        <p:tav tm="100000">
                                          <p:val>
                                            <p:strVal val="#ppt_x"/>
                                          </p:val>
                                        </p:tav>
                                      </p:tavLst>
                                    </p:anim>
                                    <p:anim calcmode="lin" valueType="num">
                                      <p:cBhvr>
                                        <p:cTn id="141" dur="500" decel="100000" fill="hold"/>
                                        <p:tgtEl>
                                          <p:spTgt spid="3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18</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CREATIVITY KNOB</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Temperature: same prompt, different personalities</a:t>
            </a:r>
            <a:endParaRPr lang="en-US" sz="3400" dirty="0"/>
          </a:p>
        </p:txBody>
      </p:sp>
      <p:sp>
        <p:nvSpPr>
          <p:cNvPr id="8" name="Shape 6"/>
          <p:cNvSpPr/>
          <p:nvPr/>
        </p:nvSpPr>
        <p:spPr>
          <a:xfrm>
            <a:off x="548640" y="2011680"/>
            <a:ext cx="11091672" cy="274320"/>
          </a:xfrm>
          <a:prstGeom prst="roundRect">
            <a:avLst>
              <a:gd name="adj" fmla="val 50000"/>
            </a:avLst>
          </a:prstGeom>
          <a:solidFill>
            <a:srgbClr val="251C4A"/>
          </a:solidFill>
          <a:ln/>
        </p:spPr>
      </p:sp>
      <p:sp>
        <p:nvSpPr>
          <p:cNvPr id="9" name="Shape 7"/>
          <p:cNvSpPr/>
          <p:nvPr/>
        </p:nvSpPr>
        <p:spPr>
          <a:xfrm>
            <a:off x="548640" y="2011680"/>
            <a:ext cx="3657600" cy="274320"/>
          </a:xfrm>
          <a:prstGeom prst="rect">
            <a:avLst/>
          </a:prstGeom>
          <a:solidFill>
            <a:srgbClr val="4FC3F7">
              <a:alpha val="60000"/>
            </a:srgbClr>
          </a:solidFill>
          <a:ln/>
        </p:spPr>
      </p:sp>
      <p:sp>
        <p:nvSpPr>
          <p:cNvPr id="10" name="Shape 8"/>
          <p:cNvSpPr/>
          <p:nvPr/>
        </p:nvSpPr>
        <p:spPr>
          <a:xfrm>
            <a:off x="4206240" y="2011680"/>
            <a:ext cx="3749040" cy="274320"/>
          </a:xfrm>
          <a:prstGeom prst="rect">
            <a:avLst/>
          </a:prstGeom>
          <a:solidFill>
            <a:srgbClr val="2EE6A6">
              <a:alpha val="60000"/>
            </a:srgbClr>
          </a:solidFill>
          <a:ln/>
        </p:spPr>
      </p:sp>
      <p:sp>
        <p:nvSpPr>
          <p:cNvPr id="11" name="Shape 9"/>
          <p:cNvSpPr/>
          <p:nvPr/>
        </p:nvSpPr>
        <p:spPr>
          <a:xfrm>
            <a:off x="7955280" y="2011680"/>
            <a:ext cx="3685032" cy="274320"/>
          </a:xfrm>
          <a:prstGeom prst="rect">
            <a:avLst/>
          </a:prstGeom>
          <a:solidFill>
            <a:srgbClr val="FF5C8A">
              <a:alpha val="60000"/>
            </a:srgbClr>
          </a:solidFill>
          <a:ln/>
        </p:spPr>
      </p:sp>
      <p:sp>
        <p:nvSpPr>
          <p:cNvPr id="12" name="Text 10"/>
          <p:cNvSpPr txBox="1"/>
          <p:nvPr/>
        </p:nvSpPr>
        <p:spPr>
          <a:xfrm>
            <a:off x="548640" y="2377440"/>
            <a:ext cx="822960" cy="365760"/>
          </a:xfrm>
          <a:prstGeom prst="rect">
            <a:avLst/>
          </a:prstGeom>
          <a:noFill/>
          <a:ln/>
        </p:spPr>
        <p:txBody>
          <a:bodyPr wrap="square" lIns="0" tIns="0" rIns="0" bIns="0" rtlCol="0" anchor="t"/>
          <a:lstStyle/>
          <a:p>
            <a:pPr indent="0" marL="0">
              <a:buNone/>
            </a:pPr>
            <a:r>
              <a:rPr lang="en-US" sz="1600" b="1" dirty="0">
                <a:solidFill>
                  <a:srgbClr val="FFFFFF"/>
                </a:solidFill>
                <a:latin typeface="Courier New" pitchFamily="34" charset="0"/>
                <a:ea typeface="Courier New" pitchFamily="34" charset="-122"/>
                <a:cs typeface="Courier New" pitchFamily="34" charset="-120"/>
              </a:rPr>
              <a:t>0.0</a:t>
            </a:r>
            <a:endParaRPr lang="en-US" sz="1600" dirty="0"/>
          </a:p>
        </p:txBody>
      </p:sp>
      <p:sp>
        <p:nvSpPr>
          <p:cNvPr id="13" name="Text 11"/>
          <p:cNvSpPr txBox="1"/>
          <p:nvPr/>
        </p:nvSpPr>
        <p:spPr>
          <a:xfrm>
            <a:off x="5394960" y="2377440"/>
            <a:ext cx="822960" cy="365760"/>
          </a:xfrm>
          <a:prstGeom prst="rect">
            <a:avLst/>
          </a:prstGeom>
          <a:noFill/>
          <a:ln/>
        </p:spPr>
        <p:txBody>
          <a:bodyPr wrap="square" lIns="0" tIns="0" rIns="0" bIns="0" rtlCol="0" anchor="t"/>
          <a:lstStyle/>
          <a:p>
            <a:pPr indent="0" marL="0">
              <a:buNone/>
            </a:pPr>
            <a:r>
              <a:rPr lang="en-US" sz="1600" b="1" dirty="0">
                <a:solidFill>
                  <a:srgbClr val="FFFFFF"/>
                </a:solidFill>
                <a:latin typeface="Courier New" pitchFamily="34" charset="0"/>
                <a:ea typeface="Courier New" pitchFamily="34" charset="-122"/>
                <a:cs typeface="Courier New" pitchFamily="34" charset="-120"/>
              </a:rPr>
              <a:t>0.7</a:t>
            </a:r>
            <a:endParaRPr lang="en-US" sz="1600" dirty="0"/>
          </a:p>
        </p:txBody>
      </p:sp>
      <p:sp>
        <p:nvSpPr>
          <p:cNvPr id="14" name="Text 12"/>
          <p:cNvSpPr txBox="1"/>
          <p:nvPr/>
        </p:nvSpPr>
        <p:spPr>
          <a:xfrm>
            <a:off x="10972800" y="2377440"/>
            <a:ext cx="822960" cy="365760"/>
          </a:xfrm>
          <a:prstGeom prst="rect">
            <a:avLst/>
          </a:prstGeom>
          <a:noFill/>
          <a:ln/>
        </p:spPr>
        <p:txBody>
          <a:bodyPr wrap="square" lIns="0" tIns="0" rIns="0" bIns="0" rtlCol="0" anchor="t"/>
          <a:lstStyle/>
          <a:p>
            <a:pPr indent="0" marL="0">
              <a:buNone/>
            </a:pPr>
            <a:r>
              <a:rPr lang="en-US" sz="1600" b="1" dirty="0">
                <a:solidFill>
                  <a:srgbClr val="FFFFFF"/>
                </a:solidFill>
                <a:latin typeface="Courier New" pitchFamily="34" charset="0"/>
                <a:ea typeface="Courier New" pitchFamily="34" charset="-122"/>
                <a:cs typeface="Courier New" pitchFamily="34" charset="-120"/>
              </a:rPr>
              <a:t>1.5+</a:t>
            </a:r>
            <a:endParaRPr lang="en-US" sz="1600" dirty="0"/>
          </a:p>
        </p:txBody>
      </p:sp>
      <p:sp>
        <p:nvSpPr>
          <p:cNvPr id="15" name="a1_t0"/>
          <p:cNvSpPr/>
          <p:nvPr/>
        </p:nvSpPr>
        <p:spPr>
          <a:xfrm>
            <a:off x="548640" y="2926080"/>
            <a:ext cx="3520440" cy="3200400"/>
          </a:xfrm>
          <a:prstGeom prst="roundRect">
            <a:avLst>
              <a:gd name="adj" fmla="val 3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6" name="a1_ti0_c"/>
          <p:cNvSpPr/>
          <p:nvPr/>
        </p:nvSpPr>
        <p:spPr>
          <a:xfrm>
            <a:off x="822960" y="3154680"/>
            <a:ext cx="640080" cy="640080"/>
          </a:xfrm>
          <a:prstGeom prst="ellipse">
            <a:avLst/>
          </a:prstGeom>
          <a:solidFill>
            <a:srgbClr val="4FC3F7">
              <a:alpha val="20000"/>
            </a:srgbClr>
          </a:solidFill>
          <a:ln w="19050">
            <a:solidFill>
              <a:srgbClr val="4FC3F7"/>
            </a:solidFill>
            <a:prstDash val="solid"/>
          </a:ln>
        </p:spPr>
      </p:sp>
      <p:pic>
        <p:nvPicPr>
          <p:cNvPr id="17" name="a1_ti0_i" descr="preencoded.png">    </p:cNvPr>
          <p:cNvPicPr>
            <a:picLocks noChangeAspect="1"/>
          </p:cNvPicPr>
          <p:nvPr/>
        </p:nvPicPr>
        <p:blipFill>
          <a:blip r:embed="rId1"/>
          <a:stretch>
            <a:fillRect/>
          </a:stretch>
        </p:blipFill>
        <p:spPr>
          <a:xfrm>
            <a:off x="989381" y="3321101"/>
            <a:ext cx="307238" cy="307238"/>
          </a:xfrm>
          <a:prstGeom prst="rect">
            <a:avLst/>
          </a:prstGeom>
        </p:spPr>
      </p:pic>
      <p:sp>
        <p:nvSpPr>
          <p:cNvPr id="18" name="a1_tt0"/>
          <p:cNvSpPr txBox="1"/>
          <p:nvPr/>
        </p:nvSpPr>
        <p:spPr>
          <a:xfrm>
            <a:off x="1600200" y="3154680"/>
            <a:ext cx="2377440" cy="365760"/>
          </a:xfrm>
          <a:prstGeom prst="rect">
            <a:avLst/>
          </a:prstGeom>
          <a:noFill/>
          <a:ln/>
        </p:spPr>
        <p:txBody>
          <a:bodyPr wrap="square" lIns="0" tIns="0" rIns="0" bIns="0" rtlCol="0" anchor="t"/>
          <a:lstStyle/>
          <a:p>
            <a:pPr indent="0" marL="0">
              <a:buNone/>
            </a:pPr>
            <a:r>
              <a:rPr lang="en-US" sz="1700" b="1" dirty="0">
                <a:solidFill>
                  <a:srgbClr val="4FC3F7"/>
                </a:solidFill>
                <a:latin typeface="Arial" pitchFamily="34" charset="0"/>
                <a:ea typeface="Arial" pitchFamily="34" charset="-122"/>
                <a:cs typeface="Arial" pitchFamily="34" charset="-120"/>
              </a:rPr>
              <a:t>Low (0 – 0.3)</a:t>
            </a:r>
            <a:endParaRPr lang="en-US" sz="1700" dirty="0"/>
          </a:p>
        </p:txBody>
      </p:sp>
      <p:sp>
        <p:nvSpPr>
          <p:cNvPr id="19" name="a1_ts0"/>
          <p:cNvSpPr txBox="1"/>
          <p:nvPr/>
        </p:nvSpPr>
        <p:spPr>
          <a:xfrm>
            <a:off x="1600200" y="3502152"/>
            <a:ext cx="2377440" cy="3200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Focused &amp; repeatable</a:t>
            </a:r>
            <a:endParaRPr lang="en-US" sz="1400" dirty="0"/>
          </a:p>
        </p:txBody>
      </p:sp>
      <p:sp>
        <p:nvSpPr>
          <p:cNvPr id="20" name="a1_te0"/>
          <p:cNvSpPr txBox="1"/>
          <p:nvPr/>
        </p:nvSpPr>
        <p:spPr>
          <a:xfrm>
            <a:off x="822960" y="3977640"/>
            <a:ext cx="3017520" cy="128016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“Suggest a startup name”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DotNetAI</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DotNetAI</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DotNetAI</a:t>
            </a:r>
            <a:endParaRPr lang="en-US" sz="1300" dirty="0"/>
          </a:p>
        </p:txBody>
      </p:sp>
      <p:sp>
        <p:nvSpPr>
          <p:cNvPr id="21" name="a1_tu0"/>
          <p:cNvSpPr txBox="1"/>
          <p:nvPr/>
        </p:nvSpPr>
        <p:spPr>
          <a:xfrm>
            <a:off x="822960" y="5349240"/>
            <a:ext cx="3017520" cy="640080"/>
          </a:xfrm>
          <a:prstGeom prst="rect">
            <a:avLst/>
          </a:prstGeom>
          <a:noFill/>
          <a:ln/>
        </p:spPr>
        <p:txBody>
          <a:bodyPr wrap="square" lIns="0" tIns="0" rIns="0" bIns="0" rtlCol="0" anchor="t"/>
          <a:lstStyle/>
          <a:p>
            <a:pPr indent="0" marL="0">
              <a:buNone/>
            </a:pPr>
            <a:r>
              <a:rPr lang="en-US" sz="1300" i="1" dirty="0">
                <a:solidFill>
                  <a:srgbClr val="E9E4FF"/>
                </a:solidFill>
                <a:latin typeface="Calibri" pitchFamily="34" charset="0"/>
                <a:ea typeface="Calibri" pitchFamily="34" charset="-122"/>
                <a:cs typeface="Calibri" pitchFamily="34" charset="-120"/>
              </a:rPr>
              <a:t>Use for: JSON, classification, extraction, code</a:t>
            </a:r>
            <a:endParaRPr lang="en-US" sz="1300" dirty="0"/>
          </a:p>
        </p:txBody>
      </p:sp>
      <p:sp>
        <p:nvSpPr>
          <p:cNvPr id="22" name="a2_t1"/>
          <p:cNvSpPr/>
          <p:nvPr/>
        </p:nvSpPr>
        <p:spPr>
          <a:xfrm>
            <a:off x="4297680" y="2926080"/>
            <a:ext cx="3520440" cy="3200400"/>
          </a:xfrm>
          <a:prstGeom prst="roundRect">
            <a:avLst>
              <a:gd name="adj" fmla="val 3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3" name="a2_ti1_c"/>
          <p:cNvSpPr/>
          <p:nvPr/>
        </p:nvSpPr>
        <p:spPr>
          <a:xfrm>
            <a:off x="4572000" y="3154680"/>
            <a:ext cx="640080" cy="640080"/>
          </a:xfrm>
          <a:prstGeom prst="ellipse">
            <a:avLst/>
          </a:prstGeom>
          <a:solidFill>
            <a:srgbClr val="2EE6A6">
              <a:alpha val="20000"/>
            </a:srgbClr>
          </a:solidFill>
          <a:ln w="19050">
            <a:solidFill>
              <a:srgbClr val="2EE6A6"/>
            </a:solidFill>
            <a:prstDash val="solid"/>
          </a:ln>
        </p:spPr>
      </p:sp>
      <p:pic>
        <p:nvPicPr>
          <p:cNvPr id="24" name="a2_ti1_i" descr="preencoded.png">    </p:cNvPr>
          <p:cNvPicPr>
            <a:picLocks noChangeAspect="1"/>
          </p:cNvPicPr>
          <p:nvPr/>
        </p:nvPicPr>
        <p:blipFill>
          <a:blip r:embed="rId2"/>
          <a:stretch>
            <a:fillRect/>
          </a:stretch>
        </p:blipFill>
        <p:spPr>
          <a:xfrm>
            <a:off x="4738421" y="3321101"/>
            <a:ext cx="307238" cy="307238"/>
          </a:xfrm>
          <a:prstGeom prst="rect">
            <a:avLst/>
          </a:prstGeom>
        </p:spPr>
      </p:pic>
      <p:sp>
        <p:nvSpPr>
          <p:cNvPr id="25" name="a2_tt1"/>
          <p:cNvSpPr txBox="1"/>
          <p:nvPr/>
        </p:nvSpPr>
        <p:spPr>
          <a:xfrm>
            <a:off x="5349240" y="3154680"/>
            <a:ext cx="2377440" cy="365760"/>
          </a:xfrm>
          <a:prstGeom prst="rect">
            <a:avLst/>
          </a:prstGeom>
          <a:noFill/>
          <a:ln/>
        </p:spPr>
        <p:txBody>
          <a:bodyPr wrap="square" lIns="0" tIns="0" rIns="0" bIns="0" rtlCol="0" anchor="t"/>
          <a:lstStyle/>
          <a:p>
            <a:pPr indent="0" marL="0">
              <a:buNone/>
            </a:pPr>
            <a:r>
              <a:rPr lang="en-US" sz="1700" b="1" dirty="0">
                <a:solidFill>
                  <a:srgbClr val="2EE6A6"/>
                </a:solidFill>
                <a:latin typeface="Arial" pitchFamily="34" charset="0"/>
                <a:ea typeface="Arial" pitchFamily="34" charset="-122"/>
                <a:cs typeface="Arial" pitchFamily="34" charset="-120"/>
              </a:rPr>
              <a:t>Medium (0.5 – 0.8)</a:t>
            </a:r>
            <a:endParaRPr lang="en-US" sz="1700" dirty="0"/>
          </a:p>
        </p:txBody>
      </p:sp>
      <p:sp>
        <p:nvSpPr>
          <p:cNvPr id="26" name="a2_ts1"/>
          <p:cNvSpPr txBox="1"/>
          <p:nvPr/>
        </p:nvSpPr>
        <p:spPr>
          <a:xfrm>
            <a:off x="5349240" y="3502152"/>
            <a:ext cx="2377440" cy="3200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Balanced</a:t>
            </a:r>
            <a:endParaRPr lang="en-US" sz="1400" dirty="0"/>
          </a:p>
        </p:txBody>
      </p:sp>
      <p:sp>
        <p:nvSpPr>
          <p:cNvPr id="27" name="a2_te1"/>
          <p:cNvSpPr txBox="1"/>
          <p:nvPr/>
        </p:nvSpPr>
        <p:spPr>
          <a:xfrm>
            <a:off x="4572000" y="3977640"/>
            <a:ext cx="3017520" cy="128016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 AgentForge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SharpMind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AgentForge</a:t>
            </a:r>
            <a:endParaRPr lang="en-US" sz="1300" dirty="0"/>
          </a:p>
        </p:txBody>
      </p:sp>
      <p:sp>
        <p:nvSpPr>
          <p:cNvPr id="28" name="a2_tu1"/>
          <p:cNvSpPr txBox="1"/>
          <p:nvPr/>
        </p:nvSpPr>
        <p:spPr>
          <a:xfrm>
            <a:off x="4572000" y="5349240"/>
            <a:ext cx="3017520" cy="640080"/>
          </a:xfrm>
          <a:prstGeom prst="rect">
            <a:avLst/>
          </a:prstGeom>
          <a:noFill/>
          <a:ln/>
        </p:spPr>
        <p:txBody>
          <a:bodyPr wrap="square" lIns="0" tIns="0" rIns="0" bIns="0" rtlCol="0" anchor="t"/>
          <a:lstStyle/>
          <a:p>
            <a:pPr indent="0" marL="0">
              <a:buNone/>
            </a:pPr>
            <a:r>
              <a:rPr lang="en-US" sz="1300" i="1" dirty="0">
                <a:solidFill>
                  <a:srgbClr val="E9E4FF"/>
                </a:solidFill>
                <a:latin typeface="Calibri" pitchFamily="34" charset="0"/>
                <a:ea typeface="Calibri" pitchFamily="34" charset="-122"/>
                <a:cs typeface="Calibri" pitchFamily="34" charset="-120"/>
              </a:rPr>
              <a:t>Use for: Chat assistants, summaries, Q&amp;A</a:t>
            </a:r>
            <a:endParaRPr lang="en-US" sz="1300" dirty="0"/>
          </a:p>
        </p:txBody>
      </p:sp>
      <p:sp>
        <p:nvSpPr>
          <p:cNvPr id="29" name="a3_t2"/>
          <p:cNvSpPr/>
          <p:nvPr/>
        </p:nvSpPr>
        <p:spPr>
          <a:xfrm>
            <a:off x="8046720" y="2926080"/>
            <a:ext cx="3520440" cy="3200400"/>
          </a:xfrm>
          <a:prstGeom prst="roundRect">
            <a:avLst>
              <a:gd name="adj" fmla="val 3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0" name="a3_ti2_c"/>
          <p:cNvSpPr/>
          <p:nvPr/>
        </p:nvSpPr>
        <p:spPr>
          <a:xfrm>
            <a:off x="8321040" y="3154680"/>
            <a:ext cx="640080" cy="640080"/>
          </a:xfrm>
          <a:prstGeom prst="ellipse">
            <a:avLst/>
          </a:prstGeom>
          <a:solidFill>
            <a:srgbClr val="FF5C8A">
              <a:alpha val="20000"/>
            </a:srgbClr>
          </a:solidFill>
          <a:ln w="19050">
            <a:solidFill>
              <a:srgbClr val="FF5C8A"/>
            </a:solidFill>
            <a:prstDash val="solid"/>
          </a:ln>
        </p:spPr>
      </p:sp>
      <p:pic>
        <p:nvPicPr>
          <p:cNvPr id="31" name="a3_ti2_i" descr="preencoded.png">    </p:cNvPr>
          <p:cNvPicPr>
            <a:picLocks noChangeAspect="1"/>
          </p:cNvPicPr>
          <p:nvPr/>
        </p:nvPicPr>
        <p:blipFill>
          <a:blip r:embed="rId3"/>
          <a:stretch>
            <a:fillRect/>
          </a:stretch>
        </p:blipFill>
        <p:spPr>
          <a:xfrm>
            <a:off x="8487461" y="3321101"/>
            <a:ext cx="307238" cy="307238"/>
          </a:xfrm>
          <a:prstGeom prst="rect">
            <a:avLst/>
          </a:prstGeom>
        </p:spPr>
      </p:pic>
      <p:sp>
        <p:nvSpPr>
          <p:cNvPr id="32" name="a3_tt2"/>
          <p:cNvSpPr txBox="1"/>
          <p:nvPr/>
        </p:nvSpPr>
        <p:spPr>
          <a:xfrm>
            <a:off x="9098280" y="3154680"/>
            <a:ext cx="2377440" cy="365760"/>
          </a:xfrm>
          <a:prstGeom prst="rect">
            <a:avLst/>
          </a:prstGeom>
          <a:noFill/>
          <a:ln/>
        </p:spPr>
        <p:txBody>
          <a:bodyPr wrap="square" lIns="0" tIns="0" rIns="0" bIns="0" rtlCol="0" anchor="t"/>
          <a:lstStyle/>
          <a:p>
            <a:pPr indent="0" marL="0">
              <a:buNone/>
            </a:pPr>
            <a:r>
              <a:rPr lang="en-US" sz="1700" b="1" dirty="0">
                <a:solidFill>
                  <a:srgbClr val="FF5C8A"/>
                </a:solidFill>
                <a:latin typeface="Arial" pitchFamily="34" charset="0"/>
                <a:ea typeface="Arial" pitchFamily="34" charset="-122"/>
                <a:cs typeface="Arial" pitchFamily="34" charset="-120"/>
              </a:rPr>
              <a:t>High (1.0+)</a:t>
            </a:r>
            <a:endParaRPr lang="en-US" sz="1700" dirty="0"/>
          </a:p>
        </p:txBody>
      </p:sp>
      <p:sp>
        <p:nvSpPr>
          <p:cNvPr id="33" name="a3_ts2"/>
          <p:cNvSpPr txBox="1"/>
          <p:nvPr/>
        </p:nvSpPr>
        <p:spPr>
          <a:xfrm>
            <a:off x="9098280" y="3502152"/>
            <a:ext cx="2377440" cy="3200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Creative &amp; chaotic</a:t>
            </a:r>
            <a:endParaRPr lang="en-US" sz="1400" dirty="0"/>
          </a:p>
        </p:txBody>
      </p:sp>
      <p:sp>
        <p:nvSpPr>
          <p:cNvPr id="34" name="a3_te2"/>
          <p:cNvSpPr txBox="1"/>
          <p:nvPr/>
        </p:nvSpPr>
        <p:spPr>
          <a:xfrm>
            <a:off x="8321040" y="3977640"/>
            <a:ext cx="3017520" cy="128016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 Nebulon.Agents</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Quirkly#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C-Sharpenstein</a:t>
            </a:r>
            <a:endParaRPr lang="en-US" sz="1300" dirty="0"/>
          </a:p>
        </p:txBody>
      </p:sp>
      <p:sp>
        <p:nvSpPr>
          <p:cNvPr id="35" name="a3_tu2"/>
          <p:cNvSpPr txBox="1"/>
          <p:nvPr/>
        </p:nvSpPr>
        <p:spPr>
          <a:xfrm>
            <a:off x="8321040" y="5349240"/>
            <a:ext cx="3017520" cy="640080"/>
          </a:xfrm>
          <a:prstGeom prst="rect">
            <a:avLst/>
          </a:prstGeom>
          <a:noFill/>
          <a:ln/>
        </p:spPr>
        <p:txBody>
          <a:bodyPr wrap="square" lIns="0" tIns="0" rIns="0" bIns="0" rtlCol="0" anchor="t"/>
          <a:lstStyle/>
          <a:p>
            <a:pPr indent="0" marL="0">
              <a:buNone/>
            </a:pPr>
            <a:r>
              <a:rPr lang="en-US" sz="1300" i="1" dirty="0">
                <a:solidFill>
                  <a:srgbClr val="E9E4FF"/>
                </a:solidFill>
                <a:latin typeface="Calibri" pitchFamily="34" charset="0"/>
                <a:ea typeface="Calibri" pitchFamily="34" charset="-122"/>
                <a:cs typeface="Calibri" pitchFamily="34" charset="-120"/>
              </a:rPr>
              <a:t>Use for: Brainstorming, names, stories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3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500"/>
                                        <p:tgtEl>
                                          <p:spTgt spid="15"/>
                                        </p:tgtEl>
                                      </p:cBhvr>
                                    </p:animEffect>
                                    <p:anim calcmode="lin" valueType="num">
                                      <p:cBhvr>
                                        <p:cTn id="6" dur="500" fill="hold"/>
                                        <p:tgtEl>
                                          <p:spTgt spid="15"/>
                                        </p:tgtEl>
                                        <p:attrNameLst>
                                          <p:attrName>ppt_x</p:attrName>
                                        </p:attrNameLst>
                                      </p:cBhvr>
                                      <p:tavLst>
                                        <p:tav tm="0">
                                          <p:val>
                                            <p:strVal val="#ppt_x"/>
                                          </p:val>
                                        </p:tav>
                                        <p:tav tm="100000">
                                          <p:val>
                                            <p:strVal val="#ppt_x"/>
                                          </p:val>
                                        </p:tav>
                                      </p:tavLst>
                                    </p:anim>
                                    <p:anim calcmode="lin" valueType="num">
                                      <p:cBhvr>
                                        <p:cTn id="7" dur="500" decel="100000" fill="hold"/>
                                        <p:tgtEl>
                                          <p:spTgt spid="15"/>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anim calcmode="lin" valueType="num">
                                      <p:cBhvr>
                                        <p:cTn id="11" dur="500" fill="hold"/>
                                        <p:tgtEl>
                                          <p:spTgt spid="16"/>
                                        </p:tgtEl>
                                        <p:attrNameLst>
                                          <p:attrName>ppt_x</p:attrName>
                                        </p:attrNameLst>
                                      </p:cBhvr>
                                      <p:tavLst>
                                        <p:tav tm="0">
                                          <p:val>
                                            <p:strVal val="#ppt_x"/>
                                          </p:val>
                                        </p:tav>
                                        <p:tav tm="100000">
                                          <p:val>
                                            <p:strVal val="#ppt_x"/>
                                          </p:val>
                                        </p:tav>
                                      </p:tavLst>
                                    </p:anim>
                                    <p:anim calcmode="lin" valueType="num">
                                      <p:cBhvr>
                                        <p:cTn id="12" dur="500" decel="100000" fill="hold"/>
                                        <p:tgtEl>
                                          <p:spTgt spid="16"/>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anim calcmode="lin" valueType="num">
                                      <p:cBhvr>
                                        <p:cTn id="16" dur="500" fill="hold"/>
                                        <p:tgtEl>
                                          <p:spTgt spid="17"/>
                                        </p:tgtEl>
                                        <p:attrNameLst>
                                          <p:attrName>ppt_x</p:attrName>
                                        </p:attrNameLst>
                                      </p:cBhvr>
                                      <p:tavLst>
                                        <p:tav tm="0">
                                          <p:val>
                                            <p:strVal val="#ppt_x"/>
                                          </p:val>
                                        </p:tav>
                                        <p:tav tm="100000">
                                          <p:val>
                                            <p:strVal val="#ppt_x"/>
                                          </p:val>
                                        </p:tav>
                                      </p:tavLst>
                                    </p:anim>
                                    <p:anim calcmode="lin" valueType="num">
                                      <p:cBhvr>
                                        <p:cTn id="17" dur="500" decel="100000" fill="hold"/>
                                        <p:tgtEl>
                                          <p:spTgt spid="17"/>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anim calcmode="lin" valueType="num">
                                      <p:cBhvr>
                                        <p:cTn id="21" dur="500" fill="hold"/>
                                        <p:tgtEl>
                                          <p:spTgt spid="18"/>
                                        </p:tgtEl>
                                        <p:attrNameLst>
                                          <p:attrName>ppt_x</p:attrName>
                                        </p:attrNameLst>
                                      </p:cBhvr>
                                      <p:tavLst>
                                        <p:tav tm="0">
                                          <p:val>
                                            <p:strVal val="#ppt_x"/>
                                          </p:val>
                                        </p:tav>
                                        <p:tav tm="100000">
                                          <p:val>
                                            <p:strVal val="#ppt_x"/>
                                          </p:val>
                                        </p:tav>
                                      </p:tavLst>
                                    </p:anim>
                                    <p:anim calcmode="lin" valueType="num">
                                      <p:cBhvr>
                                        <p:cTn id="22" dur="500" decel="100000" fill="hold"/>
                                        <p:tgtEl>
                                          <p:spTgt spid="1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decel="100000" fill="hold"/>
                                        <p:tgtEl>
                                          <p:spTgt spid="1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decel="100000" fill="hold"/>
                                        <p:tgtEl>
                                          <p:spTgt spid="2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anim calcmode="lin" valueType="num">
                                      <p:cBhvr>
                                        <p:cTn id="36" dur="500" fill="hold"/>
                                        <p:tgtEl>
                                          <p:spTgt spid="21"/>
                                        </p:tgtEl>
                                        <p:attrNameLst>
                                          <p:attrName>ppt_x</p:attrName>
                                        </p:attrNameLst>
                                      </p:cBhvr>
                                      <p:tavLst>
                                        <p:tav tm="0">
                                          <p:val>
                                            <p:strVal val="#ppt_x"/>
                                          </p:val>
                                        </p:tav>
                                        <p:tav tm="100000">
                                          <p:val>
                                            <p:strVal val="#ppt_x"/>
                                          </p:val>
                                        </p:tav>
                                      </p:tavLst>
                                    </p:anim>
                                    <p:anim calcmode="lin" valueType="num">
                                      <p:cBhvr>
                                        <p:cTn id="37" dur="500" decel="100000" fill="hold"/>
                                        <p:tgtEl>
                                          <p:spTgt spid="21"/>
                                        </p:tgtEl>
                                        <p:attrNameLst>
                                          <p:attrName>ppt_y</p:attrName>
                                        </p:attrNameLst>
                                      </p:cBhvr>
                                      <p:tavLst>
                                        <p:tav tm="0">
                                          <p:val>
                                            <p:strVal val="#ppt_y+.06"/>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anim calcmode="lin" valueType="num">
                                      <p:cBhvr>
                                        <p:cTn id="43" dur="500" fill="hold"/>
                                        <p:tgtEl>
                                          <p:spTgt spid="22"/>
                                        </p:tgtEl>
                                        <p:attrNameLst>
                                          <p:attrName>ppt_x</p:attrName>
                                        </p:attrNameLst>
                                      </p:cBhvr>
                                      <p:tavLst>
                                        <p:tav tm="0">
                                          <p:val>
                                            <p:strVal val="#ppt_x"/>
                                          </p:val>
                                        </p:tav>
                                        <p:tav tm="100000">
                                          <p:val>
                                            <p:strVal val="#ppt_x"/>
                                          </p:val>
                                        </p:tav>
                                      </p:tavLst>
                                    </p:anim>
                                    <p:anim calcmode="lin" valueType="num">
                                      <p:cBhvr>
                                        <p:cTn id="44" dur="500" decel="100000" fill="hold"/>
                                        <p:tgtEl>
                                          <p:spTgt spid="22"/>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anim calcmode="lin" valueType="num">
                                      <p:cBhvr>
                                        <p:cTn id="48" dur="500" fill="hold"/>
                                        <p:tgtEl>
                                          <p:spTgt spid="23"/>
                                        </p:tgtEl>
                                        <p:attrNameLst>
                                          <p:attrName>ppt_x</p:attrName>
                                        </p:attrNameLst>
                                      </p:cBhvr>
                                      <p:tavLst>
                                        <p:tav tm="0">
                                          <p:val>
                                            <p:strVal val="#ppt_x"/>
                                          </p:val>
                                        </p:tav>
                                        <p:tav tm="100000">
                                          <p:val>
                                            <p:strVal val="#ppt_x"/>
                                          </p:val>
                                        </p:tav>
                                      </p:tavLst>
                                    </p:anim>
                                    <p:anim calcmode="lin" valueType="num">
                                      <p:cBhvr>
                                        <p:cTn id="49" dur="500" decel="100000" fill="hold"/>
                                        <p:tgtEl>
                                          <p:spTgt spid="2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anim calcmode="lin" valueType="num">
                                      <p:cBhvr>
                                        <p:cTn id="53" dur="500" fill="hold"/>
                                        <p:tgtEl>
                                          <p:spTgt spid="24"/>
                                        </p:tgtEl>
                                        <p:attrNameLst>
                                          <p:attrName>ppt_x</p:attrName>
                                        </p:attrNameLst>
                                      </p:cBhvr>
                                      <p:tavLst>
                                        <p:tav tm="0">
                                          <p:val>
                                            <p:strVal val="#ppt_x"/>
                                          </p:val>
                                        </p:tav>
                                        <p:tav tm="100000">
                                          <p:val>
                                            <p:strVal val="#ppt_x"/>
                                          </p:val>
                                        </p:tav>
                                      </p:tavLst>
                                    </p:anim>
                                    <p:anim calcmode="lin" valueType="num">
                                      <p:cBhvr>
                                        <p:cTn id="54" dur="500" decel="100000" fill="hold"/>
                                        <p:tgtEl>
                                          <p:spTgt spid="2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anim calcmode="lin" valueType="num">
                                      <p:cBhvr>
                                        <p:cTn id="58" dur="500" fill="hold"/>
                                        <p:tgtEl>
                                          <p:spTgt spid="25"/>
                                        </p:tgtEl>
                                        <p:attrNameLst>
                                          <p:attrName>ppt_x</p:attrName>
                                        </p:attrNameLst>
                                      </p:cBhvr>
                                      <p:tavLst>
                                        <p:tav tm="0">
                                          <p:val>
                                            <p:strVal val="#ppt_x"/>
                                          </p:val>
                                        </p:tav>
                                        <p:tav tm="100000">
                                          <p:val>
                                            <p:strVal val="#ppt_x"/>
                                          </p:val>
                                        </p:tav>
                                      </p:tavLst>
                                    </p:anim>
                                    <p:anim calcmode="lin" valueType="num">
                                      <p:cBhvr>
                                        <p:cTn id="59" dur="500" decel="100000" fill="hold"/>
                                        <p:tgtEl>
                                          <p:spTgt spid="2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anim calcmode="lin" valueType="num">
                                      <p:cBhvr>
                                        <p:cTn id="63" dur="500" fill="hold"/>
                                        <p:tgtEl>
                                          <p:spTgt spid="26"/>
                                        </p:tgtEl>
                                        <p:attrNameLst>
                                          <p:attrName>ppt_x</p:attrName>
                                        </p:attrNameLst>
                                      </p:cBhvr>
                                      <p:tavLst>
                                        <p:tav tm="0">
                                          <p:val>
                                            <p:strVal val="#ppt_x"/>
                                          </p:val>
                                        </p:tav>
                                        <p:tav tm="100000">
                                          <p:val>
                                            <p:strVal val="#ppt_x"/>
                                          </p:val>
                                        </p:tav>
                                      </p:tavLst>
                                    </p:anim>
                                    <p:anim calcmode="lin" valueType="num">
                                      <p:cBhvr>
                                        <p:cTn id="64" dur="500" decel="100000" fill="hold"/>
                                        <p:tgtEl>
                                          <p:spTgt spid="2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anim calcmode="lin" valueType="num">
                                      <p:cBhvr>
                                        <p:cTn id="68" dur="500" fill="hold"/>
                                        <p:tgtEl>
                                          <p:spTgt spid="27"/>
                                        </p:tgtEl>
                                        <p:attrNameLst>
                                          <p:attrName>ppt_x</p:attrName>
                                        </p:attrNameLst>
                                      </p:cBhvr>
                                      <p:tavLst>
                                        <p:tav tm="0">
                                          <p:val>
                                            <p:strVal val="#ppt_x"/>
                                          </p:val>
                                        </p:tav>
                                        <p:tav tm="100000">
                                          <p:val>
                                            <p:strVal val="#ppt_x"/>
                                          </p:val>
                                        </p:tav>
                                      </p:tavLst>
                                    </p:anim>
                                    <p:anim calcmode="lin" valueType="num">
                                      <p:cBhvr>
                                        <p:cTn id="69" dur="500" decel="100000" fill="hold"/>
                                        <p:tgtEl>
                                          <p:spTgt spid="2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anim calcmode="lin" valueType="num">
                                      <p:cBhvr>
                                        <p:cTn id="73" dur="500" fill="hold"/>
                                        <p:tgtEl>
                                          <p:spTgt spid="28"/>
                                        </p:tgtEl>
                                        <p:attrNameLst>
                                          <p:attrName>ppt_x</p:attrName>
                                        </p:attrNameLst>
                                      </p:cBhvr>
                                      <p:tavLst>
                                        <p:tav tm="0">
                                          <p:val>
                                            <p:strVal val="#ppt_x"/>
                                          </p:val>
                                        </p:tav>
                                        <p:tav tm="100000">
                                          <p:val>
                                            <p:strVal val="#ppt_x"/>
                                          </p:val>
                                        </p:tav>
                                      </p:tavLst>
                                    </p:anim>
                                    <p:anim calcmode="lin" valueType="num">
                                      <p:cBhvr>
                                        <p:cTn id="74" dur="500" decel="100000" fill="hold"/>
                                        <p:tgtEl>
                                          <p:spTgt spid="28"/>
                                        </p:tgtEl>
                                        <p:attrNameLst>
                                          <p:attrName>ppt_y</p:attrName>
                                        </p:attrNameLst>
                                      </p:cBhvr>
                                      <p:tavLst>
                                        <p:tav tm="0">
                                          <p:val>
                                            <p:strVal val="#ppt_y+.06"/>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anim calcmode="lin" valueType="num">
                                      <p:cBhvr>
                                        <p:cTn id="80" dur="500" fill="hold"/>
                                        <p:tgtEl>
                                          <p:spTgt spid="29"/>
                                        </p:tgtEl>
                                        <p:attrNameLst>
                                          <p:attrName>ppt_x</p:attrName>
                                        </p:attrNameLst>
                                      </p:cBhvr>
                                      <p:tavLst>
                                        <p:tav tm="0">
                                          <p:val>
                                            <p:strVal val="#ppt_x"/>
                                          </p:val>
                                        </p:tav>
                                        <p:tav tm="100000">
                                          <p:val>
                                            <p:strVal val="#ppt_x"/>
                                          </p:val>
                                        </p:tav>
                                      </p:tavLst>
                                    </p:anim>
                                    <p:anim calcmode="lin" valueType="num">
                                      <p:cBhvr>
                                        <p:cTn id="81" dur="500" decel="100000" fill="hold"/>
                                        <p:tgtEl>
                                          <p:spTgt spid="29"/>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anim calcmode="lin" valueType="num">
                                      <p:cBhvr>
                                        <p:cTn id="85" dur="500" fill="hold"/>
                                        <p:tgtEl>
                                          <p:spTgt spid="30"/>
                                        </p:tgtEl>
                                        <p:attrNameLst>
                                          <p:attrName>ppt_x</p:attrName>
                                        </p:attrNameLst>
                                      </p:cBhvr>
                                      <p:tavLst>
                                        <p:tav tm="0">
                                          <p:val>
                                            <p:strVal val="#ppt_x"/>
                                          </p:val>
                                        </p:tav>
                                        <p:tav tm="100000">
                                          <p:val>
                                            <p:strVal val="#ppt_x"/>
                                          </p:val>
                                        </p:tav>
                                      </p:tavLst>
                                    </p:anim>
                                    <p:anim calcmode="lin" valueType="num">
                                      <p:cBhvr>
                                        <p:cTn id="86" dur="500" decel="100000" fill="hold"/>
                                        <p:tgtEl>
                                          <p:spTgt spid="30"/>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anim calcmode="lin" valueType="num">
                                      <p:cBhvr>
                                        <p:cTn id="90" dur="500" fill="hold"/>
                                        <p:tgtEl>
                                          <p:spTgt spid="31"/>
                                        </p:tgtEl>
                                        <p:attrNameLst>
                                          <p:attrName>ppt_x</p:attrName>
                                        </p:attrNameLst>
                                      </p:cBhvr>
                                      <p:tavLst>
                                        <p:tav tm="0">
                                          <p:val>
                                            <p:strVal val="#ppt_x"/>
                                          </p:val>
                                        </p:tav>
                                        <p:tav tm="100000">
                                          <p:val>
                                            <p:strVal val="#ppt_x"/>
                                          </p:val>
                                        </p:tav>
                                      </p:tavLst>
                                    </p:anim>
                                    <p:anim calcmode="lin" valueType="num">
                                      <p:cBhvr>
                                        <p:cTn id="91" dur="500" decel="100000" fill="hold"/>
                                        <p:tgtEl>
                                          <p:spTgt spid="31"/>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anim calcmode="lin" valueType="num">
                                      <p:cBhvr>
                                        <p:cTn id="95" dur="500" fill="hold"/>
                                        <p:tgtEl>
                                          <p:spTgt spid="32"/>
                                        </p:tgtEl>
                                        <p:attrNameLst>
                                          <p:attrName>ppt_x</p:attrName>
                                        </p:attrNameLst>
                                      </p:cBhvr>
                                      <p:tavLst>
                                        <p:tav tm="0">
                                          <p:val>
                                            <p:strVal val="#ppt_x"/>
                                          </p:val>
                                        </p:tav>
                                        <p:tav tm="100000">
                                          <p:val>
                                            <p:strVal val="#ppt_x"/>
                                          </p:val>
                                        </p:tav>
                                      </p:tavLst>
                                    </p:anim>
                                    <p:anim calcmode="lin" valueType="num">
                                      <p:cBhvr>
                                        <p:cTn id="96" dur="500" decel="100000" fill="hold"/>
                                        <p:tgtEl>
                                          <p:spTgt spid="32"/>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anim calcmode="lin" valueType="num">
                                      <p:cBhvr>
                                        <p:cTn id="100" dur="500" fill="hold"/>
                                        <p:tgtEl>
                                          <p:spTgt spid="33"/>
                                        </p:tgtEl>
                                        <p:attrNameLst>
                                          <p:attrName>ppt_x</p:attrName>
                                        </p:attrNameLst>
                                      </p:cBhvr>
                                      <p:tavLst>
                                        <p:tav tm="0">
                                          <p:val>
                                            <p:strVal val="#ppt_x"/>
                                          </p:val>
                                        </p:tav>
                                        <p:tav tm="100000">
                                          <p:val>
                                            <p:strVal val="#ppt_x"/>
                                          </p:val>
                                        </p:tav>
                                      </p:tavLst>
                                    </p:anim>
                                    <p:anim calcmode="lin" valueType="num">
                                      <p:cBhvr>
                                        <p:cTn id="101" dur="500" decel="100000" fill="hold"/>
                                        <p:tgtEl>
                                          <p:spTgt spid="33"/>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anim calcmode="lin" valueType="num">
                                      <p:cBhvr>
                                        <p:cTn id="105" dur="500" fill="hold"/>
                                        <p:tgtEl>
                                          <p:spTgt spid="34"/>
                                        </p:tgtEl>
                                        <p:attrNameLst>
                                          <p:attrName>ppt_x</p:attrName>
                                        </p:attrNameLst>
                                      </p:cBhvr>
                                      <p:tavLst>
                                        <p:tav tm="0">
                                          <p:val>
                                            <p:strVal val="#ppt_x"/>
                                          </p:val>
                                        </p:tav>
                                        <p:tav tm="100000">
                                          <p:val>
                                            <p:strVal val="#ppt_x"/>
                                          </p:val>
                                        </p:tav>
                                      </p:tavLst>
                                    </p:anim>
                                    <p:anim calcmode="lin" valueType="num">
                                      <p:cBhvr>
                                        <p:cTn id="106" dur="500" decel="100000" fill="hold"/>
                                        <p:tgtEl>
                                          <p:spTgt spid="34"/>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anim calcmode="lin" valueType="num">
                                      <p:cBhvr>
                                        <p:cTn id="110" dur="500" fill="hold"/>
                                        <p:tgtEl>
                                          <p:spTgt spid="35"/>
                                        </p:tgtEl>
                                        <p:attrNameLst>
                                          <p:attrName>ppt_x</p:attrName>
                                        </p:attrNameLst>
                                      </p:cBhvr>
                                      <p:tavLst>
                                        <p:tav tm="0">
                                          <p:val>
                                            <p:strVal val="#ppt_x"/>
                                          </p:val>
                                        </p:tav>
                                        <p:tav tm="100000">
                                          <p:val>
                                            <p:strVal val="#ppt_x"/>
                                          </p:val>
                                        </p:tav>
                                      </p:tavLst>
                                    </p:anim>
                                    <p:anim calcmode="lin" valueType="num">
                                      <p:cBhvr>
                                        <p:cTn id="111" dur="500" decel="100000" fill="hold"/>
                                        <p:tgtEl>
                                          <p:spTgt spid="3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2" grpId="0" animBg="1"/>
      <p:bldP spid="33" grpId="0" animBg="1"/>
      <p:bldP spid="34" grpId="0" animBg="1"/>
      <p:bldP spid="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19</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NOT ALL MODELS CHAT</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Chat vs completion vs embedding</a:t>
            </a:r>
            <a:endParaRPr lang="en-US" sz="3400" dirty="0"/>
          </a:p>
        </p:txBody>
      </p:sp>
      <p:sp>
        <p:nvSpPr>
          <p:cNvPr id="8" name="a1_m0"/>
          <p:cNvSpPr/>
          <p:nvPr/>
        </p:nvSpPr>
        <p:spPr>
          <a:xfrm>
            <a:off x="548640" y="1783080"/>
            <a:ext cx="3520440" cy="4343400"/>
          </a:xfrm>
          <a:prstGeom prst="roundRect">
            <a:avLst>
              <a:gd name="adj" fmla="val 311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mi0_c"/>
          <p:cNvSpPr/>
          <p:nvPr/>
        </p:nvSpPr>
        <p:spPr>
          <a:xfrm>
            <a:off x="822960" y="2057400"/>
            <a:ext cx="822960" cy="822960"/>
          </a:xfrm>
          <a:prstGeom prst="ellipse">
            <a:avLst/>
          </a:prstGeom>
          <a:solidFill>
            <a:srgbClr val="2EE6A6">
              <a:alpha val="20000"/>
            </a:srgbClr>
          </a:solidFill>
          <a:ln w="19050">
            <a:solidFill>
              <a:srgbClr val="2EE6A6"/>
            </a:solidFill>
            <a:prstDash val="solid"/>
          </a:ln>
        </p:spPr>
      </p:sp>
      <p:pic>
        <p:nvPicPr>
          <p:cNvPr id="10" name="a1_mi0_i" descr="preencoded.png">    </p:cNvPr>
          <p:cNvPicPr>
            <a:picLocks noChangeAspect="1"/>
          </p:cNvPicPr>
          <p:nvPr/>
        </p:nvPicPr>
        <p:blipFill>
          <a:blip r:embed="rId1"/>
          <a:stretch>
            <a:fillRect/>
          </a:stretch>
        </p:blipFill>
        <p:spPr>
          <a:xfrm>
            <a:off x="1036930" y="2271370"/>
            <a:ext cx="395021" cy="395021"/>
          </a:xfrm>
          <a:prstGeom prst="rect">
            <a:avLst/>
          </a:prstGeom>
        </p:spPr>
      </p:pic>
      <p:sp>
        <p:nvSpPr>
          <p:cNvPr id="11" name="a1_mn0"/>
          <p:cNvSpPr txBox="1"/>
          <p:nvPr/>
        </p:nvSpPr>
        <p:spPr>
          <a:xfrm>
            <a:off x="1828800" y="2103120"/>
            <a:ext cx="210312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Chat</a:t>
            </a:r>
            <a:endParaRPr lang="en-US" sz="2400" dirty="0"/>
          </a:p>
        </p:txBody>
      </p:sp>
      <p:sp>
        <p:nvSpPr>
          <p:cNvPr id="12" name="a1_mio0"/>
          <p:cNvSpPr txBox="1"/>
          <p:nvPr/>
        </p:nvSpPr>
        <p:spPr>
          <a:xfrm>
            <a:off x="1828800" y="2560320"/>
            <a:ext cx="2194560" cy="365760"/>
          </a:xfrm>
          <a:prstGeom prst="rect">
            <a:avLst/>
          </a:prstGeom>
          <a:noFill/>
          <a:ln/>
        </p:spPr>
        <p:txBody>
          <a:bodyPr wrap="square" lIns="0" tIns="0" rIns="0" bIns="0" rtlCol="0" anchor="t"/>
          <a:lstStyle/>
          <a:p>
            <a:pPr indent="0" marL="0">
              <a:buNone/>
            </a:pPr>
            <a:r>
              <a:rPr lang="en-US" sz="1300" dirty="0">
                <a:solidFill>
                  <a:srgbClr val="2EE6A6"/>
                </a:solidFill>
                <a:latin typeface="Calibri" pitchFamily="34" charset="0"/>
                <a:ea typeface="Calibri" pitchFamily="34" charset="-122"/>
                <a:cs typeface="Calibri" pitchFamily="34" charset="-120"/>
              </a:rPr>
              <a:t>messages[] in → message out</a:t>
            </a:r>
            <a:endParaRPr lang="en-US" sz="1300" dirty="0"/>
          </a:p>
        </p:txBody>
      </p:sp>
      <p:sp>
        <p:nvSpPr>
          <p:cNvPr id="13" name="a1_ch00"/>
          <p:cNvSpPr/>
          <p:nvPr/>
        </p:nvSpPr>
        <p:spPr>
          <a:xfrm>
            <a:off x="822960" y="3200400"/>
            <a:ext cx="2971800" cy="384048"/>
          </a:xfrm>
          <a:prstGeom prst="roundRect">
            <a:avLst>
              <a:gd name="adj" fmla="val 14286"/>
            </a:avLst>
          </a:prstGeom>
          <a:solidFill>
            <a:srgbClr val="7C4DFF">
              <a:alpha val="20000"/>
            </a:srgbClr>
          </a:solidFill>
          <a:ln w="12700">
            <a:solidFill>
              <a:srgbClr val="7C4DFF"/>
            </a:solidFill>
            <a:prstDash val="solid"/>
          </a:ln>
        </p:spPr>
      </p:sp>
      <p:sp>
        <p:nvSpPr>
          <p:cNvPr id="14" name="a1_cht00"/>
          <p:cNvSpPr txBox="1"/>
          <p:nvPr/>
        </p:nvSpPr>
        <p:spPr>
          <a:xfrm>
            <a:off x="914400" y="32004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system</a:t>
            </a:r>
            <a:endParaRPr lang="en-US" sz="1300" dirty="0"/>
          </a:p>
        </p:txBody>
      </p:sp>
      <p:sp>
        <p:nvSpPr>
          <p:cNvPr id="15" name="a1_ch01"/>
          <p:cNvSpPr/>
          <p:nvPr/>
        </p:nvSpPr>
        <p:spPr>
          <a:xfrm>
            <a:off x="822960" y="3657600"/>
            <a:ext cx="2971800" cy="384048"/>
          </a:xfrm>
          <a:prstGeom prst="roundRect">
            <a:avLst>
              <a:gd name="adj" fmla="val 14286"/>
            </a:avLst>
          </a:prstGeom>
          <a:solidFill>
            <a:srgbClr val="4FC3F7">
              <a:alpha val="20000"/>
            </a:srgbClr>
          </a:solidFill>
          <a:ln w="12700">
            <a:solidFill>
              <a:srgbClr val="4FC3F7"/>
            </a:solidFill>
            <a:prstDash val="solid"/>
          </a:ln>
        </p:spPr>
      </p:sp>
      <p:sp>
        <p:nvSpPr>
          <p:cNvPr id="16" name="a1_cht01"/>
          <p:cNvSpPr txBox="1"/>
          <p:nvPr/>
        </p:nvSpPr>
        <p:spPr>
          <a:xfrm>
            <a:off x="914400" y="36576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user</a:t>
            </a:r>
            <a:endParaRPr lang="en-US" sz="1300" dirty="0"/>
          </a:p>
        </p:txBody>
      </p:sp>
      <p:sp>
        <p:nvSpPr>
          <p:cNvPr id="17" name="a1_ch02"/>
          <p:cNvSpPr/>
          <p:nvPr/>
        </p:nvSpPr>
        <p:spPr>
          <a:xfrm>
            <a:off x="822960" y="4114800"/>
            <a:ext cx="2971800" cy="384048"/>
          </a:xfrm>
          <a:prstGeom prst="roundRect">
            <a:avLst>
              <a:gd name="adj" fmla="val 14286"/>
            </a:avLst>
          </a:prstGeom>
          <a:solidFill>
            <a:srgbClr val="2EE6A6">
              <a:alpha val="20000"/>
            </a:srgbClr>
          </a:solidFill>
          <a:ln w="12700">
            <a:solidFill>
              <a:srgbClr val="2EE6A6"/>
            </a:solidFill>
            <a:prstDash val="solid"/>
          </a:ln>
        </p:spPr>
      </p:sp>
      <p:sp>
        <p:nvSpPr>
          <p:cNvPr id="18" name="a1_cht02"/>
          <p:cNvSpPr txBox="1"/>
          <p:nvPr/>
        </p:nvSpPr>
        <p:spPr>
          <a:xfrm>
            <a:off x="914400" y="41148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assistant</a:t>
            </a:r>
            <a:endParaRPr lang="en-US" sz="1300" dirty="0"/>
          </a:p>
        </p:txBody>
      </p:sp>
      <p:sp>
        <p:nvSpPr>
          <p:cNvPr id="19" name="a1_md0"/>
          <p:cNvSpPr txBox="1"/>
          <p:nvPr/>
        </p:nvSpPr>
        <p:spPr>
          <a:xfrm>
            <a:off x="822960" y="4617720"/>
            <a:ext cx="3017520" cy="914400"/>
          </a:xfrm>
          <a:prstGeom prst="rect">
            <a:avLst/>
          </a:prstGeom>
          <a:noFill/>
          <a:ln/>
        </p:spPr>
        <p:txBody>
          <a:bodyPr wrap="square" lIns="0" tIns="0" rIns="0" bIns="0" rtlCol="0" anchor="t"/>
          <a:lstStyle/>
          <a:p>
            <a:pPr indent="0" marL="0">
              <a:buNone/>
            </a:pPr>
            <a:r>
              <a:rPr lang="en-US" sz="1400" dirty="0">
                <a:solidFill>
                  <a:srgbClr val="E9E4FF"/>
                </a:solidFill>
                <a:latin typeface="Calibri" pitchFamily="34" charset="0"/>
                <a:ea typeface="Calibri" pitchFamily="34" charset="-122"/>
                <a:cs typeface="Calibri" pitchFamily="34" charset="-120"/>
              </a:rPr>
              <a:t>What you'll use 90% of the time. Everything today.</a:t>
            </a:r>
            <a:endParaRPr lang="en-US" sz="1400" dirty="0"/>
          </a:p>
        </p:txBody>
      </p:sp>
      <p:sp>
        <p:nvSpPr>
          <p:cNvPr id="20" name="a1_me0"/>
          <p:cNvSpPr txBox="1"/>
          <p:nvPr/>
        </p:nvSpPr>
        <p:spPr>
          <a:xfrm>
            <a:off x="822960" y="5577840"/>
            <a:ext cx="3017520" cy="365760"/>
          </a:xfrm>
          <a:prstGeom prst="rect">
            <a:avLst/>
          </a:prstGeom>
          <a:noFill/>
          <a:ln/>
        </p:spPr>
        <p:txBody>
          <a:bodyPr wrap="square" lIns="0" tIns="0" rIns="0" bIns="0" rtlCol="0" anchor="t"/>
          <a:lstStyle/>
          <a:p>
            <a:pPr indent="0" marL="0">
              <a:buNone/>
            </a:pPr>
            <a:r>
              <a:rPr lang="en-US" sz="1200" i="1" dirty="0">
                <a:solidFill>
                  <a:srgbClr val="6F63A0"/>
                </a:solidFill>
                <a:latin typeface="Calibri" pitchFamily="34" charset="0"/>
                <a:ea typeface="Calibri" pitchFamily="34" charset="-122"/>
                <a:cs typeface="Calibri" pitchFamily="34" charset="-120"/>
              </a:rPr>
              <a:t>llama-3.3-70b · GPT · Claude · Gemini</a:t>
            </a:r>
            <a:endParaRPr lang="en-US" sz="1200" dirty="0"/>
          </a:p>
        </p:txBody>
      </p:sp>
      <p:sp>
        <p:nvSpPr>
          <p:cNvPr id="21" name="a2_m1"/>
          <p:cNvSpPr/>
          <p:nvPr/>
        </p:nvSpPr>
        <p:spPr>
          <a:xfrm>
            <a:off x="4297680" y="1783080"/>
            <a:ext cx="3520440" cy="4343400"/>
          </a:xfrm>
          <a:prstGeom prst="roundRect">
            <a:avLst>
              <a:gd name="adj" fmla="val 311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2" name="a2_mi1_c"/>
          <p:cNvSpPr/>
          <p:nvPr/>
        </p:nvSpPr>
        <p:spPr>
          <a:xfrm>
            <a:off x="4572000" y="2057400"/>
            <a:ext cx="822960" cy="822960"/>
          </a:xfrm>
          <a:prstGeom prst="ellipse">
            <a:avLst/>
          </a:prstGeom>
          <a:solidFill>
            <a:srgbClr val="FFB547">
              <a:alpha val="20000"/>
            </a:srgbClr>
          </a:solidFill>
          <a:ln w="19050">
            <a:solidFill>
              <a:srgbClr val="FFB547"/>
            </a:solidFill>
            <a:prstDash val="solid"/>
          </a:ln>
        </p:spPr>
      </p:sp>
      <p:pic>
        <p:nvPicPr>
          <p:cNvPr id="23" name="a2_mi1_i" descr="preencoded.png">    </p:cNvPr>
          <p:cNvPicPr>
            <a:picLocks noChangeAspect="1"/>
          </p:cNvPicPr>
          <p:nvPr/>
        </p:nvPicPr>
        <p:blipFill>
          <a:blip r:embed="rId2"/>
          <a:stretch>
            <a:fillRect/>
          </a:stretch>
        </p:blipFill>
        <p:spPr>
          <a:xfrm>
            <a:off x="4785970" y="2271370"/>
            <a:ext cx="395021" cy="395021"/>
          </a:xfrm>
          <a:prstGeom prst="rect">
            <a:avLst/>
          </a:prstGeom>
        </p:spPr>
      </p:pic>
      <p:sp>
        <p:nvSpPr>
          <p:cNvPr id="24" name="a2_mn1"/>
          <p:cNvSpPr txBox="1"/>
          <p:nvPr/>
        </p:nvSpPr>
        <p:spPr>
          <a:xfrm>
            <a:off x="5577840" y="2103120"/>
            <a:ext cx="210312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Completion</a:t>
            </a:r>
            <a:endParaRPr lang="en-US" sz="2400" dirty="0"/>
          </a:p>
        </p:txBody>
      </p:sp>
      <p:sp>
        <p:nvSpPr>
          <p:cNvPr id="25" name="a2_mio1"/>
          <p:cNvSpPr txBox="1"/>
          <p:nvPr/>
        </p:nvSpPr>
        <p:spPr>
          <a:xfrm>
            <a:off x="5577840" y="2560320"/>
            <a:ext cx="2194560" cy="365760"/>
          </a:xfrm>
          <a:prstGeom prst="rect">
            <a:avLst/>
          </a:prstGeom>
          <a:noFill/>
          <a:ln/>
        </p:spPr>
        <p:txBody>
          <a:bodyPr wrap="square" lIns="0" tIns="0" rIns="0" bIns="0" rtlCol="0" anchor="t"/>
          <a:lstStyle/>
          <a:p>
            <a:pPr indent="0" marL="0">
              <a:buNone/>
            </a:pPr>
            <a:r>
              <a:rPr lang="en-US" sz="1300" dirty="0">
                <a:solidFill>
                  <a:srgbClr val="FFB547"/>
                </a:solidFill>
                <a:latin typeface="Calibri" pitchFamily="34" charset="0"/>
                <a:ea typeface="Calibri" pitchFamily="34" charset="-122"/>
                <a:cs typeface="Calibri" pitchFamily="34" charset="-120"/>
              </a:rPr>
              <a:t>text in → more text out</a:t>
            </a:r>
            <a:endParaRPr lang="en-US" sz="1300" dirty="0"/>
          </a:p>
        </p:txBody>
      </p:sp>
      <p:sp>
        <p:nvSpPr>
          <p:cNvPr id="26" name="a2_ch10"/>
          <p:cNvSpPr/>
          <p:nvPr/>
        </p:nvSpPr>
        <p:spPr>
          <a:xfrm>
            <a:off x="4572000" y="3200400"/>
            <a:ext cx="2971800" cy="384048"/>
          </a:xfrm>
          <a:prstGeom prst="roundRect">
            <a:avLst>
              <a:gd name="adj" fmla="val 14286"/>
            </a:avLst>
          </a:prstGeom>
          <a:solidFill>
            <a:srgbClr val="FFB547">
              <a:alpha val="20000"/>
            </a:srgbClr>
          </a:solidFill>
          <a:ln w="12700">
            <a:solidFill>
              <a:srgbClr val="FFB547"/>
            </a:solidFill>
            <a:prstDash val="solid"/>
          </a:ln>
        </p:spPr>
      </p:sp>
      <p:sp>
        <p:nvSpPr>
          <p:cNvPr id="27" name="a2_cht10"/>
          <p:cNvSpPr txBox="1"/>
          <p:nvPr/>
        </p:nvSpPr>
        <p:spPr>
          <a:xfrm>
            <a:off x="4663440" y="32004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Once upon a</a:t>
            </a:r>
            <a:endParaRPr lang="en-US" sz="1300" dirty="0"/>
          </a:p>
        </p:txBody>
      </p:sp>
      <p:sp>
        <p:nvSpPr>
          <p:cNvPr id="28" name="a2_ch11"/>
          <p:cNvSpPr/>
          <p:nvPr/>
        </p:nvSpPr>
        <p:spPr>
          <a:xfrm>
            <a:off x="4572000" y="3657600"/>
            <a:ext cx="2971800" cy="384048"/>
          </a:xfrm>
          <a:prstGeom prst="roundRect">
            <a:avLst>
              <a:gd name="adj" fmla="val 14286"/>
            </a:avLst>
          </a:prstGeom>
          <a:solidFill>
            <a:srgbClr val="6F63A0">
              <a:alpha val="20000"/>
            </a:srgbClr>
          </a:solidFill>
          <a:ln w="12700">
            <a:solidFill>
              <a:srgbClr val="6F63A0"/>
            </a:solidFill>
            <a:prstDash val="solid"/>
          </a:ln>
        </p:spPr>
      </p:sp>
      <p:sp>
        <p:nvSpPr>
          <p:cNvPr id="29" name="a2_cht11"/>
          <p:cNvSpPr txBox="1"/>
          <p:nvPr/>
        </p:nvSpPr>
        <p:spPr>
          <a:xfrm>
            <a:off x="4663440" y="36576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time…</a:t>
            </a:r>
            <a:endParaRPr lang="en-US" sz="1300" dirty="0"/>
          </a:p>
        </p:txBody>
      </p:sp>
      <p:sp>
        <p:nvSpPr>
          <p:cNvPr id="30" name="a2_md1"/>
          <p:cNvSpPr txBox="1"/>
          <p:nvPr/>
        </p:nvSpPr>
        <p:spPr>
          <a:xfrm>
            <a:off x="4572000" y="4617720"/>
            <a:ext cx="3017520" cy="914400"/>
          </a:xfrm>
          <a:prstGeom prst="rect">
            <a:avLst/>
          </a:prstGeom>
          <a:noFill/>
          <a:ln/>
        </p:spPr>
        <p:txBody>
          <a:bodyPr wrap="square" lIns="0" tIns="0" rIns="0" bIns="0" rtlCol="0" anchor="t"/>
          <a:lstStyle/>
          <a:p>
            <a:pPr indent="0" marL="0">
              <a:buNone/>
            </a:pPr>
            <a:r>
              <a:rPr lang="en-US" sz="1400" dirty="0">
                <a:solidFill>
                  <a:srgbClr val="E9E4FF"/>
                </a:solidFill>
                <a:latin typeface="Calibri" pitchFamily="34" charset="0"/>
                <a:ea typeface="Calibri" pitchFamily="34" charset="-122"/>
                <a:cs typeface="Calibri" pitchFamily="34" charset="-120"/>
              </a:rPr>
              <a:t>The older, raw form. Mostly replaced by chat. You'll still see it in docs.</a:t>
            </a:r>
            <a:endParaRPr lang="en-US" sz="1400" dirty="0"/>
          </a:p>
        </p:txBody>
      </p:sp>
      <p:sp>
        <p:nvSpPr>
          <p:cNvPr id="31" name="a2_me1"/>
          <p:cNvSpPr txBox="1"/>
          <p:nvPr/>
        </p:nvSpPr>
        <p:spPr>
          <a:xfrm>
            <a:off x="4572000" y="5577840"/>
            <a:ext cx="3017520" cy="365760"/>
          </a:xfrm>
          <a:prstGeom prst="rect">
            <a:avLst/>
          </a:prstGeom>
          <a:noFill/>
          <a:ln/>
        </p:spPr>
        <p:txBody>
          <a:bodyPr wrap="square" lIns="0" tIns="0" rIns="0" bIns="0" rtlCol="0" anchor="t"/>
          <a:lstStyle/>
          <a:p>
            <a:pPr indent="0" marL="0">
              <a:buNone/>
            </a:pPr>
            <a:r>
              <a:rPr lang="en-US" sz="1200" i="1" dirty="0">
                <a:solidFill>
                  <a:srgbClr val="6F63A0"/>
                </a:solidFill>
                <a:latin typeface="Calibri" pitchFamily="34" charset="0"/>
                <a:ea typeface="Calibri" pitchFamily="34" charset="-122"/>
                <a:cs typeface="Calibri" pitchFamily="34" charset="-120"/>
              </a:rPr>
              <a:t>legacy /completions endpoint</a:t>
            </a:r>
            <a:endParaRPr lang="en-US" sz="1200" dirty="0"/>
          </a:p>
        </p:txBody>
      </p:sp>
      <p:sp>
        <p:nvSpPr>
          <p:cNvPr id="32" name="a3_m2"/>
          <p:cNvSpPr/>
          <p:nvPr/>
        </p:nvSpPr>
        <p:spPr>
          <a:xfrm>
            <a:off x="8046720" y="1783080"/>
            <a:ext cx="3520440" cy="4343400"/>
          </a:xfrm>
          <a:prstGeom prst="roundRect">
            <a:avLst>
              <a:gd name="adj" fmla="val 3117"/>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3" name="a3_mi2_c"/>
          <p:cNvSpPr/>
          <p:nvPr/>
        </p:nvSpPr>
        <p:spPr>
          <a:xfrm>
            <a:off x="8321040" y="2057400"/>
            <a:ext cx="822960" cy="822960"/>
          </a:xfrm>
          <a:prstGeom prst="ellipse">
            <a:avLst/>
          </a:prstGeom>
          <a:solidFill>
            <a:srgbClr val="FF5C8A">
              <a:alpha val="20000"/>
            </a:srgbClr>
          </a:solidFill>
          <a:ln w="19050">
            <a:solidFill>
              <a:srgbClr val="FF5C8A"/>
            </a:solidFill>
            <a:prstDash val="solid"/>
          </a:ln>
        </p:spPr>
      </p:sp>
      <p:pic>
        <p:nvPicPr>
          <p:cNvPr id="34" name="a3_mi2_i" descr="preencoded.png">    </p:cNvPr>
          <p:cNvPicPr>
            <a:picLocks noChangeAspect="1"/>
          </p:cNvPicPr>
          <p:nvPr/>
        </p:nvPicPr>
        <p:blipFill>
          <a:blip r:embed="rId3"/>
          <a:stretch>
            <a:fillRect/>
          </a:stretch>
        </p:blipFill>
        <p:spPr>
          <a:xfrm>
            <a:off x="8535010" y="2271370"/>
            <a:ext cx="395021" cy="395021"/>
          </a:xfrm>
          <a:prstGeom prst="rect">
            <a:avLst/>
          </a:prstGeom>
        </p:spPr>
      </p:pic>
      <p:sp>
        <p:nvSpPr>
          <p:cNvPr id="35" name="a3_mn2"/>
          <p:cNvSpPr txBox="1"/>
          <p:nvPr/>
        </p:nvSpPr>
        <p:spPr>
          <a:xfrm>
            <a:off x="9326880" y="2103120"/>
            <a:ext cx="210312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Embedding</a:t>
            </a:r>
            <a:endParaRPr lang="en-US" sz="2400" dirty="0"/>
          </a:p>
        </p:txBody>
      </p:sp>
      <p:sp>
        <p:nvSpPr>
          <p:cNvPr id="36" name="a3_mio2"/>
          <p:cNvSpPr txBox="1"/>
          <p:nvPr/>
        </p:nvSpPr>
        <p:spPr>
          <a:xfrm>
            <a:off x="9326880" y="2560320"/>
            <a:ext cx="2194560" cy="365760"/>
          </a:xfrm>
          <a:prstGeom prst="rect">
            <a:avLst/>
          </a:prstGeom>
          <a:noFill/>
          <a:ln/>
        </p:spPr>
        <p:txBody>
          <a:bodyPr wrap="square" lIns="0" tIns="0" rIns="0" bIns="0" rtlCol="0" anchor="t"/>
          <a:lstStyle/>
          <a:p>
            <a:pPr indent="0" marL="0">
              <a:buNone/>
            </a:pPr>
            <a:r>
              <a:rPr lang="en-US" sz="1300" dirty="0">
                <a:solidFill>
                  <a:srgbClr val="FF5C8A"/>
                </a:solidFill>
                <a:latin typeface="Calibri" pitchFamily="34" charset="0"/>
                <a:ea typeface="Calibri" pitchFamily="34" charset="-122"/>
                <a:cs typeface="Calibri" pitchFamily="34" charset="-120"/>
              </a:rPr>
              <a:t>text in → numbers out</a:t>
            </a:r>
            <a:endParaRPr lang="en-US" sz="1300" dirty="0"/>
          </a:p>
        </p:txBody>
      </p:sp>
      <p:sp>
        <p:nvSpPr>
          <p:cNvPr id="37" name="a3_ch20"/>
          <p:cNvSpPr/>
          <p:nvPr/>
        </p:nvSpPr>
        <p:spPr>
          <a:xfrm>
            <a:off x="8321040" y="3200400"/>
            <a:ext cx="2971800" cy="384048"/>
          </a:xfrm>
          <a:prstGeom prst="roundRect">
            <a:avLst>
              <a:gd name="adj" fmla="val 14286"/>
            </a:avLst>
          </a:prstGeom>
          <a:solidFill>
            <a:srgbClr val="FF5C8A">
              <a:alpha val="20000"/>
            </a:srgbClr>
          </a:solidFill>
          <a:ln w="12700">
            <a:solidFill>
              <a:srgbClr val="FF5C8A"/>
            </a:solidFill>
            <a:prstDash val="solid"/>
          </a:ln>
        </p:spPr>
      </p:sp>
      <p:sp>
        <p:nvSpPr>
          <p:cNvPr id="38" name="a3_cht20"/>
          <p:cNvSpPr txBox="1"/>
          <p:nvPr/>
        </p:nvSpPr>
        <p:spPr>
          <a:xfrm>
            <a:off x="8412480" y="32004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“refund”</a:t>
            </a:r>
            <a:endParaRPr lang="en-US" sz="1300" dirty="0"/>
          </a:p>
        </p:txBody>
      </p:sp>
      <p:sp>
        <p:nvSpPr>
          <p:cNvPr id="39" name="a3_ch21"/>
          <p:cNvSpPr/>
          <p:nvPr/>
        </p:nvSpPr>
        <p:spPr>
          <a:xfrm>
            <a:off x="8321040" y="3657600"/>
            <a:ext cx="2971800" cy="384048"/>
          </a:xfrm>
          <a:prstGeom prst="roundRect">
            <a:avLst>
              <a:gd name="adj" fmla="val 14286"/>
            </a:avLst>
          </a:prstGeom>
          <a:solidFill>
            <a:srgbClr val="6F63A0">
              <a:alpha val="20000"/>
            </a:srgbClr>
          </a:solidFill>
          <a:ln w="12700">
            <a:solidFill>
              <a:srgbClr val="6F63A0"/>
            </a:solidFill>
            <a:prstDash val="solid"/>
          </a:ln>
        </p:spPr>
      </p:sp>
      <p:sp>
        <p:nvSpPr>
          <p:cNvPr id="40" name="a3_cht21"/>
          <p:cNvSpPr txBox="1"/>
          <p:nvPr/>
        </p:nvSpPr>
        <p:spPr>
          <a:xfrm>
            <a:off x="8412480" y="3657600"/>
            <a:ext cx="2834640" cy="38404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[0.12, -0.8, …]</a:t>
            </a:r>
            <a:endParaRPr lang="en-US" sz="1300" dirty="0"/>
          </a:p>
        </p:txBody>
      </p:sp>
      <p:sp>
        <p:nvSpPr>
          <p:cNvPr id="41" name="a3_md2"/>
          <p:cNvSpPr txBox="1"/>
          <p:nvPr/>
        </p:nvSpPr>
        <p:spPr>
          <a:xfrm>
            <a:off x="8321040" y="4617720"/>
            <a:ext cx="3017520" cy="914400"/>
          </a:xfrm>
          <a:prstGeom prst="rect">
            <a:avLst/>
          </a:prstGeom>
          <a:noFill/>
          <a:ln/>
        </p:spPr>
        <p:txBody>
          <a:bodyPr wrap="square" lIns="0" tIns="0" rIns="0" bIns="0" rtlCol="0" anchor="t"/>
          <a:lstStyle/>
          <a:p>
            <a:pPr indent="0" marL="0">
              <a:buNone/>
            </a:pPr>
            <a:r>
              <a:rPr lang="en-US" sz="1400" dirty="0">
                <a:solidFill>
                  <a:srgbClr val="E9E4FF"/>
                </a:solidFill>
                <a:latin typeface="Calibri" pitchFamily="34" charset="0"/>
                <a:ea typeface="Calibri" pitchFamily="34" charset="-122"/>
                <a:cs typeface="Calibri" pitchFamily="34" charset="-120"/>
              </a:rPr>
              <a:t>Turns meaning into a vector. Powers search &amp; RAG (Session 5).</a:t>
            </a:r>
            <a:endParaRPr lang="en-US" sz="1400" dirty="0"/>
          </a:p>
        </p:txBody>
      </p:sp>
      <p:sp>
        <p:nvSpPr>
          <p:cNvPr id="42" name="a3_me2"/>
          <p:cNvSpPr txBox="1"/>
          <p:nvPr/>
        </p:nvSpPr>
        <p:spPr>
          <a:xfrm>
            <a:off x="8321040" y="5577840"/>
            <a:ext cx="3017520" cy="365760"/>
          </a:xfrm>
          <a:prstGeom prst="rect">
            <a:avLst/>
          </a:prstGeom>
          <a:noFill/>
          <a:ln/>
        </p:spPr>
        <p:txBody>
          <a:bodyPr wrap="square" lIns="0" tIns="0" rIns="0" bIns="0" rtlCol="0" anchor="t"/>
          <a:lstStyle/>
          <a:p>
            <a:pPr indent="0" marL="0">
              <a:buNone/>
            </a:pPr>
            <a:r>
              <a:rPr lang="en-US" sz="1200" i="1" dirty="0">
                <a:solidFill>
                  <a:srgbClr val="6F63A0"/>
                </a:solidFill>
                <a:latin typeface="Calibri" pitchFamily="34" charset="0"/>
                <a:ea typeface="Calibri" pitchFamily="34" charset="-122"/>
                <a:cs typeface="Calibri" pitchFamily="34" charset="-120"/>
              </a:rPr>
              <a:t>text-embedding-3 · nomic-embed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8" fill="hold">
                      <p:stCondLst>
                        <p:cond delay="indefinite"/>
                      </p:stCondLst>
                      <p:childTnLst>
                        <p:par>
                          <p:cTn id="6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anim calcmode="lin" valueType="num">
                                      <p:cBhvr>
                                        <p:cTn id="66" dur="500" fill="hold"/>
                                        <p:tgtEl>
                                          <p:spTgt spid="20"/>
                                        </p:tgtEl>
                                        <p:attrNameLst>
                                          <p:attrName>ppt_x</p:attrName>
                                        </p:attrNameLst>
                                      </p:cBhvr>
                                      <p:tavLst>
                                        <p:tav tm="0">
                                          <p:val>
                                            <p:strVal val="#ppt_x"/>
                                          </p:val>
                                        </p:tav>
                                        <p:tav tm="100000">
                                          <p:val>
                                            <p:strVal val="#ppt_x"/>
                                          </p:val>
                                        </p:tav>
                                      </p:tavLst>
                                    </p:anim>
                                    <p:anim calcmode="lin" valueType="num">
                                      <p:cBhvr>
                                        <p:cTn id="67" dur="500" decel="100000" fill="hold"/>
                                        <p:tgtEl>
                                          <p:spTgt spid="20"/>
                                        </p:tgtEl>
                                        <p:attrNameLst>
                                          <p:attrName>ppt_y</p:attrName>
                                        </p:attrNameLst>
                                      </p:cBhvr>
                                      <p:tavLst>
                                        <p:tav tm="0">
                                          <p:val>
                                            <p:strVal val="#ppt_y+.06"/>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anim calcmode="lin" valueType="num">
                                      <p:cBhvr>
                                        <p:cTn id="73" dur="500" fill="hold"/>
                                        <p:tgtEl>
                                          <p:spTgt spid="21"/>
                                        </p:tgtEl>
                                        <p:attrNameLst>
                                          <p:attrName>ppt_x</p:attrName>
                                        </p:attrNameLst>
                                      </p:cBhvr>
                                      <p:tavLst>
                                        <p:tav tm="0">
                                          <p:val>
                                            <p:strVal val="#ppt_x"/>
                                          </p:val>
                                        </p:tav>
                                        <p:tav tm="100000">
                                          <p:val>
                                            <p:strVal val="#ppt_x"/>
                                          </p:val>
                                        </p:tav>
                                      </p:tavLst>
                                    </p:anim>
                                    <p:anim calcmode="lin" valueType="num">
                                      <p:cBhvr>
                                        <p:cTn id="74" dur="500" decel="1000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decel="1000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p:cTn id="83" dur="500" fill="hold"/>
                                        <p:tgtEl>
                                          <p:spTgt spid="23"/>
                                        </p:tgtEl>
                                        <p:attrNameLst>
                                          <p:attrName>ppt_x</p:attrName>
                                        </p:attrNameLst>
                                      </p:cBhvr>
                                      <p:tavLst>
                                        <p:tav tm="0">
                                          <p:val>
                                            <p:strVal val="#ppt_x"/>
                                          </p:val>
                                        </p:tav>
                                        <p:tav tm="100000">
                                          <p:val>
                                            <p:strVal val="#ppt_x"/>
                                          </p:val>
                                        </p:tav>
                                      </p:tavLst>
                                    </p:anim>
                                    <p:anim calcmode="lin" valueType="num">
                                      <p:cBhvr>
                                        <p:cTn id="84" dur="500" decel="1000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anim calcmode="lin" valueType="num">
                                      <p:cBhvr>
                                        <p:cTn id="88" dur="500" fill="hold"/>
                                        <p:tgtEl>
                                          <p:spTgt spid="24"/>
                                        </p:tgtEl>
                                        <p:attrNameLst>
                                          <p:attrName>ppt_x</p:attrName>
                                        </p:attrNameLst>
                                      </p:cBhvr>
                                      <p:tavLst>
                                        <p:tav tm="0">
                                          <p:val>
                                            <p:strVal val="#ppt_x"/>
                                          </p:val>
                                        </p:tav>
                                        <p:tav tm="100000">
                                          <p:val>
                                            <p:strVal val="#ppt_x"/>
                                          </p:val>
                                        </p:tav>
                                      </p:tavLst>
                                    </p:anim>
                                    <p:anim calcmode="lin" valueType="num">
                                      <p:cBhvr>
                                        <p:cTn id="89" dur="500" decel="1000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anim calcmode="lin" valueType="num">
                                      <p:cBhvr>
                                        <p:cTn id="103" dur="500" fill="hold"/>
                                        <p:tgtEl>
                                          <p:spTgt spid="27"/>
                                        </p:tgtEl>
                                        <p:attrNameLst>
                                          <p:attrName>ppt_x</p:attrName>
                                        </p:attrNameLst>
                                      </p:cBhvr>
                                      <p:tavLst>
                                        <p:tav tm="0">
                                          <p:val>
                                            <p:strVal val="#ppt_x"/>
                                          </p:val>
                                        </p:tav>
                                        <p:tav tm="100000">
                                          <p:val>
                                            <p:strVal val="#ppt_x"/>
                                          </p:val>
                                        </p:tav>
                                      </p:tavLst>
                                    </p:anim>
                                    <p:anim calcmode="lin" valueType="num">
                                      <p:cBhvr>
                                        <p:cTn id="104" dur="500" decel="100000" fill="hold"/>
                                        <p:tgtEl>
                                          <p:spTgt spid="27"/>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anim calcmode="lin" valueType="num">
                                      <p:cBhvr>
                                        <p:cTn id="108" dur="500" fill="hold"/>
                                        <p:tgtEl>
                                          <p:spTgt spid="28"/>
                                        </p:tgtEl>
                                        <p:attrNameLst>
                                          <p:attrName>ppt_x</p:attrName>
                                        </p:attrNameLst>
                                      </p:cBhvr>
                                      <p:tavLst>
                                        <p:tav tm="0">
                                          <p:val>
                                            <p:strVal val="#ppt_x"/>
                                          </p:val>
                                        </p:tav>
                                        <p:tav tm="100000">
                                          <p:val>
                                            <p:strVal val="#ppt_x"/>
                                          </p:val>
                                        </p:tav>
                                      </p:tavLst>
                                    </p:anim>
                                    <p:anim calcmode="lin" valueType="num">
                                      <p:cBhvr>
                                        <p:cTn id="109" dur="500" decel="100000" fill="hold"/>
                                        <p:tgtEl>
                                          <p:spTgt spid="28"/>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anim calcmode="lin" valueType="num">
                                      <p:cBhvr>
                                        <p:cTn id="113" dur="500" fill="hold"/>
                                        <p:tgtEl>
                                          <p:spTgt spid="29"/>
                                        </p:tgtEl>
                                        <p:attrNameLst>
                                          <p:attrName>ppt_x</p:attrName>
                                        </p:attrNameLst>
                                      </p:cBhvr>
                                      <p:tavLst>
                                        <p:tav tm="0">
                                          <p:val>
                                            <p:strVal val="#ppt_x"/>
                                          </p:val>
                                        </p:tav>
                                        <p:tav tm="100000">
                                          <p:val>
                                            <p:strVal val="#ppt_x"/>
                                          </p:val>
                                        </p:tav>
                                      </p:tavLst>
                                    </p:anim>
                                    <p:anim calcmode="lin" valueType="num">
                                      <p:cBhvr>
                                        <p:cTn id="114" dur="500" decel="100000" fill="hold"/>
                                        <p:tgtEl>
                                          <p:spTgt spid="29"/>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anim calcmode="lin" valueType="num">
                                      <p:cBhvr>
                                        <p:cTn id="118" dur="500" fill="hold"/>
                                        <p:tgtEl>
                                          <p:spTgt spid="30"/>
                                        </p:tgtEl>
                                        <p:attrNameLst>
                                          <p:attrName>ppt_x</p:attrName>
                                        </p:attrNameLst>
                                      </p:cBhvr>
                                      <p:tavLst>
                                        <p:tav tm="0">
                                          <p:val>
                                            <p:strVal val="#ppt_x"/>
                                          </p:val>
                                        </p:tav>
                                        <p:tav tm="100000">
                                          <p:val>
                                            <p:strVal val="#ppt_x"/>
                                          </p:val>
                                        </p:tav>
                                      </p:tavLst>
                                    </p:anim>
                                    <p:anim calcmode="lin" valueType="num">
                                      <p:cBhvr>
                                        <p:cTn id="119" dur="500" decel="100000" fill="hold"/>
                                        <p:tgtEl>
                                          <p:spTgt spid="30"/>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500"/>
                                        <p:tgtEl>
                                          <p:spTgt spid="31"/>
                                        </p:tgtEl>
                                      </p:cBhvr>
                                    </p:animEffect>
                                    <p:anim calcmode="lin" valueType="num">
                                      <p:cBhvr>
                                        <p:cTn id="123" dur="500" fill="hold"/>
                                        <p:tgtEl>
                                          <p:spTgt spid="31"/>
                                        </p:tgtEl>
                                        <p:attrNameLst>
                                          <p:attrName>ppt_x</p:attrName>
                                        </p:attrNameLst>
                                      </p:cBhvr>
                                      <p:tavLst>
                                        <p:tav tm="0">
                                          <p:val>
                                            <p:strVal val="#ppt_x"/>
                                          </p:val>
                                        </p:tav>
                                        <p:tav tm="100000">
                                          <p:val>
                                            <p:strVal val="#ppt_x"/>
                                          </p:val>
                                        </p:tav>
                                      </p:tavLst>
                                    </p:anim>
                                    <p:anim calcmode="lin" valueType="num">
                                      <p:cBhvr>
                                        <p:cTn id="124" dur="500" decel="100000" fill="hold"/>
                                        <p:tgtEl>
                                          <p:spTgt spid="31"/>
                                        </p:tgtEl>
                                        <p:attrNameLst>
                                          <p:attrName>ppt_y</p:attrName>
                                        </p:attrNameLst>
                                      </p:cBhvr>
                                      <p:tavLst>
                                        <p:tav tm="0">
                                          <p:val>
                                            <p:strVal val="#ppt_y+.06"/>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27" presetID="42" presetClass="entr" presetSubtype="0" fill="hold" grpId="0" nodeType="clickEffect">
                                  <p:stCondLst>
                                    <p:cond delay="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p:cTn id="130" dur="500" fill="hold"/>
                                        <p:tgtEl>
                                          <p:spTgt spid="32"/>
                                        </p:tgtEl>
                                        <p:attrNameLst>
                                          <p:attrName>ppt_x</p:attrName>
                                        </p:attrNameLst>
                                      </p:cBhvr>
                                      <p:tavLst>
                                        <p:tav tm="0">
                                          <p:val>
                                            <p:strVal val="#ppt_x"/>
                                          </p:val>
                                        </p:tav>
                                        <p:tav tm="100000">
                                          <p:val>
                                            <p:strVal val="#ppt_x"/>
                                          </p:val>
                                        </p:tav>
                                      </p:tavLst>
                                    </p:anim>
                                    <p:anim calcmode="lin" valueType="num">
                                      <p:cBhvr>
                                        <p:cTn id="131" dur="500" decel="1000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anim calcmode="lin" valueType="num">
                                      <p:cBhvr>
                                        <p:cTn id="135" dur="500" fill="hold"/>
                                        <p:tgtEl>
                                          <p:spTgt spid="33"/>
                                        </p:tgtEl>
                                        <p:attrNameLst>
                                          <p:attrName>ppt_x</p:attrName>
                                        </p:attrNameLst>
                                      </p:cBhvr>
                                      <p:tavLst>
                                        <p:tav tm="0">
                                          <p:val>
                                            <p:strVal val="#ppt_x"/>
                                          </p:val>
                                        </p:tav>
                                        <p:tav tm="100000">
                                          <p:val>
                                            <p:strVal val="#ppt_x"/>
                                          </p:val>
                                        </p:tav>
                                      </p:tavLst>
                                    </p:anim>
                                    <p:anim calcmode="lin" valueType="num">
                                      <p:cBhvr>
                                        <p:cTn id="136" dur="500" decel="1000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anim calcmode="lin" valueType="num">
                                      <p:cBhvr>
                                        <p:cTn id="140" dur="500" fill="hold"/>
                                        <p:tgtEl>
                                          <p:spTgt spid="34"/>
                                        </p:tgtEl>
                                        <p:attrNameLst>
                                          <p:attrName>ppt_x</p:attrName>
                                        </p:attrNameLst>
                                      </p:cBhvr>
                                      <p:tavLst>
                                        <p:tav tm="0">
                                          <p:val>
                                            <p:strVal val="#ppt_x"/>
                                          </p:val>
                                        </p:tav>
                                        <p:tav tm="100000">
                                          <p:val>
                                            <p:strVal val="#ppt_x"/>
                                          </p:val>
                                        </p:tav>
                                      </p:tavLst>
                                    </p:anim>
                                    <p:anim calcmode="lin" valueType="num">
                                      <p:cBhvr>
                                        <p:cTn id="141" dur="500" decel="1000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anim calcmode="lin" valueType="num">
                                      <p:cBhvr>
                                        <p:cTn id="145" dur="500" fill="hold"/>
                                        <p:tgtEl>
                                          <p:spTgt spid="35"/>
                                        </p:tgtEl>
                                        <p:attrNameLst>
                                          <p:attrName>ppt_x</p:attrName>
                                        </p:attrNameLst>
                                      </p:cBhvr>
                                      <p:tavLst>
                                        <p:tav tm="0">
                                          <p:val>
                                            <p:strVal val="#ppt_x"/>
                                          </p:val>
                                        </p:tav>
                                        <p:tav tm="100000">
                                          <p:val>
                                            <p:strVal val="#ppt_x"/>
                                          </p:val>
                                        </p:tav>
                                      </p:tavLst>
                                    </p:anim>
                                    <p:anim calcmode="lin" valueType="num">
                                      <p:cBhvr>
                                        <p:cTn id="146" dur="500" decel="1000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500"/>
                                        <p:tgtEl>
                                          <p:spTgt spid="36"/>
                                        </p:tgtEl>
                                      </p:cBhvr>
                                    </p:animEffect>
                                    <p:anim calcmode="lin" valueType="num">
                                      <p:cBhvr>
                                        <p:cTn id="150" dur="500" fill="hold"/>
                                        <p:tgtEl>
                                          <p:spTgt spid="36"/>
                                        </p:tgtEl>
                                        <p:attrNameLst>
                                          <p:attrName>ppt_x</p:attrName>
                                        </p:attrNameLst>
                                      </p:cBhvr>
                                      <p:tavLst>
                                        <p:tav tm="0">
                                          <p:val>
                                            <p:strVal val="#ppt_x"/>
                                          </p:val>
                                        </p:tav>
                                        <p:tav tm="100000">
                                          <p:val>
                                            <p:strVal val="#ppt_x"/>
                                          </p:val>
                                        </p:tav>
                                      </p:tavLst>
                                    </p:anim>
                                    <p:anim calcmode="lin" valueType="num">
                                      <p:cBhvr>
                                        <p:cTn id="151" dur="500" decel="1000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500"/>
                                        <p:tgtEl>
                                          <p:spTgt spid="37"/>
                                        </p:tgtEl>
                                      </p:cBhvr>
                                    </p:animEffect>
                                    <p:anim calcmode="lin" valueType="num">
                                      <p:cBhvr>
                                        <p:cTn id="155" dur="500" fill="hold"/>
                                        <p:tgtEl>
                                          <p:spTgt spid="37"/>
                                        </p:tgtEl>
                                        <p:attrNameLst>
                                          <p:attrName>ppt_x</p:attrName>
                                        </p:attrNameLst>
                                      </p:cBhvr>
                                      <p:tavLst>
                                        <p:tav tm="0">
                                          <p:val>
                                            <p:strVal val="#ppt_x"/>
                                          </p:val>
                                        </p:tav>
                                        <p:tav tm="100000">
                                          <p:val>
                                            <p:strVal val="#ppt_x"/>
                                          </p:val>
                                        </p:tav>
                                      </p:tavLst>
                                    </p:anim>
                                    <p:anim calcmode="lin" valueType="num">
                                      <p:cBhvr>
                                        <p:cTn id="156" dur="500" decel="1000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500"/>
                                        <p:tgtEl>
                                          <p:spTgt spid="38"/>
                                        </p:tgtEl>
                                      </p:cBhvr>
                                    </p:animEffect>
                                    <p:anim calcmode="lin" valueType="num">
                                      <p:cBhvr>
                                        <p:cTn id="160" dur="500" fill="hold"/>
                                        <p:tgtEl>
                                          <p:spTgt spid="38"/>
                                        </p:tgtEl>
                                        <p:attrNameLst>
                                          <p:attrName>ppt_x</p:attrName>
                                        </p:attrNameLst>
                                      </p:cBhvr>
                                      <p:tavLst>
                                        <p:tav tm="0">
                                          <p:val>
                                            <p:strVal val="#ppt_x"/>
                                          </p:val>
                                        </p:tav>
                                        <p:tav tm="100000">
                                          <p:val>
                                            <p:strVal val="#ppt_x"/>
                                          </p:val>
                                        </p:tav>
                                      </p:tavLst>
                                    </p:anim>
                                    <p:anim calcmode="lin" valueType="num">
                                      <p:cBhvr>
                                        <p:cTn id="161" dur="500" decel="1000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500"/>
                                        <p:tgtEl>
                                          <p:spTgt spid="39"/>
                                        </p:tgtEl>
                                      </p:cBhvr>
                                    </p:animEffect>
                                    <p:anim calcmode="lin" valueType="num">
                                      <p:cBhvr>
                                        <p:cTn id="165" dur="500" fill="hold"/>
                                        <p:tgtEl>
                                          <p:spTgt spid="39"/>
                                        </p:tgtEl>
                                        <p:attrNameLst>
                                          <p:attrName>ppt_x</p:attrName>
                                        </p:attrNameLst>
                                      </p:cBhvr>
                                      <p:tavLst>
                                        <p:tav tm="0">
                                          <p:val>
                                            <p:strVal val="#ppt_x"/>
                                          </p:val>
                                        </p:tav>
                                        <p:tav tm="100000">
                                          <p:val>
                                            <p:strVal val="#ppt_x"/>
                                          </p:val>
                                        </p:tav>
                                      </p:tavLst>
                                    </p:anim>
                                    <p:anim calcmode="lin" valueType="num">
                                      <p:cBhvr>
                                        <p:cTn id="166" dur="500" decel="1000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Effect transition="in" filter="fade">
                                      <p:cBhvr>
                                        <p:cTn id="169" dur="500"/>
                                        <p:tgtEl>
                                          <p:spTgt spid="40"/>
                                        </p:tgtEl>
                                      </p:cBhvr>
                                    </p:animEffect>
                                    <p:anim calcmode="lin" valueType="num">
                                      <p:cBhvr>
                                        <p:cTn id="170" dur="500" fill="hold"/>
                                        <p:tgtEl>
                                          <p:spTgt spid="40"/>
                                        </p:tgtEl>
                                        <p:attrNameLst>
                                          <p:attrName>ppt_x</p:attrName>
                                        </p:attrNameLst>
                                      </p:cBhvr>
                                      <p:tavLst>
                                        <p:tav tm="0">
                                          <p:val>
                                            <p:strVal val="#ppt_x"/>
                                          </p:val>
                                        </p:tav>
                                        <p:tav tm="100000">
                                          <p:val>
                                            <p:strVal val="#ppt_x"/>
                                          </p:val>
                                        </p:tav>
                                      </p:tavLst>
                                    </p:anim>
                                    <p:anim calcmode="lin" valueType="num">
                                      <p:cBhvr>
                                        <p:cTn id="171" dur="500" decel="1000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500"/>
                                        <p:tgtEl>
                                          <p:spTgt spid="41"/>
                                        </p:tgtEl>
                                      </p:cBhvr>
                                    </p:animEffect>
                                    <p:anim calcmode="lin" valueType="num">
                                      <p:cBhvr>
                                        <p:cTn id="175" dur="500" fill="hold"/>
                                        <p:tgtEl>
                                          <p:spTgt spid="41"/>
                                        </p:tgtEl>
                                        <p:attrNameLst>
                                          <p:attrName>ppt_x</p:attrName>
                                        </p:attrNameLst>
                                      </p:cBhvr>
                                      <p:tavLst>
                                        <p:tav tm="0">
                                          <p:val>
                                            <p:strVal val="#ppt_x"/>
                                          </p:val>
                                        </p:tav>
                                        <p:tav tm="100000">
                                          <p:val>
                                            <p:strVal val="#ppt_x"/>
                                          </p:val>
                                        </p:tav>
                                      </p:tavLst>
                                    </p:anim>
                                    <p:anim calcmode="lin" valueType="num">
                                      <p:cBhvr>
                                        <p:cTn id="176" dur="500" decel="1000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79" dur="500"/>
                                        <p:tgtEl>
                                          <p:spTgt spid="42"/>
                                        </p:tgtEl>
                                      </p:cBhvr>
                                    </p:animEffect>
                                    <p:anim calcmode="lin" valueType="num">
                                      <p:cBhvr>
                                        <p:cTn id="180" dur="500" fill="hold"/>
                                        <p:tgtEl>
                                          <p:spTgt spid="42"/>
                                        </p:tgtEl>
                                        <p:attrNameLst>
                                          <p:attrName>ppt_x</p:attrName>
                                        </p:attrNameLst>
                                      </p:cBhvr>
                                      <p:tavLst>
                                        <p:tav tm="0">
                                          <p:val>
                                            <p:strVal val="#ppt_x"/>
                                          </p:val>
                                        </p:tav>
                                        <p:tav tm="100000">
                                          <p:val>
                                            <p:strVal val="#ppt_x"/>
                                          </p:val>
                                        </p:tav>
                                      </p:tavLst>
                                    </p:anim>
                                    <p:anim calcmode="lin" valueType="num">
                                      <p:cBhvr>
                                        <p:cTn id="181" dur="500" decel="100000" fill="hold"/>
                                        <p:tgtEl>
                                          <p:spTgt spid="4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20</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HANDFUL YOU'LL ACTUALLY USE</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Providers: same idea, different doors</a:t>
            </a:r>
            <a:endParaRPr lang="en-US" sz="3400" dirty="0"/>
          </a:p>
        </p:txBody>
      </p:sp>
      <p:sp>
        <p:nvSpPr>
          <p:cNvPr id="8" name="a1_pv0"/>
          <p:cNvSpPr/>
          <p:nvPr/>
        </p:nvSpPr>
        <p:spPr>
          <a:xfrm>
            <a:off x="548640" y="178308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9" name="a1_pvi0" descr="preencoded.png">    </p:cNvPr>
          <p:cNvPicPr>
            <a:picLocks noChangeAspect="1"/>
          </p:cNvPicPr>
          <p:nvPr/>
        </p:nvPicPr>
        <p:blipFill>
          <a:blip r:embed="rId1"/>
          <a:stretch>
            <a:fillRect/>
          </a:stretch>
        </p:blipFill>
        <p:spPr>
          <a:xfrm>
            <a:off x="822960" y="2057400"/>
            <a:ext cx="457200" cy="457200"/>
          </a:xfrm>
          <a:prstGeom prst="rect">
            <a:avLst/>
          </a:prstGeom>
        </p:spPr>
      </p:pic>
      <p:sp>
        <p:nvSpPr>
          <p:cNvPr id="10" name="a1_pvn0"/>
          <p:cNvSpPr txBox="1"/>
          <p:nvPr/>
        </p:nvSpPr>
        <p:spPr>
          <a:xfrm>
            <a:off x="1417320" y="203911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Groq</a:t>
            </a:r>
            <a:endParaRPr lang="en-US" sz="2000" dirty="0"/>
          </a:p>
        </p:txBody>
      </p:sp>
      <p:sp>
        <p:nvSpPr>
          <p:cNvPr id="11" name="a1_pvd0"/>
          <p:cNvSpPr txBox="1"/>
          <p:nvPr/>
        </p:nvSpPr>
        <p:spPr>
          <a:xfrm>
            <a:off x="822960" y="265176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Blazing-fast open models · generous free tier</a:t>
            </a:r>
            <a:endParaRPr lang="en-US" sz="1400" dirty="0"/>
          </a:p>
        </p:txBody>
      </p:sp>
      <p:sp>
        <p:nvSpPr>
          <p:cNvPr id="12" name="a1_pvt0"/>
          <p:cNvSpPr txBox="1"/>
          <p:nvPr/>
        </p:nvSpPr>
        <p:spPr>
          <a:xfrm>
            <a:off x="822960" y="3291840"/>
            <a:ext cx="3017520" cy="320040"/>
          </a:xfrm>
          <a:prstGeom prst="rect">
            <a:avLst/>
          </a:prstGeom>
          <a:noFill/>
          <a:ln/>
        </p:spPr>
        <p:txBody>
          <a:bodyPr wrap="square" lIns="0" tIns="0" rIns="0" bIns="0" rtlCol="0" anchor="t"/>
          <a:lstStyle/>
          <a:p>
            <a:pPr indent="0" marL="0">
              <a:buNone/>
            </a:pPr>
            <a:r>
              <a:rPr lang="en-US" sz="1200" b="1" dirty="0">
                <a:solidFill>
                  <a:srgbClr val="2EE6A6"/>
                </a:solidFill>
                <a:latin typeface="Calibri" pitchFamily="34" charset="0"/>
                <a:ea typeface="Calibri" pitchFamily="34" charset="-122"/>
                <a:cs typeface="Calibri" pitchFamily="34" charset="-120"/>
              </a:rPr>
              <a:t>Our demo today</a:t>
            </a:r>
            <a:endParaRPr lang="en-US" sz="1200" dirty="0"/>
          </a:p>
        </p:txBody>
      </p:sp>
      <p:sp>
        <p:nvSpPr>
          <p:cNvPr id="13" name="a1_pv1"/>
          <p:cNvSpPr/>
          <p:nvPr/>
        </p:nvSpPr>
        <p:spPr>
          <a:xfrm>
            <a:off x="4297680" y="178308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14" name="a1_pvi1" descr="preencoded.png">    </p:cNvPr>
          <p:cNvPicPr>
            <a:picLocks noChangeAspect="1"/>
          </p:cNvPicPr>
          <p:nvPr/>
        </p:nvPicPr>
        <p:blipFill>
          <a:blip r:embed="rId2"/>
          <a:stretch>
            <a:fillRect/>
          </a:stretch>
        </p:blipFill>
        <p:spPr>
          <a:xfrm>
            <a:off x="4572000" y="2057400"/>
            <a:ext cx="457200" cy="457200"/>
          </a:xfrm>
          <a:prstGeom prst="rect">
            <a:avLst/>
          </a:prstGeom>
        </p:spPr>
      </p:pic>
      <p:sp>
        <p:nvSpPr>
          <p:cNvPr id="15" name="a1_pvn1"/>
          <p:cNvSpPr txBox="1"/>
          <p:nvPr/>
        </p:nvSpPr>
        <p:spPr>
          <a:xfrm>
            <a:off x="5166360" y="203911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OpenAI</a:t>
            </a:r>
            <a:endParaRPr lang="en-US" sz="2000" dirty="0"/>
          </a:p>
        </p:txBody>
      </p:sp>
      <p:sp>
        <p:nvSpPr>
          <p:cNvPr id="16" name="a1_pvd1"/>
          <p:cNvSpPr txBox="1"/>
          <p:nvPr/>
        </p:nvSpPr>
        <p:spPr>
          <a:xfrm>
            <a:off x="4572000" y="265176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GPT family · the API format everyone copies</a:t>
            </a:r>
            <a:endParaRPr lang="en-US" sz="1400" dirty="0"/>
          </a:p>
        </p:txBody>
      </p:sp>
      <p:sp>
        <p:nvSpPr>
          <p:cNvPr id="17" name="a1_pvt1"/>
          <p:cNvSpPr txBox="1"/>
          <p:nvPr/>
        </p:nvSpPr>
        <p:spPr>
          <a:xfrm>
            <a:off x="4572000" y="3291840"/>
            <a:ext cx="3017520" cy="3200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Industry default</a:t>
            </a:r>
            <a:endParaRPr lang="en-US" sz="1200" dirty="0"/>
          </a:p>
        </p:txBody>
      </p:sp>
      <p:sp>
        <p:nvSpPr>
          <p:cNvPr id="18" name="a1_pv2"/>
          <p:cNvSpPr/>
          <p:nvPr/>
        </p:nvSpPr>
        <p:spPr>
          <a:xfrm>
            <a:off x="8046720" y="178308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19" name="a1_pvi2" descr="preencoded.png">    </p:cNvPr>
          <p:cNvPicPr>
            <a:picLocks noChangeAspect="1"/>
          </p:cNvPicPr>
          <p:nvPr/>
        </p:nvPicPr>
        <p:blipFill>
          <a:blip r:embed="rId3"/>
          <a:stretch>
            <a:fillRect/>
          </a:stretch>
        </p:blipFill>
        <p:spPr>
          <a:xfrm>
            <a:off x="8321040" y="2057400"/>
            <a:ext cx="457200" cy="457200"/>
          </a:xfrm>
          <a:prstGeom prst="rect">
            <a:avLst/>
          </a:prstGeom>
        </p:spPr>
      </p:pic>
      <p:sp>
        <p:nvSpPr>
          <p:cNvPr id="20" name="a1_pvn2"/>
          <p:cNvSpPr txBox="1"/>
          <p:nvPr/>
        </p:nvSpPr>
        <p:spPr>
          <a:xfrm>
            <a:off x="8915400" y="203911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Azure OpenAI</a:t>
            </a:r>
            <a:endParaRPr lang="en-US" sz="2000" dirty="0"/>
          </a:p>
        </p:txBody>
      </p:sp>
      <p:sp>
        <p:nvSpPr>
          <p:cNvPr id="21" name="a1_pvd2"/>
          <p:cNvSpPr txBox="1"/>
          <p:nvPr/>
        </p:nvSpPr>
        <p:spPr>
          <a:xfrm>
            <a:off x="8321040" y="265176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OpenAI models inside your Azure tenant</a:t>
            </a:r>
            <a:endParaRPr lang="en-US" sz="1400" dirty="0"/>
          </a:p>
        </p:txBody>
      </p:sp>
      <p:sp>
        <p:nvSpPr>
          <p:cNvPr id="22" name="a1_pvt2"/>
          <p:cNvSpPr txBox="1"/>
          <p:nvPr/>
        </p:nvSpPr>
        <p:spPr>
          <a:xfrm>
            <a:off x="8321040" y="3291840"/>
            <a:ext cx="3017520" cy="320040"/>
          </a:xfrm>
          <a:prstGeom prst="rect">
            <a:avLst/>
          </a:prstGeom>
          <a:noFill/>
          <a:ln/>
        </p:spPr>
        <p:txBody>
          <a:bodyPr wrap="square" lIns="0" tIns="0" rIns="0" bIns="0" rtlCol="0" anchor="t"/>
          <a:lstStyle/>
          <a:p>
            <a:pPr indent="0" marL="0">
              <a:buNone/>
            </a:pPr>
            <a:r>
              <a:rPr lang="en-US" sz="1200" b="1" dirty="0">
                <a:solidFill>
                  <a:srgbClr val="4FC3F7"/>
                </a:solidFill>
                <a:latin typeface="Calibri" pitchFamily="34" charset="0"/>
                <a:ea typeface="Calibri" pitchFamily="34" charset="-122"/>
                <a:cs typeface="Calibri" pitchFamily="34" charset="-120"/>
              </a:rPr>
              <a:t>Enterprise / compliance</a:t>
            </a:r>
            <a:endParaRPr lang="en-US" sz="1200" dirty="0"/>
          </a:p>
        </p:txBody>
      </p:sp>
      <p:sp>
        <p:nvSpPr>
          <p:cNvPr id="23" name="a2_pv3"/>
          <p:cNvSpPr/>
          <p:nvPr/>
        </p:nvSpPr>
        <p:spPr>
          <a:xfrm>
            <a:off x="548640" y="402336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24" name="a2_pvi3" descr="preencoded.png">    </p:cNvPr>
          <p:cNvPicPr>
            <a:picLocks noChangeAspect="1"/>
          </p:cNvPicPr>
          <p:nvPr/>
        </p:nvPicPr>
        <p:blipFill>
          <a:blip r:embed="rId4"/>
          <a:stretch>
            <a:fillRect/>
          </a:stretch>
        </p:blipFill>
        <p:spPr>
          <a:xfrm>
            <a:off x="822960" y="4297680"/>
            <a:ext cx="457200" cy="457200"/>
          </a:xfrm>
          <a:prstGeom prst="rect">
            <a:avLst/>
          </a:prstGeom>
        </p:spPr>
      </p:pic>
      <p:sp>
        <p:nvSpPr>
          <p:cNvPr id="25" name="a2_pvn3"/>
          <p:cNvSpPr txBox="1"/>
          <p:nvPr/>
        </p:nvSpPr>
        <p:spPr>
          <a:xfrm>
            <a:off x="1417320" y="427939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Anthropic</a:t>
            </a:r>
            <a:endParaRPr lang="en-US" sz="2000" dirty="0"/>
          </a:p>
        </p:txBody>
      </p:sp>
      <p:sp>
        <p:nvSpPr>
          <p:cNvPr id="26" name="a2_pvd3"/>
          <p:cNvSpPr txBox="1"/>
          <p:nvPr/>
        </p:nvSpPr>
        <p:spPr>
          <a:xfrm>
            <a:off x="822960" y="489204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Claude family · strong at code &amp; long docs</a:t>
            </a:r>
            <a:endParaRPr lang="en-US" sz="1400" dirty="0"/>
          </a:p>
        </p:txBody>
      </p:sp>
      <p:sp>
        <p:nvSpPr>
          <p:cNvPr id="27" name="a2_pvt3"/>
          <p:cNvSpPr txBox="1"/>
          <p:nvPr/>
        </p:nvSpPr>
        <p:spPr>
          <a:xfrm>
            <a:off x="822960" y="5532120"/>
            <a:ext cx="3017520" cy="320040"/>
          </a:xfrm>
          <a:prstGeom prst="rect">
            <a:avLst/>
          </a:prstGeom>
          <a:noFill/>
          <a:ln/>
        </p:spPr>
        <p:txBody>
          <a:bodyPr wrap="square" lIns="0" tIns="0" rIns="0" bIns="0" rtlCol="0" anchor="t"/>
          <a:lstStyle/>
          <a:p>
            <a:pPr indent="0" marL="0">
              <a:buNone/>
            </a:pPr>
            <a:r>
              <a:rPr lang="en-US" sz="1200" b="1" dirty="0">
                <a:solidFill>
                  <a:srgbClr val="FFB547"/>
                </a:solidFill>
                <a:latin typeface="Calibri" pitchFamily="34" charset="0"/>
                <a:ea typeface="Calibri" pitchFamily="34" charset="-122"/>
                <a:cs typeface="Calibri" pitchFamily="34" charset="-120"/>
              </a:rPr>
              <a:t>Also via Azure/AWS</a:t>
            </a:r>
            <a:endParaRPr lang="en-US" sz="1200" dirty="0"/>
          </a:p>
        </p:txBody>
      </p:sp>
      <p:sp>
        <p:nvSpPr>
          <p:cNvPr id="28" name="a2_pv4"/>
          <p:cNvSpPr/>
          <p:nvPr/>
        </p:nvSpPr>
        <p:spPr>
          <a:xfrm>
            <a:off x="4297680" y="402336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29" name="a2_pvi4" descr="preencoded.png">    </p:cNvPr>
          <p:cNvPicPr>
            <a:picLocks noChangeAspect="1"/>
          </p:cNvPicPr>
          <p:nvPr/>
        </p:nvPicPr>
        <p:blipFill>
          <a:blip r:embed="rId5"/>
          <a:stretch>
            <a:fillRect/>
          </a:stretch>
        </p:blipFill>
        <p:spPr>
          <a:xfrm>
            <a:off x="4572000" y="4297680"/>
            <a:ext cx="457200" cy="457200"/>
          </a:xfrm>
          <a:prstGeom prst="rect">
            <a:avLst/>
          </a:prstGeom>
        </p:spPr>
      </p:pic>
      <p:sp>
        <p:nvSpPr>
          <p:cNvPr id="30" name="a2_pvn4"/>
          <p:cNvSpPr txBox="1"/>
          <p:nvPr/>
        </p:nvSpPr>
        <p:spPr>
          <a:xfrm>
            <a:off x="5166360" y="427939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Google Gemini</a:t>
            </a:r>
            <a:endParaRPr lang="en-US" sz="2000" dirty="0"/>
          </a:p>
        </p:txBody>
      </p:sp>
      <p:sp>
        <p:nvSpPr>
          <p:cNvPr id="31" name="a2_pvd4"/>
          <p:cNvSpPr txBox="1"/>
          <p:nvPr/>
        </p:nvSpPr>
        <p:spPr>
          <a:xfrm>
            <a:off x="4572000" y="489204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Huge context windows, multimodal</a:t>
            </a:r>
            <a:endParaRPr lang="en-US" sz="1400" dirty="0"/>
          </a:p>
        </p:txBody>
      </p:sp>
      <p:sp>
        <p:nvSpPr>
          <p:cNvPr id="32" name="a2_pvt4"/>
          <p:cNvSpPr txBox="1"/>
          <p:nvPr/>
        </p:nvSpPr>
        <p:spPr>
          <a:xfrm>
            <a:off x="4572000" y="5532120"/>
            <a:ext cx="3017520" cy="320040"/>
          </a:xfrm>
          <a:prstGeom prst="rect">
            <a:avLst/>
          </a:prstGeom>
          <a:noFill/>
          <a:ln/>
        </p:spPr>
        <p:txBody>
          <a:bodyPr wrap="square" lIns="0" tIns="0" rIns="0" bIns="0" rtlCol="0" anchor="t"/>
          <a:lstStyle/>
          <a:p>
            <a:pPr indent="0" marL="0">
              <a:buNone/>
            </a:pPr>
            <a:r>
              <a:rPr lang="en-US" sz="1200" b="1" dirty="0">
                <a:solidFill>
                  <a:srgbClr val="FF5C8A"/>
                </a:solidFill>
                <a:latin typeface="Calibri" pitchFamily="34" charset="0"/>
                <a:ea typeface="Calibri" pitchFamily="34" charset="-122"/>
                <a:cs typeface="Calibri" pitchFamily="34" charset="-120"/>
              </a:rPr>
              <a:t>Free tier available</a:t>
            </a:r>
            <a:endParaRPr lang="en-US" sz="1200" dirty="0"/>
          </a:p>
        </p:txBody>
      </p:sp>
      <p:sp>
        <p:nvSpPr>
          <p:cNvPr id="33" name="a2_pv5"/>
          <p:cNvSpPr/>
          <p:nvPr/>
        </p:nvSpPr>
        <p:spPr>
          <a:xfrm>
            <a:off x="8046720" y="4023360"/>
            <a:ext cx="3520440" cy="2011680"/>
          </a:xfrm>
          <a:prstGeom prst="roundRect">
            <a:avLst>
              <a:gd name="adj" fmla="val 545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pic>
        <p:nvPicPr>
          <p:cNvPr id="34" name="a2_pvi5" descr="preencoded.png">    </p:cNvPr>
          <p:cNvPicPr>
            <a:picLocks noChangeAspect="1"/>
          </p:cNvPicPr>
          <p:nvPr/>
        </p:nvPicPr>
        <p:blipFill>
          <a:blip r:embed="rId6"/>
          <a:stretch>
            <a:fillRect/>
          </a:stretch>
        </p:blipFill>
        <p:spPr>
          <a:xfrm>
            <a:off x="8321040" y="4297680"/>
            <a:ext cx="457200" cy="457200"/>
          </a:xfrm>
          <a:prstGeom prst="rect">
            <a:avLst/>
          </a:prstGeom>
        </p:spPr>
      </p:pic>
      <p:sp>
        <p:nvSpPr>
          <p:cNvPr id="35" name="a2_pvn5"/>
          <p:cNvSpPr txBox="1"/>
          <p:nvPr/>
        </p:nvSpPr>
        <p:spPr>
          <a:xfrm>
            <a:off x="8915400" y="4279392"/>
            <a:ext cx="256032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Ollama (local)</a:t>
            </a:r>
            <a:endParaRPr lang="en-US" sz="2000" dirty="0"/>
          </a:p>
        </p:txBody>
      </p:sp>
      <p:sp>
        <p:nvSpPr>
          <p:cNvPr id="36" name="a2_pvd5"/>
          <p:cNvSpPr txBox="1"/>
          <p:nvPr/>
        </p:nvSpPr>
        <p:spPr>
          <a:xfrm>
            <a:off x="8321040" y="4892040"/>
            <a:ext cx="3017520" cy="6400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Run open models on your laptop</a:t>
            </a:r>
            <a:endParaRPr lang="en-US" sz="1400" dirty="0"/>
          </a:p>
        </p:txBody>
      </p:sp>
      <p:sp>
        <p:nvSpPr>
          <p:cNvPr id="37" name="a2_pvt5"/>
          <p:cNvSpPr txBox="1"/>
          <p:nvPr/>
        </p:nvSpPr>
        <p:spPr>
          <a:xfrm>
            <a:off x="8321040" y="5532120"/>
            <a:ext cx="3017520" cy="320040"/>
          </a:xfrm>
          <a:prstGeom prst="rect">
            <a:avLst/>
          </a:prstGeom>
          <a:noFill/>
          <a:ln/>
        </p:spPr>
        <p:txBody>
          <a:bodyPr wrap="square" lIns="0" tIns="0" rIns="0" bIns="0" rtlCol="0" anchor="t"/>
          <a:lstStyle/>
          <a:p>
            <a:pPr indent="0" marL="0">
              <a:buNone/>
            </a:pPr>
            <a:r>
              <a:rPr lang="en-US" sz="1200" b="1" dirty="0">
                <a:solidFill>
                  <a:srgbClr val="7C4DFF"/>
                </a:solidFill>
                <a:latin typeface="Calibri" pitchFamily="34" charset="0"/>
                <a:ea typeface="Calibri" pitchFamily="34" charset="-122"/>
                <a:cs typeface="Calibri" pitchFamily="34" charset="-120"/>
              </a:rPr>
              <a:t>Session 4</a:t>
            </a:r>
            <a:endParaRPr lang="en-US" sz="1200" dirty="0"/>
          </a:p>
        </p:txBody>
      </p:sp>
      <p:sp>
        <p:nvSpPr>
          <p:cNvPr id="38" name="a3_note"/>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300" i="1" dirty="0">
                <a:solidFill>
                  <a:srgbClr val="2EE6A6"/>
                </a:solidFill>
                <a:latin typeface="Calibri" pitchFamily="34" charset="0"/>
                <a:ea typeface="Calibri" pitchFamily="34" charset="-122"/>
                <a:cs typeface="Calibri" pitchFamily="34" charset="-120"/>
              </a:rPr>
              <a:t>Most speak the OpenAI-compatible “chat completions” format, so switching is often just a URL + key change.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8" fill="hold">
                      <p:stCondLst>
                        <p:cond delay="indefinite"/>
                      </p:stCondLst>
                      <p:childTnLst>
                        <p:par>
                          <p:cTn id="7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anim calcmode="lin" valueType="num">
                                      <p:cBhvr>
                                        <p:cTn id="66" dur="500" fill="hold"/>
                                        <p:tgtEl>
                                          <p:spTgt spid="20"/>
                                        </p:tgtEl>
                                        <p:attrNameLst>
                                          <p:attrName>ppt_x</p:attrName>
                                        </p:attrNameLst>
                                      </p:cBhvr>
                                      <p:tavLst>
                                        <p:tav tm="0">
                                          <p:val>
                                            <p:strVal val="#ppt_x"/>
                                          </p:val>
                                        </p:tav>
                                        <p:tav tm="100000">
                                          <p:val>
                                            <p:strVal val="#ppt_x"/>
                                          </p:val>
                                        </p:tav>
                                      </p:tavLst>
                                    </p:anim>
                                    <p:anim calcmode="lin" valueType="num">
                                      <p:cBhvr>
                                        <p:cTn id="67" dur="500" decel="100000" fill="hold"/>
                                        <p:tgtEl>
                                          <p:spTgt spid="20"/>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anim calcmode="lin" valueType="num">
                                      <p:cBhvr>
                                        <p:cTn id="71" dur="500" fill="hold"/>
                                        <p:tgtEl>
                                          <p:spTgt spid="21"/>
                                        </p:tgtEl>
                                        <p:attrNameLst>
                                          <p:attrName>ppt_x</p:attrName>
                                        </p:attrNameLst>
                                      </p:cBhvr>
                                      <p:tavLst>
                                        <p:tav tm="0">
                                          <p:val>
                                            <p:strVal val="#ppt_x"/>
                                          </p:val>
                                        </p:tav>
                                        <p:tav tm="100000">
                                          <p:val>
                                            <p:strVal val="#ppt_x"/>
                                          </p:val>
                                        </p:tav>
                                      </p:tavLst>
                                    </p:anim>
                                    <p:anim calcmode="lin" valueType="num">
                                      <p:cBhvr>
                                        <p:cTn id="72" dur="500" decel="100000" fill="hold"/>
                                        <p:tgtEl>
                                          <p:spTgt spid="21"/>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p:cTn id="76" dur="500" fill="hold"/>
                                        <p:tgtEl>
                                          <p:spTgt spid="22"/>
                                        </p:tgtEl>
                                        <p:attrNameLst>
                                          <p:attrName>ppt_x</p:attrName>
                                        </p:attrNameLst>
                                      </p:cBhvr>
                                      <p:tavLst>
                                        <p:tav tm="0">
                                          <p:val>
                                            <p:strVal val="#ppt_x"/>
                                          </p:val>
                                        </p:tav>
                                        <p:tav tm="100000">
                                          <p:val>
                                            <p:strVal val="#ppt_x"/>
                                          </p:val>
                                        </p:tav>
                                      </p:tavLst>
                                    </p:anim>
                                    <p:anim calcmode="lin" valueType="num">
                                      <p:cBhvr>
                                        <p:cTn id="77" dur="5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p:cTn id="83" dur="500" fill="hold"/>
                                        <p:tgtEl>
                                          <p:spTgt spid="23"/>
                                        </p:tgtEl>
                                        <p:attrNameLst>
                                          <p:attrName>ppt_x</p:attrName>
                                        </p:attrNameLst>
                                      </p:cBhvr>
                                      <p:tavLst>
                                        <p:tav tm="0">
                                          <p:val>
                                            <p:strVal val="#ppt_x"/>
                                          </p:val>
                                        </p:tav>
                                        <p:tav tm="100000">
                                          <p:val>
                                            <p:strVal val="#ppt_x"/>
                                          </p:val>
                                        </p:tav>
                                      </p:tavLst>
                                    </p:anim>
                                    <p:anim calcmode="lin" valueType="num">
                                      <p:cBhvr>
                                        <p:cTn id="84" dur="500" decel="1000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anim calcmode="lin" valueType="num">
                                      <p:cBhvr>
                                        <p:cTn id="88" dur="500" fill="hold"/>
                                        <p:tgtEl>
                                          <p:spTgt spid="24"/>
                                        </p:tgtEl>
                                        <p:attrNameLst>
                                          <p:attrName>ppt_x</p:attrName>
                                        </p:attrNameLst>
                                      </p:cBhvr>
                                      <p:tavLst>
                                        <p:tav tm="0">
                                          <p:val>
                                            <p:strVal val="#ppt_x"/>
                                          </p:val>
                                        </p:tav>
                                        <p:tav tm="100000">
                                          <p:val>
                                            <p:strVal val="#ppt_x"/>
                                          </p:val>
                                        </p:tav>
                                      </p:tavLst>
                                    </p:anim>
                                    <p:anim calcmode="lin" valueType="num">
                                      <p:cBhvr>
                                        <p:cTn id="89" dur="500" decel="1000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p:cTn id="93" dur="500" fill="hold"/>
                                        <p:tgtEl>
                                          <p:spTgt spid="25"/>
                                        </p:tgtEl>
                                        <p:attrNameLst>
                                          <p:attrName>ppt_x</p:attrName>
                                        </p:attrNameLst>
                                      </p:cBhvr>
                                      <p:tavLst>
                                        <p:tav tm="0">
                                          <p:val>
                                            <p:strVal val="#ppt_x"/>
                                          </p:val>
                                        </p:tav>
                                        <p:tav tm="100000">
                                          <p:val>
                                            <p:strVal val="#ppt_x"/>
                                          </p:val>
                                        </p:tav>
                                      </p:tavLst>
                                    </p:anim>
                                    <p:anim calcmode="lin" valueType="num">
                                      <p:cBhvr>
                                        <p:cTn id="94" dur="500" decel="100000" fill="hold"/>
                                        <p:tgtEl>
                                          <p:spTgt spid="25"/>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decel="100000" fill="hold"/>
                                        <p:tgtEl>
                                          <p:spTgt spid="26"/>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anim calcmode="lin" valueType="num">
                                      <p:cBhvr>
                                        <p:cTn id="103" dur="500" fill="hold"/>
                                        <p:tgtEl>
                                          <p:spTgt spid="27"/>
                                        </p:tgtEl>
                                        <p:attrNameLst>
                                          <p:attrName>ppt_x</p:attrName>
                                        </p:attrNameLst>
                                      </p:cBhvr>
                                      <p:tavLst>
                                        <p:tav tm="0">
                                          <p:val>
                                            <p:strVal val="#ppt_x"/>
                                          </p:val>
                                        </p:tav>
                                        <p:tav tm="100000">
                                          <p:val>
                                            <p:strVal val="#ppt_x"/>
                                          </p:val>
                                        </p:tav>
                                      </p:tavLst>
                                    </p:anim>
                                    <p:anim calcmode="lin" valueType="num">
                                      <p:cBhvr>
                                        <p:cTn id="104" dur="500" decel="100000" fill="hold"/>
                                        <p:tgtEl>
                                          <p:spTgt spid="27"/>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anim calcmode="lin" valueType="num">
                                      <p:cBhvr>
                                        <p:cTn id="108" dur="500" fill="hold"/>
                                        <p:tgtEl>
                                          <p:spTgt spid="28"/>
                                        </p:tgtEl>
                                        <p:attrNameLst>
                                          <p:attrName>ppt_x</p:attrName>
                                        </p:attrNameLst>
                                      </p:cBhvr>
                                      <p:tavLst>
                                        <p:tav tm="0">
                                          <p:val>
                                            <p:strVal val="#ppt_x"/>
                                          </p:val>
                                        </p:tav>
                                        <p:tav tm="100000">
                                          <p:val>
                                            <p:strVal val="#ppt_x"/>
                                          </p:val>
                                        </p:tav>
                                      </p:tavLst>
                                    </p:anim>
                                    <p:anim calcmode="lin" valueType="num">
                                      <p:cBhvr>
                                        <p:cTn id="109" dur="500" decel="100000" fill="hold"/>
                                        <p:tgtEl>
                                          <p:spTgt spid="28"/>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anim calcmode="lin" valueType="num">
                                      <p:cBhvr>
                                        <p:cTn id="113" dur="500" fill="hold"/>
                                        <p:tgtEl>
                                          <p:spTgt spid="29"/>
                                        </p:tgtEl>
                                        <p:attrNameLst>
                                          <p:attrName>ppt_x</p:attrName>
                                        </p:attrNameLst>
                                      </p:cBhvr>
                                      <p:tavLst>
                                        <p:tav tm="0">
                                          <p:val>
                                            <p:strVal val="#ppt_x"/>
                                          </p:val>
                                        </p:tav>
                                        <p:tav tm="100000">
                                          <p:val>
                                            <p:strVal val="#ppt_x"/>
                                          </p:val>
                                        </p:tav>
                                      </p:tavLst>
                                    </p:anim>
                                    <p:anim calcmode="lin" valueType="num">
                                      <p:cBhvr>
                                        <p:cTn id="114" dur="500" decel="100000" fill="hold"/>
                                        <p:tgtEl>
                                          <p:spTgt spid="29"/>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anim calcmode="lin" valueType="num">
                                      <p:cBhvr>
                                        <p:cTn id="118" dur="500" fill="hold"/>
                                        <p:tgtEl>
                                          <p:spTgt spid="30"/>
                                        </p:tgtEl>
                                        <p:attrNameLst>
                                          <p:attrName>ppt_x</p:attrName>
                                        </p:attrNameLst>
                                      </p:cBhvr>
                                      <p:tavLst>
                                        <p:tav tm="0">
                                          <p:val>
                                            <p:strVal val="#ppt_x"/>
                                          </p:val>
                                        </p:tav>
                                        <p:tav tm="100000">
                                          <p:val>
                                            <p:strVal val="#ppt_x"/>
                                          </p:val>
                                        </p:tav>
                                      </p:tavLst>
                                    </p:anim>
                                    <p:anim calcmode="lin" valueType="num">
                                      <p:cBhvr>
                                        <p:cTn id="119" dur="500" decel="100000" fill="hold"/>
                                        <p:tgtEl>
                                          <p:spTgt spid="30"/>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500"/>
                                        <p:tgtEl>
                                          <p:spTgt spid="31"/>
                                        </p:tgtEl>
                                      </p:cBhvr>
                                    </p:animEffect>
                                    <p:anim calcmode="lin" valueType="num">
                                      <p:cBhvr>
                                        <p:cTn id="123" dur="500" fill="hold"/>
                                        <p:tgtEl>
                                          <p:spTgt spid="31"/>
                                        </p:tgtEl>
                                        <p:attrNameLst>
                                          <p:attrName>ppt_x</p:attrName>
                                        </p:attrNameLst>
                                      </p:cBhvr>
                                      <p:tavLst>
                                        <p:tav tm="0">
                                          <p:val>
                                            <p:strVal val="#ppt_x"/>
                                          </p:val>
                                        </p:tav>
                                        <p:tav tm="100000">
                                          <p:val>
                                            <p:strVal val="#ppt_x"/>
                                          </p:val>
                                        </p:tav>
                                      </p:tavLst>
                                    </p:anim>
                                    <p:anim calcmode="lin" valueType="num">
                                      <p:cBhvr>
                                        <p:cTn id="124" dur="500" decel="100000" fill="hold"/>
                                        <p:tgtEl>
                                          <p:spTgt spid="31"/>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500"/>
                                        <p:tgtEl>
                                          <p:spTgt spid="32"/>
                                        </p:tgtEl>
                                      </p:cBhvr>
                                    </p:animEffect>
                                    <p:anim calcmode="lin" valueType="num">
                                      <p:cBhvr>
                                        <p:cTn id="128" dur="500" fill="hold"/>
                                        <p:tgtEl>
                                          <p:spTgt spid="32"/>
                                        </p:tgtEl>
                                        <p:attrNameLst>
                                          <p:attrName>ppt_x</p:attrName>
                                        </p:attrNameLst>
                                      </p:cBhvr>
                                      <p:tavLst>
                                        <p:tav tm="0">
                                          <p:val>
                                            <p:strVal val="#ppt_x"/>
                                          </p:val>
                                        </p:tav>
                                        <p:tav tm="100000">
                                          <p:val>
                                            <p:strVal val="#ppt_x"/>
                                          </p:val>
                                        </p:tav>
                                      </p:tavLst>
                                    </p:anim>
                                    <p:anim calcmode="lin" valueType="num">
                                      <p:cBhvr>
                                        <p:cTn id="129" dur="500" decel="100000" fill="hold"/>
                                        <p:tgtEl>
                                          <p:spTgt spid="32"/>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500"/>
                                        <p:tgtEl>
                                          <p:spTgt spid="33"/>
                                        </p:tgtEl>
                                      </p:cBhvr>
                                    </p:animEffect>
                                    <p:anim calcmode="lin" valueType="num">
                                      <p:cBhvr>
                                        <p:cTn id="133" dur="500" fill="hold"/>
                                        <p:tgtEl>
                                          <p:spTgt spid="33"/>
                                        </p:tgtEl>
                                        <p:attrNameLst>
                                          <p:attrName>ppt_x</p:attrName>
                                        </p:attrNameLst>
                                      </p:cBhvr>
                                      <p:tavLst>
                                        <p:tav tm="0">
                                          <p:val>
                                            <p:strVal val="#ppt_x"/>
                                          </p:val>
                                        </p:tav>
                                        <p:tav tm="100000">
                                          <p:val>
                                            <p:strVal val="#ppt_x"/>
                                          </p:val>
                                        </p:tav>
                                      </p:tavLst>
                                    </p:anim>
                                    <p:anim calcmode="lin" valueType="num">
                                      <p:cBhvr>
                                        <p:cTn id="134" dur="500" decel="100000" fill="hold"/>
                                        <p:tgtEl>
                                          <p:spTgt spid="33"/>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500"/>
                                        <p:tgtEl>
                                          <p:spTgt spid="34"/>
                                        </p:tgtEl>
                                      </p:cBhvr>
                                    </p:animEffect>
                                    <p:anim calcmode="lin" valueType="num">
                                      <p:cBhvr>
                                        <p:cTn id="138" dur="500" fill="hold"/>
                                        <p:tgtEl>
                                          <p:spTgt spid="34"/>
                                        </p:tgtEl>
                                        <p:attrNameLst>
                                          <p:attrName>ppt_x</p:attrName>
                                        </p:attrNameLst>
                                      </p:cBhvr>
                                      <p:tavLst>
                                        <p:tav tm="0">
                                          <p:val>
                                            <p:strVal val="#ppt_x"/>
                                          </p:val>
                                        </p:tav>
                                        <p:tav tm="100000">
                                          <p:val>
                                            <p:strVal val="#ppt_x"/>
                                          </p:val>
                                        </p:tav>
                                      </p:tavLst>
                                    </p:anim>
                                    <p:anim calcmode="lin" valueType="num">
                                      <p:cBhvr>
                                        <p:cTn id="139" dur="500" decel="100000" fill="hold"/>
                                        <p:tgtEl>
                                          <p:spTgt spid="34"/>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500"/>
                                        <p:tgtEl>
                                          <p:spTgt spid="35"/>
                                        </p:tgtEl>
                                      </p:cBhvr>
                                    </p:animEffect>
                                    <p:anim calcmode="lin" valueType="num">
                                      <p:cBhvr>
                                        <p:cTn id="143" dur="500" fill="hold"/>
                                        <p:tgtEl>
                                          <p:spTgt spid="35"/>
                                        </p:tgtEl>
                                        <p:attrNameLst>
                                          <p:attrName>ppt_x</p:attrName>
                                        </p:attrNameLst>
                                      </p:cBhvr>
                                      <p:tavLst>
                                        <p:tav tm="0">
                                          <p:val>
                                            <p:strVal val="#ppt_x"/>
                                          </p:val>
                                        </p:tav>
                                        <p:tav tm="100000">
                                          <p:val>
                                            <p:strVal val="#ppt_x"/>
                                          </p:val>
                                        </p:tav>
                                      </p:tavLst>
                                    </p:anim>
                                    <p:anim calcmode="lin" valueType="num">
                                      <p:cBhvr>
                                        <p:cTn id="144" dur="500" decel="100000" fill="hold"/>
                                        <p:tgtEl>
                                          <p:spTgt spid="35"/>
                                        </p:tgtEl>
                                        <p:attrNameLst>
                                          <p:attrName>ppt_y</p:attrName>
                                        </p:attrNameLst>
                                      </p:cBhvr>
                                      <p:tavLst>
                                        <p:tav tm="0">
                                          <p:val>
                                            <p:strVal val="#ppt_y+.06"/>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500"/>
                                        <p:tgtEl>
                                          <p:spTgt spid="36"/>
                                        </p:tgtEl>
                                      </p:cBhvr>
                                    </p:animEffect>
                                    <p:anim calcmode="lin" valueType="num">
                                      <p:cBhvr>
                                        <p:cTn id="148" dur="500" fill="hold"/>
                                        <p:tgtEl>
                                          <p:spTgt spid="36"/>
                                        </p:tgtEl>
                                        <p:attrNameLst>
                                          <p:attrName>ppt_x</p:attrName>
                                        </p:attrNameLst>
                                      </p:cBhvr>
                                      <p:tavLst>
                                        <p:tav tm="0">
                                          <p:val>
                                            <p:strVal val="#ppt_x"/>
                                          </p:val>
                                        </p:tav>
                                        <p:tav tm="100000">
                                          <p:val>
                                            <p:strVal val="#ppt_x"/>
                                          </p:val>
                                        </p:tav>
                                      </p:tavLst>
                                    </p:anim>
                                    <p:anim calcmode="lin" valueType="num">
                                      <p:cBhvr>
                                        <p:cTn id="149" dur="500" decel="100000" fill="hold"/>
                                        <p:tgtEl>
                                          <p:spTgt spid="36"/>
                                        </p:tgtEl>
                                        <p:attrNameLst>
                                          <p:attrName>ppt_y</p:attrName>
                                        </p:attrNameLst>
                                      </p:cBhvr>
                                      <p:tavLst>
                                        <p:tav tm="0">
                                          <p:val>
                                            <p:strVal val="#ppt_y+.06"/>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500"/>
                                        <p:tgtEl>
                                          <p:spTgt spid="37"/>
                                        </p:tgtEl>
                                      </p:cBhvr>
                                    </p:animEffect>
                                    <p:anim calcmode="lin" valueType="num">
                                      <p:cBhvr>
                                        <p:cTn id="153" dur="500" fill="hold"/>
                                        <p:tgtEl>
                                          <p:spTgt spid="37"/>
                                        </p:tgtEl>
                                        <p:attrNameLst>
                                          <p:attrName>ppt_x</p:attrName>
                                        </p:attrNameLst>
                                      </p:cBhvr>
                                      <p:tavLst>
                                        <p:tav tm="0">
                                          <p:val>
                                            <p:strVal val="#ppt_x"/>
                                          </p:val>
                                        </p:tav>
                                        <p:tav tm="100000">
                                          <p:val>
                                            <p:strVal val="#ppt_x"/>
                                          </p:val>
                                        </p:tav>
                                      </p:tavLst>
                                    </p:anim>
                                    <p:anim calcmode="lin" valueType="num">
                                      <p:cBhvr>
                                        <p:cTn id="154" dur="500" decel="100000" fill="hold"/>
                                        <p:tgtEl>
                                          <p:spTgt spid="37"/>
                                        </p:tgtEl>
                                        <p:attrNameLst>
                                          <p:attrName>ppt_y</p:attrName>
                                        </p:attrNameLst>
                                      </p:cBhvr>
                                      <p:tavLst>
                                        <p:tav tm="0">
                                          <p:val>
                                            <p:strVal val="#ppt_y+.06"/>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57" presetID="42" presetClass="entr" presetSubtype="0" fill="hold" grpId="0" nodeType="click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500"/>
                                        <p:tgtEl>
                                          <p:spTgt spid="38"/>
                                        </p:tgtEl>
                                      </p:cBhvr>
                                    </p:animEffect>
                                    <p:anim calcmode="lin" valueType="num">
                                      <p:cBhvr>
                                        <p:cTn id="160" dur="500" fill="hold"/>
                                        <p:tgtEl>
                                          <p:spTgt spid="38"/>
                                        </p:tgtEl>
                                        <p:attrNameLst>
                                          <p:attrName>ppt_x</p:attrName>
                                        </p:attrNameLst>
                                      </p:cBhvr>
                                      <p:tavLst>
                                        <p:tav tm="0">
                                          <p:val>
                                            <p:strVal val="#ppt_x"/>
                                          </p:val>
                                        </p:tav>
                                        <p:tav tm="100000">
                                          <p:val>
                                            <p:strVal val="#ppt_x"/>
                                          </p:val>
                                        </p:tav>
                                      </p:tavLst>
                                    </p:anim>
                                    <p:anim calcmode="lin" valueType="num">
                                      <p:cBhvr>
                                        <p:cTn id="161" dur="500" decel="100000" fill="hold"/>
                                        <p:tgtEl>
                                          <p:spTgt spid="3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5" grpId="0" animBg="1"/>
      <p:bldP spid="36" grpId="0" animBg="1"/>
      <p:bldP spid="37" grpId="0" animBg="1"/>
      <p:bldP spid="3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A1A"/>
        </a:solidFill>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3" name="Text 1"/>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21</a:t>
            </a:r>
            <a:endParaRPr lang="en-US" sz="1000" dirty="0"/>
          </a:p>
        </p:txBody>
      </p:sp>
      <p:sp>
        <p:nvSpPr>
          <p:cNvPr id="4" name="auto1_ring"/>
          <p:cNvSpPr/>
          <p:nvPr/>
        </p:nvSpPr>
        <p:spPr>
          <a:xfrm>
            <a:off x="7498080" y="822960"/>
            <a:ext cx="5120640" cy="5120640"/>
          </a:xfrm>
          <a:prstGeom prst="ellipse">
            <a:avLst/>
          </a:prstGeom>
          <a:solidFill>
            <a:srgbClr val="FFB547">
              <a:alpha val="15000"/>
            </a:srgbClr>
          </a:solidFill>
          <a:ln w="19050">
            <a:solidFill>
              <a:srgbClr val="FFB547"/>
            </a:solidFill>
            <a:prstDash val="solid"/>
          </a:ln>
        </p:spPr>
      </p:sp>
      <p:pic>
        <p:nvPicPr>
          <p:cNvPr id="5" name="auto2_ic" descr="preencoded.png">    </p:cNvPr>
          <p:cNvPicPr>
            <a:picLocks noChangeAspect="1"/>
          </p:cNvPicPr>
          <p:nvPr/>
        </p:nvPicPr>
        <p:blipFill>
          <a:blip r:embed="rId1"/>
          <a:stretch>
            <a:fillRect/>
          </a:stretch>
        </p:blipFill>
        <p:spPr>
          <a:xfrm>
            <a:off x="9052560" y="2377440"/>
            <a:ext cx="2011680" cy="2011680"/>
          </a:xfrm>
          <a:prstGeom prst="rect">
            <a:avLst/>
          </a:prstGeom>
        </p:spPr>
      </p:pic>
      <p:sp>
        <p:nvSpPr>
          <p:cNvPr id="6" name="auto1_n"/>
          <p:cNvSpPr txBox="1"/>
          <p:nvPr/>
        </p:nvSpPr>
        <p:spPr>
          <a:xfrm>
            <a:off x="548640" y="1463040"/>
            <a:ext cx="3657600" cy="1463040"/>
          </a:xfrm>
          <a:prstGeom prst="rect">
            <a:avLst/>
          </a:prstGeom>
          <a:noFill/>
          <a:ln/>
        </p:spPr>
        <p:txBody>
          <a:bodyPr wrap="square" lIns="0" tIns="0" rIns="0" bIns="0" rtlCol="0" anchor="t"/>
          <a:lstStyle/>
          <a:p>
            <a:pPr indent="0" marL="0">
              <a:buNone/>
            </a:pPr>
            <a:r>
              <a:rPr lang="en-US" sz="11000" b="1" dirty="0">
                <a:solidFill>
                  <a:srgbClr val="FFB547"/>
                </a:solidFill>
                <a:latin typeface="Arial" pitchFamily="34" charset="0"/>
                <a:ea typeface="Arial" pitchFamily="34" charset="-122"/>
                <a:cs typeface="Arial" pitchFamily="34" charset="-120"/>
              </a:rPr>
              <a:t>03</a:t>
            </a:r>
            <a:endParaRPr lang="en-US" sz="11000" dirty="0"/>
          </a:p>
        </p:txBody>
      </p:sp>
      <p:sp>
        <p:nvSpPr>
          <p:cNvPr id="7" name="auto2_t"/>
          <p:cNvSpPr txBox="1"/>
          <p:nvPr/>
        </p:nvSpPr>
        <p:spPr>
          <a:xfrm>
            <a:off x="548640" y="3017520"/>
            <a:ext cx="6766560" cy="137160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Where LLMs fit in your .NET app</a:t>
            </a:r>
            <a:endParaRPr lang="en-US" sz="4200" dirty="0"/>
          </a:p>
        </p:txBody>
      </p:sp>
      <p:sp>
        <p:nvSpPr>
          <p:cNvPr id="8" name="auto3_s"/>
          <p:cNvSpPr txBox="1"/>
          <p:nvPr/>
        </p:nvSpPr>
        <p:spPr>
          <a:xfrm>
            <a:off x="548640" y="4480560"/>
            <a:ext cx="6583680" cy="731520"/>
          </a:xfrm>
          <a:prstGeom prst="rect">
            <a:avLst/>
          </a:prstGeom>
          <a:noFill/>
          <a:ln/>
        </p:spPr>
        <p:txBody>
          <a:bodyPr wrap="square" lIns="0" tIns="0" rIns="0" bIns="0" rtlCol="0" anchor="t"/>
          <a:lstStyle/>
          <a:p>
            <a:pPr indent="0" marL="0">
              <a:buNone/>
            </a:pPr>
            <a:r>
              <a:rPr lang="en-US" sz="1800" dirty="0">
                <a:solidFill>
                  <a:srgbClr val="A99BD6"/>
                </a:solidFill>
                <a:latin typeface="Calibri" pitchFamily="34" charset="0"/>
                <a:ea typeface="Calibri" pitchFamily="34" charset="-122"/>
                <a:cs typeface="Calibri" pitchFamily="34" charset="-120"/>
              </a:rPr>
              <a:t>Just another HTTP API call. Nothing magical.</a:t>
            </a:r>
            <a:endParaRPr lang="en-US" sz="18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1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p:cTn id="6" dur="500" fill="hold"/>
                                        <p:tgtEl>
                                          <p:spTgt spid="4"/>
                                        </p:tgtEl>
                                        <p:attrNameLst>
                                          <p:attrName>ppt_x</p:attrName>
                                        </p:attrNameLst>
                                      </p:cBhvr>
                                      <p:tavLst>
                                        <p:tav tm="0">
                                          <p:val>
                                            <p:strVal val="#ppt_x"/>
                                          </p:val>
                                        </p:tav>
                                        <p:tav tm="100000">
                                          <p:val>
                                            <p:strVal val="#ppt_x"/>
                                          </p:val>
                                        </p:tav>
                                      </p:tavLst>
                                    </p:anim>
                                    <p:anim calcmode="lin" valueType="num">
                                      <p:cBhvr>
                                        <p:cTn id="7" dur="500" decel="10000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decel="100000" fill="hold"/>
                                        <p:tgtEl>
                                          <p:spTgt spid="6"/>
                                        </p:tgtEl>
                                        <p:attrNameLst>
                                          <p:attrName>ppt_y</p:attrName>
                                        </p:attrNameLst>
                                      </p:cBhvr>
                                      <p:tavLst>
                                        <p:tav tm="0">
                                          <p:val>
                                            <p:strVal val="#ppt_y+.06"/>
                                          </p:val>
                                        </p:tav>
                                        <p:tav tm="100000">
                                          <p:val>
                                            <p:strVal val="#ppt_y"/>
                                          </p:val>
                                        </p:tav>
                                      </p:tavLst>
                                    </p:anim>
                                  </p:childTnLst>
                                </p:cTn>
                              </p:par>
                            </p:childTnLst>
                          </p:cTn>
                        </p:par>
                        <p:par>
                          <p:cTn id="24"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decel="100000" fill="hold"/>
                                        <p:tgtEl>
                                          <p:spTgt spid="7"/>
                                        </p:tgtEl>
                                        <p:attrNameLst>
                                          <p:attrName>ppt_y</p:attrName>
                                        </p:attrNameLst>
                                      </p:cBhvr>
                                      <p:tavLst>
                                        <p:tav tm="0">
                                          <p:val>
                                            <p:strVal val="#ppt_y+.06"/>
                                          </p:val>
                                        </p:tav>
                                        <p:tav tm="100000">
                                          <p:val>
                                            <p:strVal val="#ppt_y"/>
                                          </p:val>
                                        </p:tav>
                                      </p:tavLst>
                                    </p:anim>
                                  </p:childTnLst>
                                </p:cTn>
                              </p:par>
                            </p:childTnLst>
                          </p:cTn>
                        </p:par>
                        <p:par>
                          <p:cTn id="30" fill="hold">
                            <p:stCondLst>
                              <p:cond delay="700"/>
                            </p:stCondLst>
                            <p:childTnLst>
                              <p:par>
                                <p:cTn id="25" presetID="42"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22</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BIG REVEAL</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An LLM is an HTTPS endpoint</a:t>
            </a:r>
            <a:endParaRPr lang="en-US" sz="3400" dirty="0"/>
          </a:p>
        </p:txBody>
      </p:sp>
      <p:sp>
        <p:nvSpPr>
          <p:cNvPr id="8" name="a1_b0"/>
          <p:cNvSpPr/>
          <p:nvPr/>
        </p:nvSpPr>
        <p:spPr>
          <a:xfrm>
            <a:off x="548640" y="2103120"/>
            <a:ext cx="324612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bi0_c"/>
          <p:cNvSpPr/>
          <p:nvPr/>
        </p:nvSpPr>
        <p:spPr>
          <a:xfrm>
            <a:off x="1783080" y="2331720"/>
            <a:ext cx="777240" cy="777240"/>
          </a:xfrm>
          <a:prstGeom prst="ellipse">
            <a:avLst/>
          </a:prstGeom>
          <a:solidFill>
            <a:srgbClr val="7C4DFF">
              <a:alpha val="20000"/>
            </a:srgbClr>
          </a:solidFill>
          <a:ln w="19050">
            <a:solidFill>
              <a:srgbClr val="7C4DFF"/>
            </a:solidFill>
            <a:prstDash val="solid"/>
          </a:ln>
        </p:spPr>
      </p:sp>
      <p:pic>
        <p:nvPicPr>
          <p:cNvPr id="10" name="a1_bi0_i" descr="preencoded.png">    </p:cNvPr>
          <p:cNvPicPr>
            <a:picLocks noChangeAspect="1"/>
          </p:cNvPicPr>
          <p:nvPr/>
        </p:nvPicPr>
        <p:blipFill>
          <a:blip r:embed="rId1"/>
          <a:stretch>
            <a:fillRect/>
          </a:stretch>
        </p:blipFill>
        <p:spPr>
          <a:xfrm>
            <a:off x="1985162" y="2533802"/>
            <a:ext cx="373075" cy="373075"/>
          </a:xfrm>
          <a:prstGeom prst="rect">
            <a:avLst/>
          </a:prstGeom>
        </p:spPr>
      </p:pic>
      <p:sp>
        <p:nvSpPr>
          <p:cNvPr id="11" name="a1_bt0"/>
          <p:cNvSpPr txBox="1"/>
          <p:nvPr/>
        </p:nvSpPr>
        <p:spPr>
          <a:xfrm>
            <a:off x="731520" y="3200400"/>
            <a:ext cx="288036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Your .NET app</a:t>
            </a:r>
            <a:endParaRPr lang="en-US" sz="1900" dirty="0"/>
          </a:p>
        </p:txBody>
      </p:sp>
      <p:sp>
        <p:nvSpPr>
          <p:cNvPr id="12" name="a1_bd0"/>
          <p:cNvSpPr txBox="1"/>
          <p:nvPr/>
        </p:nvSpPr>
        <p:spPr>
          <a:xfrm>
            <a:off x="731520" y="3611880"/>
            <a:ext cx="2880360" cy="7772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ASP.NET Core · Console · Blazor · MAUI</a:t>
            </a:r>
            <a:endParaRPr lang="en-US" sz="1300" dirty="0"/>
          </a:p>
        </p:txBody>
      </p:sp>
      <p:sp>
        <p:nvSpPr>
          <p:cNvPr id="13" name="a2_b1"/>
          <p:cNvSpPr/>
          <p:nvPr/>
        </p:nvSpPr>
        <p:spPr>
          <a:xfrm>
            <a:off x="4480560" y="2103120"/>
            <a:ext cx="324612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a2_bi1_c"/>
          <p:cNvSpPr/>
          <p:nvPr/>
        </p:nvSpPr>
        <p:spPr>
          <a:xfrm>
            <a:off x="5715000" y="2331720"/>
            <a:ext cx="777240" cy="777240"/>
          </a:xfrm>
          <a:prstGeom prst="ellipse">
            <a:avLst/>
          </a:prstGeom>
          <a:solidFill>
            <a:srgbClr val="FFB547">
              <a:alpha val="20000"/>
            </a:srgbClr>
          </a:solidFill>
          <a:ln w="19050">
            <a:solidFill>
              <a:srgbClr val="FFB547"/>
            </a:solidFill>
            <a:prstDash val="solid"/>
          </a:ln>
        </p:spPr>
      </p:sp>
      <p:pic>
        <p:nvPicPr>
          <p:cNvPr id="15" name="a2_bi1_i" descr="preencoded.png">    </p:cNvPr>
          <p:cNvPicPr>
            <a:picLocks noChangeAspect="1"/>
          </p:cNvPicPr>
          <p:nvPr/>
        </p:nvPicPr>
        <p:blipFill>
          <a:blip r:embed="rId2"/>
          <a:stretch>
            <a:fillRect/>
          </a:stretch>
        </p:blipFill>
        <p:spPr>
          <a:xfrm>
            <a:off x="5917082" y="2533802"/>
            <a:ext cx="373075" cy="373075"/>
          </a:xfrm>
          <a:prstGeom prst="rect">
            <a:avLst/>
          </a:prstGeom>
        </p:spPr>
      </p:pic>
      <p:sp>
        <p:nvSpPr>
          <p:cNvPr id="16" name="a2_bt1"/>
          <p:cNvSpPr txBox="1"/>
          <p:nvPr/>
        </p:nvSpPr>
        <p:spPr>
          <a:xfrm>
            <a:off x="4663440" y="3200400"/>
            <a:ext cx="288036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HttpClient</a:t>
            </a:r>
            <a:endParaRPr lang="en-US" sz="1900" dirty="0"/>
          </a:p>
        </p:txBody>
      </p:sp>
      <p:sp>
        <p:nvSpPr>
          <p:cNvPr id="17" name="a2_bd1"/>
          <p:cNvSpPr txBox="1"/>
          <p:nvPr/>
        </p:nvSpPr>
        <p:spPr>
          <a:xfrm>
            <a:off x="4663440" y="3611880"/>
            <a:ext cx="2880360" cy="7772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POST /chat/completions</a:t>
            </a:r>
            <a:endParaRPr lang="en-US" sz="1300" dirty="0"/>
          </a:p>
          <a:p>
            <a:pPr algn="ctr" indent="0" marL="0">
              <a:buNone/>
            </a:pPr>
            <a:r>
              <a:rPr lang="en-US" sz="1300" dirty="0">
                <a:solidFill>
                  <a:srgbClr val="A99BD6"/>
                </a:solidFill>
                <a:latin typeface="Calibri" pitchFamily="34" charset="0"/>
                <a:ea typeface="Calibri" pitchFamily="34" charset="-122"/>
                <a:cs typeface="Calibri" pitchFamily="34" charset="-120"/>
              </a:rPr>
              <a:t>Authorization: Bearer …</a:t>
            </a:r>
            <a:endParaRPr lang="en-US" sz="1300" dirty="0"/>
          </a:p>
        </p:txBody>
      </p:sp>
      <p:sp>
        <p:nvSpPr>
          <p:cNvPr id="18" name="a3_b2"/>
          <p:cNvSpPr/>
          <p:nvPr/>
        </p:nvSpPr>
        <p:spPr>
          <a:xfrm>
            <a:off x="8412480" y="2103120"/>
            <a:ext cx="3246120" cy="2377440"/>
          </a:xfrm>
          <a:prstGeom prst="roundRect">
            <a:avLst>
              <a:gd name="adj" fmla="val 4615"/>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9" name="a3_bi2_c"/>
          <p:cNvSpPr/>
          <p:nvPr/>
        </p:nvSpPr>
        <p:spPr>
          <a:xfrm>
            <a:off x="9646920" y="2331720"/>
            <a:ext cx="777240" cy="777240"/>
          </a:xfrm>
          <a:prstGeom prst="ellipse">
            <a:avLst/>
          </a:prstGeom>
          <a:solidFill>
            <a:srgbClr val="2EE6A6">
              <a:alpha val="20000"/>
            </a:srgbClr>
          </a:solidFill>
          <a:ln w="19050">
            <a:solidFill>
              <a:srgbClr val="2EE6A6"/>
            </a:solidFill>
            <a:prstDash val="solid"/>
          </a:ln>
        </p:spPr>
      </p:sp>
      <p:pic>
        <p:nvPicPr>
          <p:cNvPr id="20" name="a3_bi2_i" descr="preencoded.png">    </p:cNvPr>
          <p:cNvPicPr>
            <a:picLocks noChangeAspect="1"/>
          </p:cNvPicPr>
          <p:nvPr/>
        </p:nvPicPr>
        <p:blipFill>
          <a:blip r:embed="rId3"/>
          <a:stretch>
            <a:fillRect/>
          </a:stretch>
        </p:blipFill>
        <p:spPr>
          <a:xfrm>
            <a:off x="9849002" y="2533802"/>
            <a:ext cx="373075" cy="373075"/>
          </a:xfrm>
          <a:prstGeom prst="rect">
            <a:avLst/>
          </a:prstGeom>
        </p:spPr>
      </p:pic>
      <p:sp>
        <p:nvSpPr>
          <p:cNvPr id="21" name="a3_bt2"/>
          <p:cNvSpPr txBox="1"/>
          <p:nvPr/>
        </p:nvSpPr>
        <p:spPr>
          <a:xfrm>
            <a:off x="8595360" y="3200400"/>
            <a:ext cx="288036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LLM provider</a:t>
            </a:r>
            <a:endParaRPr lang="en-US" sz="1900" dirty="0"/>
          </a:p>
        </p:txBody>
      </p:sp>
      <p:sp>
        <p:nvSpPr>
          <p:cNvPr id="22" name="a3_bd2"/>
          <p:cNvSpPr txBox="1"/>
          <p:nvPr/>
        </p:nvSpPr>
        <p:spPr>
          <a:xfrm>
            <a:off x="8595360" y="3611880"/>
            <a:ext cx="2880360" cy="777240"/>
          </a:xfrm>
          <a:prstGeom prst="rect">
            <a:avLst/>
          </a:prstGeom>
          <a:noFill/>
          <a:ln/>
        </p:spPr>
        <p:txBody>
          <a:bodyPr wrap="square" lIns="0" tIns="0" rIns="0" bIns="0" rtlCol="0" anchor="t"/>
          <a:lstStyle/>
          <a:p>
            <a:pPr algn="ctr" indent="0" marL="0">
              <a:buNone/>
            </a:pPr>
            <a:r>
              <a:rPr lang="en-US" sz="1300" dirty="0">
                <a:solidFill>
                  <a:srgbClr val="A99BD6"/>
                </a:solidFill>
                <a:latin typeface="Calibri" pitchFamily="34" charset="0"/>
                <a:ea typeface="Calibri" pitchFamily="34" charset="-122"/>
                <a:cs typeface="Calibri" pitchFamily="34" charset="-120"/>
              </a:rPr>
              <a:t>Groq · OpenAI · Azure …</a:t>
            </a:r>
            <a:endParaRPr lang="en-US" sz="1300" dirty="0"/>
          </a:p>
          <a:p>
            <a:pPr algn="ctr" indent="0" marL="0">
              <a:buNone/>
            </a:pPr>
            <a:r>
              <a:rPr lang="en-US" sz="1300" dirty="0">
                <a:solidFill>
                  <a:srgbClr val="A99BD6"/>
                </a:solidFill>
                <a:latin typeface="Calibri" pitchFamily="34" charset="0"/>
                <a:ea typeface="Calibri" pitchFamily="34" charset="-122"/>
                <a:cs typeface="Calibri" pitchFamily="34" charset="-120"/>
              </a:rPr>
              <a:t>runs the loop you saw</a:t>
            </a:r>
            <a:endParaRPr lang="en-US" sz="1300" dirty="0"/>
          </a:p>
        </p:txBody>
      </p:sp>
      <p:sp>
        <p:nvSpPr>
          <p:cNvPr id="23" name="a2_ar1"/>
          <p:cNvSpPr/>
          <p:nvPr/>
        </p:nvSpPr>
        <p:spPr>
          <a:xfrm>
            <a:off x="3840480" y="2971800"/>
            <a:ext cx="548640" cy="457200"/>
          </a:xfrm>
          <a:prstGeom prst="rightArrow">
            <a:avLst/>
          </a:prstGeom>
          <a:solidFill>
            <a:srgbClr val="FFB547"/>
          </a:solidFill>
          <a:ln/>
        </p:spPr>
      </p:sp>
      <p:sp>
        <p:nvSpPr>
          <p:cNvPr id="24" name="a3_ar2"/>
          <p:cNvSpPr/>
          <p:nvPr/>
        </p:nvSpPr>
        <p:spPr>
          <a:xfrm>
            <a:off x="7772400" y="2971800"/>
            <a:ext cx="548640" cy="457200"/>
          </a:xfrm>
          <a:prstGeom prst="rightArrow">
            <a:avLst/>
          </a:prstGeom>
          <a:solidFill>
            <a:srgbClr val="2EE6A6"/>
          </a:solidFill>
          <a:ln/>
        </p:spPr>
      </p:sp>
      <p:sp>
        <p:nvSpPr>
          <p:cNvPr id="25" name="a4_ret"/>
          <p:cNvSpPr/>
          <p:nvPr/>
        </p:nvSpPr>
        <p:spPr>
          <a:xfrm>
            <a:off x="548640" y="4800600"/>
            <a:ext cx="11091672" cy="640080"/>
          </a:xfrm>
          <a:prstGeom prst="roundRect">
            <a:avLst>
              <a:gd name="adj" fmla="val 14286"/>
            </a:avLst>
          </a:prstGeom>
          <a:solidFill>
            <a:srgbClr val="2EE6A6">
              <a:alpha val="15000"/>
            </a:srgbClr>
          </a:solidFill>
          <a:ln w="12700">
            <a:solidFill>
              <a:srgbClr val="2EE6A6"/>
            </a:solidFill>
            <a:prstDash val="solid"/>
          </a:ln>
        </p:spPr>
      </p:sp>
      <p:sp>
        <p:nvSpPr>
          <p:cNvPr id="26" name="a4_rett"/>
          <p:cNvSpPr txBox="1"/>
          <p:nvPr/>
        </p:nvSpPr>
        <p:spPr>
          <a:xfrm>
            <a:off x="731520" y="4800600"/>
            <a:ext cx="10789920" cy="640080"/>
          </a:xfrm>
          <a:prstGeom prst="rect">
            <a:avLst/>
          </a:prstGeom>
          <a:noFill/>
          <a:ln/>
        </p:spPr>
        <p:txBody>
          <a:bodyPr wrap="square" lIns="0" tIns="0" rIns="0" bIns="0" rtlCol="0" anchor="ctr"/>
          <a:lstStyle/>
          <a:p>
            <a:pPr indent="0" marL="0">
              <a:buNone/>
            </a:pPr>
            <a:r>
              <a:rPr lang="en-US" sz="1500" dirty="0">
                <a:solidFill>
                  <a:srgbClr val="2EE6A6"/>
                </a:solidFill>
                <a:latin typeface="Courier New" pitchFamily="34" charset="0"/>
                <a:ea typeface="Courier New" pitchFamily="34" charset="-122"/>
                <a:cs typeface="Courier New" pitchFamily="34" charset="-120"/>
              </a:rPr>
              <a:t>◀  JSON back:  { choices: [ { message: { content: "…" } } ], usage: { … } }</a:t>
            </a:r>
            <a:endParaRPr lang="en-US" sz="1500" dirty="0"/>
          </a:p>
        </p:txBody>
      </p:sp>
      <p:sp>
        <p:nvSpPr>
          <p:cNvPr id="27" name="a5_foot"/>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500" i="1" dirty="0">
                <a:solidFill>
                  <a:srgbClr val="E9E4FF"/>
                </a:solidFill>
                <a:latin typeface="Calibri" pitchFamily="34" charset="0"/>
                <a:ea typeface="Calibri" pitchFamily="34" charset="-122"/>
                <a:cs typeface="Calibri" pitchFamily="34" charset="-120"/>
              </a:rPr>
              <a:t>Everything you know still applies: HttpClient, JSON, timeouts, retries, DI, logging, secrets.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p:cTn id="53" dur="500" fill="hold"/>
                                        <p:tgtEl>
                                          <p:spTgt spid="17"/>
                                        </p:tgtEl>
                                        <p:attrNameLst>
                                          <p:attrName>ppt_x</p:attrName>
                                        </p:attrNameLst>
                                      </p:cBhvr>
                                      <p:tavLst>
                                        <p:tav tm="0">
                                          <p:val>
                                            <p:strVal val="#ppt_x"/>
                                          </p:val>
                                        </p:tav>
                                        <p:tav tm="100000">
                                          <p:val>
                                            <p:strVal val="#ppt_x"/>
                                          </p:val>
                                        </p:tav>
                                      </p:tavLst>
                                    </p:anim>
                                    <p:anim calcmode="lin" valueType="num">
                                      <p:cBhvr>
                                        <p:cTn id="54" dur="500" decel="1000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anim calcmode="lin" valueType="num">
                                      <p:cBhvr>
                                        <p:cTn id="58" dur="500" fill="hold"/>
                                        <p:tgtEl>
                                          <p:spTgt spid="23"/>
                                        </p:tgtEl>
                                        <p:attrNameLst>
                                          <p:attrName>ppt_x</p:attrName>
                                        </p:attrNameLst>
                                      </p:cBhvr>
                                      <p:tavLst>
                                        <p:tav tm="0">
                                          <p:val>
                                            <p:strVal val="#ppt_x"/>
                                          </p:val>
                                        </p:tav>
                                        <p:tav tm="100000">
                                          <p:val>
                                            <p:strVal val="#ppt_x"/>
                                          </p:val>
                                        </p:tav>
                                      </p:tavLst>
                                    </p:anim>
                                    <p:anim calcmode="lin" valueType="num">
                                      <p:cBhvr>
                                        <p:cTn id="59"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anim calcmode="lin" valueType="num">
                                      <p:cBhvr>
                                        <p:cTn id="65" dur="500" fill="hold"/>
                                        <p:tgtEl>
                                          <p:spTgt spid="18"/>
                                        </p:tgtEl>
                                        <p:attrNameLst>
                                          <p:attrName>ppt_x</p:attrName>
                                        </p:attrNameLst>
                                      </p:cBhvr>
                                      <p:tavLst>
                                        <p:tav tm="0">
                                          <p:val>
                                            <p:strVal val="#ppt_x"/>
                                          </p:val>
                                        </p:tav>
                                        <p:tav tm="100000">
                                          <p:val>
                                            <p:strVal val="#ppt_x"/>
                                          </p:val>
                                        </p:tav>
                                      </p:tavLst>
                                    </p:anim>
                                    <p:anim calcmode="lin" valueType="num">
                                      <p:cBhvr>
                                        <p:cTn id="66" dur="500" decel="10000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anim calcmode="lin" valueType="num">
                                      <p:cBhvr>
                                        <p:cTn id="70" dur="500" fill="hold"/>
                                        <p:tgtEl>
                                          <p:spTgt spid="19"/>
                                        </p:tgtEl>
                                        <p:attrNameLst>
                                          <p:attrName>ppt_x</p:attrName>
                                        </p:attrNameLst>
                                      </p:cBhvr>
                                      <p:tavLst>
                                        <p:tav tm="0">
                                          <p:val>
                                            <p:strVal val="#ppt_x"/>
                                          </p:val>
                                        </p:tav>
                                        <p:tav tm="100000">
                                          <p:val>
                                            <p:strVal val="#ppt_x"/>
                                          </p:val>
                                        </p:tav>
                                      </p:tavLst>
                                    </p:anim>
                                    <p:anim calcmode="lin" valueType="num">
                                      <p:cBhvr>
                                        <p:cTn id="71" dur="500" decel="100000" fill="hold"/>
                                        <p:tgtEl>
                                          <p:spTgt spid="19"/>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anim calcmode="lin" valueType="num">
                                      <p:cBhvr>
                                        <p:cTn id="75" dur="500" fill="hold"/>
                                        <p:tgtEl>
                                          <p:spTgt spid="20"/>
                                        </p:tgtEl>
                                        <p:attrNameLst>
                                          <p:attrName>ppt_x</p:attrName>
                                        </p:attrNameLst>
                                      </p:cBhvr>
                                      <p:tavLst>
                                        <p:tav tm="0">
                                          <p:val>
                                            <p:strVal val="#ppt_x"/>
                                          </p:val>
                                        </p:tav>
                                        <p:tav tm="100000">
                                          <p:val>
                                            <p:strVal val="#ppt_x"/>
                                          </p:val>
                                        </p:tav>
                                      </p:tavLst>
                                    </p:anim>
                                    <p:anim calcmode="lin" valueType="num">
                                      <p:cBhvr>
                                        <p:cTn id="76" dur="500" decel="100000" fill="hold"/>
                                        <p:tgtEl>
                                          <p:spTgt spid="20"/>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anim calcmode="lin" valueType="num">
                                      <p:cBhvr>
                                        <p:cTn id="80" dur="500" fill="hold"/>
                                        <p:tgtEl>
                                          <p:spTgt spid="21"/>
                                        </p:tgtEl>
                                        <p:attrNameLst>
                                          <p:attrName>ppt_x</p:attrName>
                                        </p:attrNameLst>
                                      </p:cBhvr>
                                      <p:tavLst>
                                        <p:tav tm="0">
                                          <p:val>
                                            <p:strVal val="#ppt_x"/>
                                          </p:val>
                                        </p:tav>
                                        <p:tav tm="100000">
                                          <p:val>
                                            <p:strVal val="#ppt_x"/>
                                          </p:val>
                                        </p:tav>
                                      </p:tavLst>
                                    </p:anim>
                                    <p:anim calcmode="lin" valueType="num">
                                      <p:cBhvr>
                                        <p:cTn id="81" dur="500" decel="100000" fill="hold"/>
                                        <p:tgtEl>
                                          <p:spTgt spid="21"/>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anim calcmode="lin" valueType="num">
                                      <p:cBhvr>
                                        <p:cTn id="85" dur="500" fill="hold"/>
                                        <p:tgtEl>
                                          <p:spTgt spid="22"/>
                                        </p:tgtEl>
                                        <p:attrNameLst>
                                          <p:attrName>ppt_x</p:attrName>
                                        </p:attrNameLst>
                                      </p:cBhvr>
                                      <p:tavLst>
                                        <p:tav tm="0">
                                          <p:val>
                                            <p:strVal val="#ppt_x"/>
                                          </p:val>
                                        </p:tav>
                                        <p:tav tm="100000">
                                          <p:val>
                                            <p:strVal val="#ppt_x"/>
                                          </p:val>
                                        </p:tav>
                                      </p:tavLst>
                                    </p:anim>
                                    <p:anim calcmode="lin" valueType="num">
                                      <p:cBhvr>
                                        <p:cTn id="86" dur="500" decel="100000" fill="hold"/>
                                        <p:tgtEl>
                                          <p:spTgt spid="22"/>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anim calcmode="lin" valueType="num">
                                      <p:cBhvr>
                                        <p:cTn id="90" dur="500" fill="hold"/>
                                        <p:tgtEl>
                                          <p:spTgt spid="24"/>
                                        </p:tgtEl>
                                        <p:attrNameLst>
                                          <p:attrName>ppt_x</p:attrName>
                                        </p:attrNameLst>
                                      </p:cBhvr>
                                      <p:tavLst>
                                        <p:tav tm="0">
                                          <p:val>
                                            <p:strVal val="#ppt_x"/>
                                          </p:val>
                                        </p:tav>
                                        <p:tav tm="100000">
                                          <p:val>
                                            <p:strVal val="#ppt_x"/>
                                          </p:val>
                                        </p:tav>
                                      </p:tavLst>
                                    </p:anim>
                                    <p:anim calcmode="lin" valueType="num">
                                      <p:cBhvr>
                                        <p:cTn id="91"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anim calcmode="lin" valueType="num">
                                      <p:cBhvr>
                                        <p:cTn id="97" dur="500" fill="hold"/>
                                        <p:tgtEl>
                                          <p:spTgt spid="25"/>
                                        </p:tgtEl>
                                        <p:attrNameLst>
                                          <p:attrName>ppt_x</p:attrName>
                                        </p:attrNameLst>
                                      </p:cBhvr>
                                      <p:tavLst>
                                        <p:tav tm="0">
                                          <p:val>
                                            <p:strVal val="#ppt_x"/>
                                          </p:val>
                                        </p:tav>
                                        <p:tav tm="100000">
                                          <p:val>
                                            <p:strVal val="#ppt_x"/>
                                          </p:val>
                                        </p:tav>
                                      </p:tavLst>
                                    </p:anim>
                                    <p:anim calcmode="lin" valueType="num">
                                      <p:cBhvr>
                                        <p:cTn id="98" dur="500" decel="1000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anim calcmode="lin" valueType="num">
                                      <p:cBhvr>
                                        <p:cTn id="102" dur="500" fill="hold"/>
                                        <p:tgtEl>
                                          <p:spTgt spid="26"/>
                                        </p:tgtEl>
                                        <p:attrNameLst>
                                          <p:attrName>ppt_x</p:attrName>
                                        </p:attrNameLst>
                                      </p:cBhvr>
                                      <p:tavLst>
                                        <p:tav tm="0">
                                          <p:val>
                                            <p:strVal val="#ppt_x"/>
                                          </p:val>
                                        </p:tav>
                                        <p:tav tm="100000">
                                          <p:val>
                                            <p:strVal val="#ppt_x"/>
                                          </p:val>
                                        </p:tav>
                                      </p:tavLst>
                                    </p:anim>
                                    <p:anim calcmode="lin" valueType="num">
                                      <p:cBhvr>
                                        <p:cTn id="103" dur="500" decel="100000" fill="hold"/>
                                        <p:tgtEl>
                                          <p:spTgt spid="26"/>
                                        </p:tgtEl>
                                        <p:attrNameLst>
                                          <p:attrName>ppt_y</p:attrName>
                                        </p:attrNameLst>
                                      </p:cBhvr>
                                      <p:tavLst>
                                        <p:tav tm="0">
                                          <p:val>
                                            <p:strVal val="#ppt_y+.06"/>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500"/>
                                        <p:tgtEl>
                                          <p:spTgt spid="27"/>
                                        </p:tgtEl>
                                      </p:cBhvr>
                                    </p:animEffect>
                                    <p:anim calcmode="lin" valueType="num">
                                      <p:cBhvr>
                                        <p:cTn id="109" dur="500" fill="hold"/>
                                        <p:tgtEl>
                                          <p:spTgt spid="27"/>
                                        </p:tgtEl>
                                        <p:attrNameLst>
                                          <p:attrName>ppt_x</p:attrName>
                                        </p:attrNameLst>
                                      </p:cBhvr>
                                      <p:tavLst>
                                        <p:tav tm="0">
                                          <p:val>
                                            <p:strVal val="#ppt_x"/>
                                          </p:val>
                                        </p:tav>
                                        <p:tav tm="100000">
                                          <p:val>
                                            <p:strVal val="#ppt_x"/>
                                          </p:val>
                                        </p:tav>
                                      </p:tavLst>
                                    </p:anim>
                                    <p:anim calcmode="lin" valueType="num">
                                      <p:cBhvr>
                                        <p:cTn id="110"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23</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ANATOMY OF A REQUEST</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What you send</a:t>
            </a:r>
            <a:endParaRPr lang="en-US" sz="3400" dirty="0"/>
          </a:p>
        </p:txBody>
      </p:sp>
      <p:sp>
        <p:nvSpPr>
          <p:cNvPr id="8" name="a0_req_bg"/>
          <p:cNvSpPr/>
          <p:nvPr/>
        </p:nvSpPr>
        <p:spPr>
          <a:xfrm>
            <a:off x="548640" y="1737360"/>
            <a:ext cx="7406640" cy="4434840"/>
          </a:xfrm>
          <a:prstGeom prst="roundRect">
            <a:avLst>
              <a:gd name="adj" fmla="val 2474"/>
            </a:avLst>
          </a:prstGeom>
          <a:solidFill>
            <a:srgbClr val="120E24"/>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0_req_dot0"/>
          <p:cNvSpPr/>
          <p:nvPr/>
        </p:nvSpPr>
        <p:spPr>
          <a:xfrm>
            <a:off x="777240" y="1920240"/>
            <a:ext cx="128016" cy="128016"/>
          </a:xfrm>
          <a:prstGeom prst="ellipse">
            <a:avLst/>
          </a:prstGeom>
          <a:solidFill>
            <a:srgbClr val="FF5F57"/>
          </a:solidFill>
          <a:ln/>
        </p:spPr>
      </p:sp>
      <p:sp>
        <p:nvSpPr>
          <p:cNvPr id="10" name="a0_req_dot1"/>
          <p:cNvSpPr/>
          <p:nvPr/>
        </p:nvSpPr>
        <p:spPr>
          <a:xfrm>
            <a:off x="1005840" y="1920240"/>
            <a:ext cx="128016" cy="128016"/>
          </a:xfrm>
          <a:prstGeom prst="ellipse">
            <a:avLst/>
          </a:prstGeom>
          <a:solidFill>
            <a:srgbClr val="FEBC2E"/>
          </a:solidFill>
          <a:ln/>
        </p:spPr>
      </p:sp>
      <p:sp>
        <p:nvSpPr>
          <p:cNvPr id="11" name="a0_req_dot2"/>
          <p:cNvSpPr/>
          <p:nvPr/>
        </p:nvSpPr>
        <p:spPr>
          <a:xfrm>
            <a:off x="1234440" y="1920240"/>
            <a:ext cx="128016" cy="128016"/>
          </a:xfrm>
          <a:prstGeom prst="ellipse">
            <a:avLst/>
          </a:prstGeom>
          <a:solidFill>
            <a:srgbClr val="28C840"/>
          </a:solidFill>
          <a:ln/>
        </p:spPr>
      </p:sp>
      <p:sp>
        <p:nvSpPr>
          <p:cNvPr id="12" name="a0_req_code"/>
          <p:cNvSpPr txBox="1"/>
          <p:nvPr/>
        </p:nvSpPr>
        <p:spPr>
          <a:xfrm>
            <a:off x="822960" y="2194560"/>
            <a:ext cx="6949440" cy="3840480"/>
          </a:xfrm>
          <a:prstGeom prst="rect">
            <a:avLst/>
          </a:prstGeom>
          <a:noFill/>
          <a:ln/>
        </p:spPr>
        <p:txBody>
          <a:bodyPr wrap="square" lIns="0" tIns="0" rIns="0" bIns="0" rtlCol="0" anchor="t"/>
          <a:lstStyle/>
          <a:p>
            <a:pPr indent="0" marL="0">
              <a:buNone/>
            </a:pPr>
            <a:r>
              <a:rPr lang="en-US" sz="1400" dirty="0">
                <a:solidFill>
                  <a:srgbClr val="FF5C8A"/>
                </a:solidFill>
                <a:latin typeface="Courier New" pitchFamily="34" charset="0"/>
                <a:ea typeface="Courier New" pitchFamily="34" charset="-122"/>
                <a:cs typeface="Courier New" pitchFamily="34" charset="-120"/>
              </a:rPr>
              <a:t>POST</a:t>
            </a:r>
            <a:pPr indent="0" marL="0">
              <a:buNone/>
            </a:pPr>
            <a:r>
              <a:rPr lang="en-US" sz="1400" dirty="0">
                <a:solidFill>
                  <a:srgbClr val="E9E4FF"/>
                </a:solidFill>
                <a:latin typeface="Courier New" pitchFamily="34" charset="0"/>
                <a:ea typeface="Courier New" pitchFamily="34" charset="-122"/>
                <a:cs typeface="Courier New" pitchFamily="34" charset="-120"/>
              </a:rPr>
              <a:t> https://api.groq.com/openai/v1/chat/completions</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Authorization:</a:t>
            </a:r>
            <a:pPr indent="0" marL="0">
              <a:buNone/>
            </a:pPr>
            <a:r>
              <a:rPr lang="en-US" sz="1400" dirty="0">
                <a:solidFill>
                  <a:srgbClr val="E9E4FF"/>
                </a:solidFill>
                <a:latin typeface="Courier New" pitchFamily="34" charset="0"/>
                <a:ea typeface="Courier New" pitchFamily="34" charset="-122"/>
                <a:cs typeface="Courier New" pitchFamily="34" charset="-120"/>
              </a:rPr>
              <a:t> Bearer gsk_••••••••</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Content-Type:</a:t>
            </a:r>
            <a:pPr indent="0" marL="0">
              <a:buNone/>
            </a:pPr>
            <a:r>
              <a:rPr lang="en-US" sz="1400" dirty="0">
                <a:solidFill>
                  <a:srgbClr val="E9E4FF"/>
                </a:solidFill>
                <a:latin typeface="Courier New" pitchFamily="34" charset="0"/>
                <a:ea typeface="Courier New" pitchFamily="34" charset="-122"/>
                <a:cs typeface="Courier New" pitchFamily="34" charset="-120"/>
              </a:rPr>
              <a:t> application/json</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"model"</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FFB547"/>
                </a:solidFill>
                <a:latin typeface="Courier New" pitchFamily="34" charset="0"/>
                <a:ea typeface="Courier New" pitchFamily="34" charset="-122"/>
                <a:cs typeface="Courier New" pitchFamily="34" charset="-120"/>
              </a:rPr>
              <a:t>"llama-3.3-70b-versatile"</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"messages"</a:t>
            </a:r>
            <a:pPr indent="0" marL="0">
              <a:buNone/>
            </a:pPr>
            <a:r>
              <a:rPr lang="en-US" sz="1400" dirty="0">
                <a:solidFill>
                  <a:srgbClr val="E9E4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    { </a:t>
            </a:r>
            <a:pPr indent="0" marL="0">
              <a:buNone/>
            </a:pPr>
            <a:r>
              <a:rPr lang="en-US" sz="1400" dirty="0">
                <a:solidFill>
                  <a:srgbClr val="4FC3F7"/>
                </a:solidFill>
                <a:latin typeface="Courier New" pitchFamily="34" charset="0"/>
                <a:ea typeface="Courier New" pitchFamily="34" charset="-122"/>
                <a:cs typeface="Courier New" pitchFamily="34" charset="-120"/>
              </a:rPr>
              <a:t>"role"</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2EE6A6"/>
                </a:solidFill>
                <a:latin typeface="Courier New" pitchFamily="34" charset="0"/>
                <a:ea typeface="Courier New" pitchFamily="34" charset="-122"/>
                <a:cs typeface="Courier New" pitchFamily="34" charset="-120"/>
              </a:rPr>
              <a:t>"system"</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4FC3F7"/>
                </a:solidFill>
                <a:latin typeface="Courier New" pitchFamily="34" charset="0"/>
                <a:ea typeface="Courier New" pitchFamily="34" charset="-122"/>
                <a:cs typeface="Courier New" pitchFamily="34" charset="-120"/>
              </a:rPr>
              <a:t>"content"</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FFB547"/>
                </a:solidFill>
                <a:latin typeface="Courier New" pitchFamily="34" charset="0"/>
                <a:ea typeface="Courier New" pitchFamily="34" charset="-122"/>
                <a:cs typeface="Courier New" pitchFamily="34" charset="-120"/>
              </a:rPr>
              <a:t>"You are a .NET mentor."</a:t>
            </a:r>
            <a:pPr indent="0" marL="0">
              <a:buNone/>
            </a:pPr>
            <a:r>
              <a:rPr lang="en-US" sz="1400" dirty="0">
                <a:solidFill>
                  <a:srgbClr val="E9E4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    { </a:t>
            </a:r>
            <a:pPr indent="0" marL="0">
              <a:buNone/>
            </a:pPr>
            <a:r>
              <a:rPr lang="en-US" sz="1400" dirty="0">
                <a:solidFill>
                  <a:srgbClr val="4FC3F7"/>
                </a:solidFill>
                <a:latin typeface="Courier New" pitchFamily="34" charset="0"/>
                <a:ea typeface="Courier New" pitchFamily="34" charset="-122"/>
                <a:cs typeface="Courier New" pitchFamily="34" charset="-120"/>
              </a:rPr>
              <a:t>"role"</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2EE6A6"/>
                </a:solidFill>
                <a:latin typeface="Courier New" pitchFamily="34" charset="0"/>
                <a:ea typeface="Courier New" pitchFamily="34" charset="-122"/>
                <a:cs typeface="Courier New" pitchFamily="34" charset="-120"/>
              </a:rPr>
              <a:t>"user"</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4FC3F7"/>
                </a:solidFill>
                <a:latin typeface="Courier New" pitchFamily="34" charset="0"/>
                <a:ea typeface="Courier New" pitchFamily="34" charset="-122"/>
                <a:cs typeface="Courier New" pitchFamily="34" charset="-120"/>
              </a:rPr>
              <a:t>"content"</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FFB547"/>
                </a:solidFill>
                <a:latin typeface="Courier New" pitchFamily="34" charset="0"/>
                <a:ea typeface="Courier New" pitchFamily="34" charset="-122"/>
                <a:cs typeface="Courier New" pitchFamily="34" charset="-120"/>
              </a:rPr>
              <a:t>"What is DI?"</a:t>
            </a:r>
            <a:pPr indent="0" marL="0">
              <a:buNone/>
            </a:pPr>
            <a:r>
              <a:rPr lang="en-US" sz="1400" dirty="0">
                <a:solidFill>
                  <a:srgbClr val="E9E4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"temperature"</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FF5C8A"/>
                </a:solidFill>
                <a:latin typeface="Courier New" pitchFamily="34" charset="0"/>
                <a:ea typeface="Courier New" pitchFamily="34" charset="-122"/>
                <a:cs typeface="Courier New" pitchFamily="34" charset="-120"/>
              </a:rPr>
              <a:t>0.7</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"max_tokens"</a:t>
            </a:r>
            <a:pPr indent="0" marL="0">
              <a:buNone/>
            </a:pPr>
            <a:r>
              <a:rPr lang="en-US" sz="1400" dirty="0">
                <a:solidFill>
                  <a:srgbClr val="E9E4FF"/>
                </a:solidFill>
                <a:latin typeface="Courier New" pitchFamily="34" charset="0"/>
                <a:ea typeface="Courier New" pitchFamily="34" charset="-122"/>
                <a:cs typeface="Courier New" pitchFamily="34" charset="-120"/>
              </a:rPr>
              <a:t>: </a:t>
            </a:r>
            <a:pPr indent="0" marL="0">
              <a:buNone/>
            </a:pPr>
            <a:r>
              <a:rPr lang="en-US" sz="1400" dirty="0">
                <a:solidFill>
                  <a:srgbClr val="FF5C8A"/>
                </a:solidFill>
                <a:latin typeface="Courier New" pitchFamily="34" charset="0"/>
                <a:ea typeface="Courier New" pitchFamily="34" charset="-122"/>
                <a:cs typeface="Courier New" pitchFamily="34" charset="-120"/>
              </a:rPr>
              <a:t>300</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p:txBody>
      </p:sp>
      <p:sp>
        <p:nvSpPr>
          <p:cNvPr id="13" name="a1_cn0"/>
          <p:cNvSpPr/>
          <p:nvPr/>
        </p:nvSpPr>
        <p:spPr>
          <a:xfrm>
            <a:off x="8229600" y="1783080"/>
            <a:ext cx="457200" cy="457200"/>
          </a:xfrm>
          <a:prstGeom prst="ellipse">
            <a:avLst/>
          </a:prstGeom>
          <a:solidFill>
            <a:srgbClr val="FF5C8A"/>
          </a:solidFill>
          <a:ln/>
        </p:spPr>
      </p:sp>
      <p:sp>
        <p:nvSpPr>
          <p:cNvPr id="14" name="a1_cnt0"/>
          <p:cNvSpPr txBox="1"/>
          <p:nvPr/>
        </p:nvSpPr>
        <p:spPr>
          <a:xfrm>
            <a:off x="8229600" y="1783080"/>
            <a:ext cx="457200" cy="457200"/>
          </a:xfrm>
          <a:prstGeom prst="rect">
            <a:avLst/>
          </a:prstGeom>
          <a:noFill/>
          <a:ln/>
        </p:spPr>
        <p:txBody>
          <a:bodyPr wrap="square" lIns="0" tIns="0" rIns="0" bIns="0" rtlCol="0" anchor="ctr"/>
          <a:lstStyle/>
          <a:p>
            <a:pPr algn="ctr" indent="0" marL="0">
              <a:buNone/>
            </a:pPr>
            <a:r>
              <a:rPr lang="en-US" sz="1600" b="1" dirty="0">
                <a:solidFill>
                  <a:srgbClr val="0D0A1A"/>
                </a:solidFill>
                <a:latin typeface="Arial" pitchFamily="34" charset="0"/>
                <a:ea typeface="Arial" pitchFamily="34" charset="-122"/>
                <a:cs typeface="Arial" pitchFamily="34" charset="-120"/>
              </a:rPr>
              <a:t>1</a:t>
            </a:r>
            <a:endParaRPr lang="en-US" sz="1600" dirty="0"/>
          </a:p>
        </p:txBody>
      </p:sp>
      <p:sp>
        <p:nvSpPr>
          <p:cNvPr id="15" name="a1_ct0"/>
          <p:cNvSpPr txBox="1"/>
          <p:nvPr/>
        </p:nvSpPr>
        <p:spPr>
          <a:xfrm>
            <a:off x="8823960" y="1801368"/>
            <a:ext cx="283464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Endpoint + key</a:t>
            </a:r>
            <a:endParaRPr lang="en-US" sz="1700" dirty="0"/>
          </a:p>
        </p:txBody>
      </p:sp>
      <p:sp>
        <p:nvSpPr>
          <p:cNvPr id="16" name="a1_cd0"/>
          <p:cNvSpPr txBox="1"/>
          <p:nvPr/>
        </p:nvSpPr>
        <p:spPr>
          <a:xfrm>
            <a:off x="8823960" y="2167128"/>
            <a:ext cx="2834640" cy="640080"/>
          </a:xfrm>
          <a:prstGeom prst="rect">
            <a:avLst/>
          </a:prstGeom>
          <a:noFill/>
          <a:ln/>
        </p:spPr>
        <p:txBody>
          <a:bodyPr wrap="square" lIns="0" tIns="0" rIns="0" bIns="0" rtlCol="0" anchor="t"/>
          <a:lstStyle/>
          <a:p>
            <a:pPr indent="0" marL="0">
              <a:buNone/>
            </a:pPr>
            <a:r>
              <a:rPr lang="en-US" sz="1300" dirty="0">
                <a:solidFill>
                  <a:srgbClr val="A99BD6"/>
                </a:solidFill>
                <a:latin typeface="Calibri" pitchFamily="34" charset="0"/>
                <a:ea typeface="Calibri" pitchFamily="34" charset="-122"/>
                <a:cs typeface="Calibri" pitchFamily="34" charset="-120"/>
              </a:rPr>
              <a:t>Same for every call. Key goes in the header, never in code.</a:t>
            </a:r>
            <a:endParaRPr lang="en-US" sz="1300" dirty="0"/>
          </a:p>
        </p:txBody>
      </p:sp>
      <p:sp>
        <p:nvSpPr>
          <p:cNvPr id="17" name="a2_cn1"/>
          <p:cNvSpPr/>
          <p:nvPr/>
        </p:nvSpPr>
        <p:spPr>
          <a:xfrm>
            <a:off x="8229600" y="2880360"/>
            <a:ext cx="457200" cy="457200"/>
          </a:xfrm>
          <a:prstGeom prst="ellipse">
            <a:avLst/>
          </a:prstGeom>
          <a:solidFill>
            <a:srgbClr val="FFB547"/>
          </a:solidFill>
          <a:ln/>
        </p:spPr>
      </p:sp>
      <p:sp>
        <p:nvSpPr>
          <p:cNvPr id="18" name="a2_cnt1"/>
          <p:cNvSpPr txBox="1"/>
          <p:nvPr/>
        </p:nvSpPr>
        <p:spPr>
          <a:xfrm>
            <a:off x="8229600" y="2880360"/>
            <a:ext cx="457200" cy="457200"/>
          </a:xfrm>
          <a:prstGeom prst="rect">
            <a:avLst/>
          </a:prstGeom>
          <a:noFill/>
          <a:ln/>
        </p:spPr>
        <p:txBody>
          <a:bodyPr wrap="square" lIns="0" tIns="0" rIns="0" bIns="0" rtlCol="0" anchor="ctr"/>
          <a:lstStyle/>
          <a:p>
            <a:pPr algn="ctr" indent="0" marL="0">
              <a:buNone/>
            </a:pPr>
            <a:r>
              <a:rPr lang="en-US" sz="1600" b="1" dirty="0">
                <a:solidFill>
                  <a:srgbClr val="0D0A1A"/>
                </a:solidFill>
                <a:latin typeface="Arial" pitchFamily="34" charset="0"/>
                <a:ea typeface="Arial" pitchFamily="34" charset="-122"/>
                <a:cs typeface="Arial" pitchFamily="34" charset="-120"/>
              </a:rPr>
              <a:t>2</a:t>
            </a:r>
            <a:endParaRPr lang="en-US" sz="1600" dirty="0"/>
          </a:p>
        </p:txBody>
      </p:sp>
      <p:sp>
        <p:nvSpPr>
          <p:cNvPr id="19" name="a2_ct1"/>
          <p:cNvSpPr txBox="1"/>
          <p:nvPr/>
        </p:nvSpPr>
        <p:spPr>
          <a:xfrm>
            <a:off x="8823960" y="2898648"/>
            <a:ext cx="283464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model</a:t>
            </a:r>
            <a:endParaRPr lang="en-US" sz="1700" dirty="0"/>
          </a:p>
        </p:txBody>
      </p:sp>
      <p:sp>
        <p:nvSpPr>
          <p:cNvPr id="20" name="a2_cd1"/>
          <p:cNvSpPr txBox="1"/>
          <p:nvPr/>
        </p:nvSpPr>
        <p:spPr>
          <a:xfrm>
            <a:off x="8823960" y="3264408"/>
            <a:ext cx="2834640" cy="640080"/>
          </a:xfrm>
          <a:prstGeom prst="rect">
            <a:avLst/>
          </a:prstGeom>
          <a:noFill/>
          <a:ln/>
        </p:spPr>
        <p:txBody>
          <a:bodyPr wrap="square" lIns="0" tIns="0" rIns="0" bIns="0" rtlCol="0" anchor="t"/>
          <a:lstStyle/>
          <a:p>
            <a:pPr indent="0" marL="0">
              <a:buNone/>
            </a:pPr>
            <a:r>
              <a:rPr lang="en-US" sz="1300" dirty="0">
                <a:solidFill>
                  <a:srgbClr val="A99BD6"/>
                </a:solidFill>
                <a:latin typeface="Calibri" pitchFamily="34" charset="0"/>
                <a:ea typeface="Calibri" pitchFamily="34" charset="-122"/>
                <a:cs typeface="Calibri" pitchFamily="34" charset="-120"/>
              </a:rPr>
              <a:t>Which brain. Changing this string changes quality, speed and price.</a:t>
            </a:r>
            <a:endParaRPr lang="en-US" sz="1300" dirty="0"/>
          </a:p>
        </p:txBody>
      </p:sp>
      <p:sp>
        <p:nvSpPr>
          <p:cNvPr id="21" name="a3_cn2"/>
          <p:cNvSpPr/>
          <p:nvPr/>
        </p:nvSpPr>
        <p:spPr>
          <a:xfrm>
            <a:off x="8229600" y="3977640"/>
            <a:ext cx="457200" cy="457200"/>
          </a:xfrm>
          <a:prstGeom prst="ellipse">
            <a:avLst/>
          </a:prstGeom>
          <a:solidFill>
            <a:srgbClr val="2EE6A6"/>
          </a:solidFill>
          <a:ln/>
        </p:spPr>
      </p:sp>
      <p:sp>
        <p:nvSpPr>
          <p:cNvPr id="22" name="a3_cnt2"/>
          <p:cNvSpPr txBox="1"/>
          <p:nvPr/>
        </p:nvSpPr>
        <p:spPr>
          <a:xfrm>
            <a:off x="8229600" y="3977640"/>
            <a:ext cx="457200" cy="457200"/>
          </a:xfrm>
          <a:prstGeom prst="rect">
            <a:avLst/>
          </a:prstGeom>
          <a:noFill/>
          <a:ln/>
        </p:spPr>
        <p:txBody>
          <a:bodyPr wrap="square" lIns="0" tIns="0" rIns="0" bIns="0" rtlCol="0" anchor="ctr"/>
          <a:lstStyle/>
          <a:p>
            <a:pPr algn="ctr" indent="0" marL="0">
              <a:buNone/>
            </a:pPr>
            <a:r>
              <a:rPr lang="en-US" sz="1600" b="1" dirty="0">
                <a:solidFill>
                  <a:srgbClr val="0D0A1A"/>
                </a:solidFill>
                <a:latin typeface="Arial" pitchFamily="34" charset="0"/>
                <a:ea typeface="Arial" pitchFamily="34" charset="-122"/>
                <a:cs typeface="Arial" pitchFamily="34" charset="-120"/>
              </a:rPr>
              <a:t>3</a:t>
            </a:r>
            <a:endParaRPr lang="en-US" sz="1600" dirty="0"/>
          </a:p>
        </p:txBody>
      </p:sp>
      <p:sp>
        <p:nvSpPr>
          <p:cNvPr id="23" name="a3_ct2"/>
          <p:cNvSpPr txBox="1"/>
          <p:nvPr/>
        </p:nvSpPr>
        <p:spPr>
          <a:xfrm>
            <a:off x="8823960" y="3995928"/>
            <a:ext cx="283464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messages</a:t>
            </a:r>
            <a:endParaRPr lang="en-US" sz="1700" dirty="0"/>
          </a:p>
        </p:txBody>
      </p:sp>
      <p:sp>
        <p:nvSpPr>
          <p:cNvPr id="24" name="a3_cd2"/>
          <p:cNvSpPr txBox="1"/>
          <p:nvPr/>
        </p:nvSpPr>
        <p:spPr>
          <a:xfrm>
            <a:off x="8823960" y="4361688"/>
            <a:ext cx="2834640" cy="640080"/>
          </a:xfrm>
          <a:prstGeom prst="rect">
            <a:avLst/>
          </a:prstGeom>
          <a:noFill/>
          <a:ln/>
        </p:spPr>
        <p:txBody>
          <a:bodyPr wrap="square" lIns="0" tIns="0" rIns="0" bIns="0" rtlCol="0" anchor="t"/>
          <a:lstStyle/>
          <a:p>
            <a:pPr indent="0" marL="0">
              <a:buNone/>
            </a:pPr>
            <a:r>
              <a:rPr lang="en-US" sz="1300" dirty="0">
                <a:solidFill>
                  <a:srgbClr val="A99BD6"/>
                </a:solidFill>
                <a:latin typeface="Calibri" pitchFamily="34" charset="0"/>
                <a:ea typeface="Calibri" pitchFamily="34" charset="-122"/>
                <a:cs typeface="Calibri" pitchFamily="34" charset="-120"/>
              </a:rPr>
              <a:t>The whole conversation. system = rules, user = question.</a:t>
            </a:r>
            <a:endParaRPr lang="en-US" sz="1300" dirty="0"/>
          </a:p>
        </p:txBody>
      </p:sp>
      <p:sp>
        <p:nvSpPr>
          <p:cNvPr id="25" name="a4_cn3"/>
          <p:cNvSpPr/>
          <p:nvPr/>
        </p:nvSpPr>
        <p:spPr>
          <a:xfrm>
            <a:off x="8229600" y="5074920"/>
            <a:ext cx="457200" cy="457200"/>
          </a:xfrm>
          <a:prstGeom prst="ellipse">
            <a:avLst/>
          </a:prstGeom>
          <a:solidFill>
            <a:srgbClr val="4FC3F7"/>
          </a:solidFill>
          <a:ln/>
        </p:spPr>
      </p:sp>
      <p:sp>
        <p:nvSpPr>
          <p:cNvPr id="26" name="a4_cnt3"/>
          <p:cNvSpPr txBox="1"/>
          <p:nvPr/>
        </p:nvSpPr>
        <p:spPr>
          <a:xfrm>
            <a:off x="8229600" y="5074920"/>
            <a:ext cx="457200" cy="457200"/>
          </a:xfrm>
          <a:prstGeom prst="rect">
            <a:avLst/>
          </a:prstGeom>
          <a:noFill/>
          <a:ln/>
        </p:spPr>
        <p:txBody>
          <a:bodyPr wrap="square" lIns="0" tIns="0" rIns="0" bIns="0" rtlCol="0" anchor="ctr"/>
          <a:lstStyle/>
          <a:p>
            <a:pPr algn="ctr" indent="0" marL="0">
              <a:buNone/>
            </a:pPr>
            <a:r>
              <a:rPr lang="en-US" sz="1600" b="1" dirty="0">
                <a:solidFill>
                  <a:srgbClr val="0D0A1A"/>
                </a:solidFill>
                <a:latin typeface="Arial" pitchFamily="34" charset="0"/>
                <a:ea typeface="Arial" pitchFamily="34" charset="-122"/>
                <a:cs typeface="Arial" pitchFamily="34" charset="-120"/>
              </a:rPr>
              <a:t>4</a:t>
            </a:r>
            <a:endParaRPr lang="en-US" sz="1600" dirty="0"/>
          </a:p>
        </p:txBody>
      </p:sp>
      <p:sp>
        <p:nvSpPr>
          <p:cNvPr id="27" name="a4_ct3"/>
          <p:cNvSpPr txBox="1"/>
          <p:nvPr/>
        </p:nvSpPr>
        <p:spPr>
          <a:xfrm>
            <a:off x="8823960" y="5093208"/>
            <a:ext cx="283464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knobs</a:t>
            </a:r>
            <a:endParaRPr lang="en-US" sz="1700" dirty="0"/>
          </a:p>
        </p:txBody>
      </p:sp>
      <p:sp>
        <p:nvSpPr>
          <p:cNvPr id="28" name="a4_cd3"/>
          <p:cNvSpPr txBox="1"/>
          <p:nvPr/>
        </p:nvSpPr>
        <p:spPr>
          <a:xfrm>
            <a:off x="8823960" y="5458968"/>
            <a:ext cx="2834640" cy="640080"/>
          </a:xfrm>
          <a:prstGeom prst="rect">
            <a:avLst/>
          </a:prstGeom>
          <a:noFill/>
          <a:ln/>
        </p:spPr>
        <p:txBody>
          <a:bodyPr wrap="square" lIns="0" tIns="0" rIns="0" bIns="0" rtlCol="0" anchor="t"/>
          <a:lstStyle/>
          <a:p>
            <a:pPr indent="0" marL="0">
              <a:buNone/>
            </a:pPr>
            <a:r>
              <a:rPr lang="en-US" sz="1300" dirty="0">
                <a:solidFill>
                  <a:srgbClr val="A99BD6"/>
                </a:solidFill>
                <a:latin typeface="Calibri" pitchFamily="34" charset="0"/>
                <a:ea typeface="Calibri" pitchFamily="34" charset="-122"/>
                <a:cs typeface="Calibri" pitchFamily="34" charset="-120"/>
              </a:rPr>
              <a:t>temperature = creativity · max_tokens = output cap.</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anim calcmode="lin" valueType="num">
                                      <p:cBhvr>
                                        <p:cTn id="6" dur="500" fill="hold"/>
                                        <p:tgtEl>
                                          <p:spTgt spid="13"/>
                                        </p:tgtEl>
                                        <p:attrNameLst>
                                          <p:attrName>ppt_x</p:attrName>
                                        </p:attrNameLst>
                                      </p:cBhvr>
                                      <p:tavLst>
                                        <p:tav tm="0">
                                          <p:val>
                                            <p:strVal val="#ppt_x"/>
                                          </p:val>
                                        </p:tav>
                                        <p:tav tm="100000">
                                          <p:val>
                                            <p:strVal val="#ppt_x"/>
                                          </p:val>
                                        </p:tav>
                                      </p:tavLst>
                                    </p:anim>
                                    <p:anim calcmode="lin" valueType="num">
                                      <p:cBhvr>
                                        <p:cTn id="7" dur="500" decel="100000" fill="hold"/>
                                        <p:tgtEl>
                                          <p:spTgt spid="13"/>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p:cTn id="11" dur="500" fill="hold"/>
                                        <p:tgtEl>
                                          <p:spTgt spid="14"/>
                                        </p:tgtEl>
                                        <p:attrNameLst>
                                          <p:attrName>ppt_x</p:attrName>
                                        </p:attrNameLst>
                                      </p:cBhvr>
                                      <p:tavLst>
                                        <p:tav tm="0">
                                          <p:val>
                                            <p:strVal val="#ppt_x"/>
                                          </p:val>
                                        </p:tav>
                                        <p:tav tm="100000">
                                          <p:val>
                                            <p:strVal val="#ppt_x"/>
                                          </p:val>
                                        </p:tav>
                                      </p:tavLst>
                                    </p:anim>
                                    <p:anim calcmode="lin" valueType="num">
                                      <p:cBhvr>
                                        <p:cTn id="12" dur="500" decel="100000" fill="hold"/>
                                        <p:tgtEl>
                                          <p:spTgt spid="14"/>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anim calcmode="lin" valueType="num">
                                      <p:cBhvr>
                                        <p:cTn id="16" dur="500" fill="hold"/>
                                        <p:tgtEl>
                                          <p:spTgt spid="15"/>
                                        </p:tgtEl>
                                        <p:attrNameLst>
                                          <p:attrName>ppt_x</p:attrName>
                                        </p:attrNameLst>
                                      </p:cBhvr>
                                      <p:tavLst>
                                        <p:tav tm="0">
                                          <p:val>
                                            <p:strVal val="#ppt_x"/>
                                          </p:val>
                                        </p:tav>
                                        <p:tav tm="100000">
                                          <p:val>
                                            <p:strVal val="#ppt_x"/>
                                          </p:val>
                                        </p:tav>
                                      </p:tavLst>
                                    </p:anim>
                                    <p:anim calcmode="lin" valueType="num">
                                      <p:cBhvr>
                                        <p:cTn id="17" dur="500" decel="100000" fill="hold"/>
                                        <p:tgtEl>
                                          <p:spTgt spid="15"/>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anim calcmode="lin" valueType="num">
                                      <p:cBhvr>
                                        <p:cTn id="21" dur="500" fill="hold"/>
                                        <p:tgtEl>
                                          <p:spTgt spid="16"/>
                                        </p:tgtEl>
                                        <p:attrNameLst>
                                          <p:attrName>ppt_x</p:attrName>
                                        </p:attrNameLst>
                                      </p:cBhvr>
                                      <p:tavLst>
                                        <p:tav tm="0">
                                          <p:val>
                                            <p:strVal val="#ppt_x"/>
                                          </p:val>
                                        </p:tav>
                                        <p:tav tm="100000">
                                          <p:val>
                                            <p:strVal val="#ppt_x"/>
                                          </p:val>
                                        </p:tav>
                                      </p:tavLst>
                                    </p:anim>
                                    <p:anim calcmode="lin" valueType="num">
                                      <p:cBhvr>
                                        <p:cTn id="22" dur="5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p:cTn id="28" dur="500" fill="hold"/>
                                        <p:tgtEl>
                                          <p:spTgt spid="17"/>
                                        </p:tgtEl>
                                        <p:attrNameLst>
                                          <p:attrName>ppt_x</p:attrName>
                                        </p:attrNameLst>
                                      </p:cBhvr>
                                      <p:tavLst>
                                        <p:tav tm="0">
                                          <p:val>
                                            <p:strVal val="#ppt_x"/>
                                          </p:val>
                                        </p:tav>
                                        <p:tav tm="100000">
                                          <p:val>
                                            <p:strVal val="#ppt_x"/>
                                          </p:val>
                                        </p:tav>
                                      </p:tavLst>
                                    </p:anim>
                                    <p:anim calcmode="lin" valueType="num">
                                      <p:cBhvr>
                                        <p:cTn id="29" dur="500" decel="100000" fill="hold"/>
                                        <p:tgtEl>
                                          <p:spTgt spid="17"/>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decel="100000" fill="hold"/>
                                        <p:tgtEl>
                                          <p:spTgt spid="18"/>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anim calcmode="lin" valueType="num">
                                      <p:cBhvr>
                                        <p:cTn id="38" dur="500" fill="hold"/>
                                        <p:tgtEl>
                                          <p:spTgt spid="19"/>
                                        </p:tgtEl>
                                        <p:attrNameLst>
                                          <p:attrName>ppt_x</p:attrName>
                                        </p:attrNameLst>
                                      </p:cBhvr>
                                      <p:tavLst>
                                        <p:tav tm="0">
                                          <p:val>
                                            <p:strVal val="#ppt_x"/>
                                          </p:val>
                                        </p:tav>
                                        <p:tav tm="100000">
                                          <p:val>
                                            <p:strVal val="#ppt_x"/>
                                          </p:val>
                                        </p:tav>
                                      </p:tavLst>
                                    </p:anim>
                                    <p:anim calcmode="lin" valueType="num">
                                      <p:cBhvr>
                                        <p:cTn id="39" dur="500" decel="100000" fill="hold"/>
                                        <p:tgtEl>
                                          <p:spTgt spid="19"/>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anim calcmode="lin" valueType="num">
                                      <p:cBhvr>
                                        <p:cTn id="43" dur="500" fill="hold"/>
                                        <p:tgtEl>
                                          <p:spTgt spid="20"/>
                                        </p:tgtEl>
                                        <p:attrNameLst>
                                          <p:attrName>ppt_x</p:attrName>
                                        </p:attrNameLst>
                                      </p:cBhvr>
                                      <p:tavLst>
                                        <p:tav tm="0">
                                          <p:val>
                                            <p:strVal val="#ppt_x"/>
                                          </p:val>
                                        </p:tav>
                                        <p:tav tm="100000">
                                          <p:val>
                                            <p:strVal val="#ppt_x"/>
                                          </p:val>
                                        </p:tav>
                                      </p:tavLst>
                                    </p:anim>
                                    <p:anim calcmode="lin" valueType="num">
                                      <p:cBhvr>
                                        <p:cTn id="44" dur="500" decel="100000" fill="hold"/>
                                        <p:tgtEl>
                                          <p:spTgt spid="20"/>
                                        </p:tgtEl>
                                        <p:attrNameLst>
                                          <p:attrName>ppt_y</p:attrName>
                                        </p:attrNameLst>
                                      </p:cBhvr>
                                      <p:tavLst>
                                        <p:tav tm="0">
                                          <p:val>
                                            <p:strVal val="#ppt_y+.06"/>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anim calcmode="lin" valueType="num">
                                      <p:cBhvr>
                                        <p:cTn id="50" dur="500" fill="hold"/>
                                        <p:tgtEl>
                                          <p:spTgt spid="21"/>
                                        </p:tgtEl>
                                        <p:attrNameLst>
                                          <p:attrName>ppt_x</p:attrName>
                                        </p:attrNameLst>
                                      </p:cBhvr>
                                      <p:tavLst>
                                        <p:tav tm="0">
                                          <p:val>
                                            <p:strVal val="#ppt_x"/>
                                          </p:val>
                                        </p:tav>
                                        <p:tav tm="100000">
                                          <p:val>
                                            <p:strVal val="#ppt_x"/>
                                          </p:val>
                                        </p:tav>
                                      </p:tavLst>
                                    </p:anim>
                                    <p:anim calcmode="lin" valueType="num">
                                      <p:cBhvr>
                                        <p:cTn id="51" dur="500" decel="100000" fill="hold"/>
                                        <p:tgtEl>
                                          <p:spTgt spid="21"/>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anim calcmode="lin" valueType="num">
                                      <p:cBhvr>
                                        <p:cTn id="55" dur="500" fill="hold"/>
                                        <p:tgtEl>
                                          <p:spTgt spid="22"/>
                                        </p:tgtEl>
                                        <p:attrNameLst>
                                          <p:attrName>ppt_x</p:attrName>
                                        </p:attrNameLst>
                                      </p:cBhvr>
                                      <p:tavLst>
                                        <p:tav tm="0">
                                          <p:val>
                                            <p:strVal val="#ppt_x"/>
                                          </p:val>
                                        </p:tav>
                                        <p:tav tm="100000">
                                          <p:val>
                                            <p:strVal val="#ppt_x"/>
                                          </p:val>
                                        </p:tav>
                                      </p:tavLst>
                                    </p:anim>
                                    <p:anim calcmode="lin" valueType="num">
                                      <p:cBhvr>
                                        <p:cTn id="56" dur="500" decel="100000" fill="hold"/>
                                        <p:tgtEl>
                                          <p:spTgt spid="22"/>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anim calcmode="lin" valueType="num">
                                      <p:cBhvr>
                                        <p:cTn id="60" dur="500" fill="hold"/>
                                        <p:tgtEl>
                                          <p:spTgt spid="23"/>
                                        </p:tgtEl>
                                        <p:attrNameLst>
                                          <p:attrName>ppt_x</p:attrName>
                                        </p:attrNameLst>
                                      </p:cBhvr>
                                      <p:tavLst>
                                        <p:tav tm="0">
                                          <p:val>
                                            <p:strVal val="#ppt_x"/>
                                          </p:val>
                                        </p:tav>
                                        <p:tav tm="100000">
                                          <p:val>
                                            <p:strVal val="#ppt_x"/>
                                          </p:val>
                                        </p:tav>
                                      </p:tavLst>
                                    </p:anim>
                                    <p:anim calcmode="lin" valueType="num">
                                      <p:cBhvr>
                                        <p:cTn id="61" dur="500" decel="100000" fill="hold"/>
                                        <p:tgtEl>
                                          <p:spTgt spid="23"/>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anim calcmode="lin" valueType="num">
                                      <p:cBhvr>
                                        <p:cTn id="65" dur="500" fill="hold"/>
                                        <p:tgtEl>
                                          <p:spTgt spid="24"/>
                                        </p:tgtEl>
                                        <p:attrNameLst>
                                          <p:attrName>ppt_x</p:attrName>
                                        </p:attrNameLst>
                                      </p:cBhvr>
                                      <p:tavLst>
                                        <p:tav tm="0">
                                          <p:val>
                                            <p:strVal val="#ppt_x"/>
                                          </p:val>
                                        </p:tav>
                                        <p:tav tm="100000">
                                          <p:val>
                                            <p:strVal val="#ppt_x"/>
                                          </p:val>
                                        </p:tav>
                                      </p:tavLst>
                                    </p:anim>
                                    <p:anim calcmode="lin" valueType="num">
                                      <p:cBhvr>
                                        <p:cTn id="66"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anim calcmode="lin" valueType="num">
                                      <p:cBhvr>
                                        <p:cTn id="72" dur="500" fill="hold"/>
                                        <p:tgtEl>
                                          <p:spTgt spid="25"/>
                                        </p:tgtEl>
                                        <p:attrNameLst>
                                          <p:attrName>ppt_x</p:attrName>
                                        </p:attrNameLst>
                                      </p:cBhvr>
                                      <p:tavLst>
                                        <p:tav tm="0">
                                          <p:val>
                                            <p:strVal val="#ppt_x"/>
                                          </p:val>
                                        </p:tav>
                                        <p:tav tm="100000">
                                          <p:val>
                                            <p:strVal val="#ppt_x"/>
                                          </p:val>
                                        </p:tav>
                                      </p:tavLst>
                                    </p:anim>
                                    <p:anim calcmode="lin" valueType="num">
                                      <p:cBhvr>
                                        <p:cTn id="73" dur="500" decel="100000" fill="hold"/>
                                        <p:tgtEl>
                                          <p:spTgt spid="25"/>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anim calcmode="lin" valueType="num">
                                      <p:cBhvr>
                                        <p:cTn id="77" dur="500" fill="hold"/>
                                        <p:tgtEl>
                                          <p:spTgt spid="26"/>
                                        </p:tgtEl>
                                        <p:attrNameLst>
                                          <p:attrName>ppt_x</p:attrName>
                                        </p:attrNameLst>
                                      </p:cBhvr>
                                      <p:tavLst>
                                        <p:tav tm="0">
                                          <p:val>
                                            <p:strVal val="#ppt_x"/>
                                          </p:val>
                                        </p:tav>
                                        <p:tav tm="100000">
                                          <p:val>
                                            <p:strVal val="#ppt_x"/>
                                          </p:val>
                                        </p:tav>
                                      </p:tavLst>
                                    </p:anim>
                                    <p:anim calcmode="lin" valueType="num">
                                      <p:cBhvr>
                                        <p:cTn id="78" dur="500" decel="100000" fill="hold"/>
                                        <p:tgtEl>
                                          <p:spTgt spid="26"/>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anim calcmode="lin" valueType="num">
                                      <p:cBhvr>
                                        <p:cTn id="82" dur="500" fill="hold"/>
                                        <p:tgtEl>
                                          <p:spTgt spid="27"/>
                                        </p:tgtEl>
                                        <p:attrNameLst>
                                          <p:attrName>ppt_x</p:attrName>
                                        </p:attrNameLst>
                                      </p:cBhvr>
                                      <p:tavLst>
                                        <p:tav tm="0">
                                          <p:val>
                                            <p:strVal val="#ppt_x"/>
                                          </p:val>
                                        </p:tav>
                                        <p:tav tm="100000">
                                          <p:val>
                                            <p:strVal val="#ppt_x"/>
                                          </p:val>
                                        </p:tav>
                                      </p:tavLst>
                                    </p:anim>
                                    <p:anim calcmode="lin" valueType="num">
                                      <p:cBhvr>
                                        <p:cTn id="83" dur="500" decel="100000" fill="hold"/>
                                        <p:tgtEl>
                                          <p:spTgt spid="27"/>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anim calcmode="lin" valueType="num">
                                      <p:cBhvr>
                                        <p:cTn id="87" dur="500" fill="hold"/>
                                        <p:tgtEl>
                                          <p:spTgt spid="28"/>
                                        </p:tgtEl>
                                        <p:attrNameLst>
                                          <p:attrName>ppt_x</p:attrName>
                                        </p:attrNameLst>
                                      </p:cBhvr>
                                      <p:tavLst>
                                        <p:tav tm="0">
                                          <p:val>
                                            <p:strVal val="#ppt_x"/>
                                          </p:val>
                                        </p:tav>
                                        <p:tav tm="100000">
                                          <p:val>
                                            <p:strVal val="#ppt_x"/>
                                          </p:val>
                                        </p:tav>
                                      </p:tavLst>
                                    </p:anim>
                                    <p:anim calcmode="lin" valueType="num">
                                      <p:cBhvr>
                                        <p:cTn id="88" dur="500" decel="100000" fill="hold"/>
                                        <p:tgtEl>
                                          <p:spTgt spid="2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24</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ANATOMY OF A RESPONSE</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What comes back</a:t>
            </a:r>
            <a:endParaRPr lang="en-US" sz="3400" dirty="0"/>
          </a:p>
        </p:txBody>
      </p:sp>
      <p:sp>
        <p:nvSpPr>
          <p:cNvPr id="8" name="a0_res_bg"/>
          <p:cNvSpPr/>
          <p:nvPr/>
        </p:nvSpPr>
        <p:spPr>
          <a:xfrm>
            <a:off x="548640" y="1737360"/>
            <a:ext cx="7406640" cy="4434840"/>
          </a:xfrm>
          <a:prstGeom prst="roundRect">
            <a:avLst>
              <a:gd name="adj" fmla="val 2474"/>
            </a:avLst>
          </a:prstGeom>
          <a:solidFill>
            <a:srgbClr val="120E24"/>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0_res_dot0"/>
          <p:cNvSpPr/>
          <p:nvPr/>
        </p:nvSpPr>
        <p:spPr>
          <a:xfrm>
            <a:off x="777240" y="1920240"/>
            <a:ext cx="128016" cy="128016"/>
          </a:xfrm>
          <a:prstGeom prst="ellipse">
            <a:avLst/>
          </a:prstGeom>
          <a:solidFill>
            <a:srgbClr val="FF5F57"/>
          </a:solidFill>
          <a:ln/>
        </p:spPr>
      </p:sp>
      <p:sp>
        <p:nvSpPr>
          <p:cNvPr id="10" name="a0_res_dot1"/>
          <p:cNvSpPr/>
          <p:nvPr/>
        </p:nvSpPr>
        <p:spPr>
          <a:xfrm>
            <a:off x="1005840" y="1920240"/>
            <a:ext cx="128016" cy="128016"/>
          </a:xfrm>
          <a:prstGeom prst="ellipse">
            <a:avLst/>
          </a:prstGeom>
          <a:solidFill>
            <a:srgbClr val="FEBC2E"/>
          </a:solidFill>
          <a:ln/>
        </p:spPr>
      </p:sp>
      <p:sp>
        <p:nvSpPr>
          <p:cNvPr id="11" name="a0_res_dot2"/>
          <p:cNvSpPr/>
          <p:nvPr/>
        </p:nvSpPr>
        <p:spPr>
          <a:xfrm>
            <a:off x="1234440" y="1920240"/>
            <a:ext cx="128016" cy="128016"/>
          </a:xfrm>
          <a:prstGeom prst="ellipse">
            <a:avLst/>
          </a:prstGeom>
          <a:solidFill>
            <a:srgbClr val="28C840"/>
          </a:solidFill>
          <a:ln/>
        </p:spPr>
      </p:sp>
      <p:sp>
        <p:nvSpPr>
          <p:cNvPr id="12" name="a0_res_code"/>
          <p:cNvSpPr txBox="1"/>
          <p:nvPr/>
        </p:nvSpPr>
        <p:spPr>
          <a:xfrm>
            <a:off x="822960" y="2194560"/>
            <a:ext cx="6949440" cy="3840480"/>
          </a:xfrm>
          <a:prstGeom prst="rect">
            <a:avLst/>
          </a:prstGeom>
          <a:noFill/>
          <a:ln/>
        </p:spPr>
        <p:txBody>
          <a:bodyPr wrap="square" lIns="0" tIns="0" rIns="0" bIns="0" rtlCol="0" anchor="t"/>
          <a:lstStyle/>
          <a:p>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"id"</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B547"/>
                </a:solidFill>
                <a:latin typeface="Courier New" pitchFamily="34" charset="0"/>
                <a:ea typeface="Courier New" pitchFamily="34" charset="-122"/>
                <a:cs typeface="Courier New" pitchFamily="34" charset="-120"/>
              </a:rPr>
              <a:t>"chatcmpl-8f3a…"</a:t>
            </a:r>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"model"</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B547"/>
                </a:solidFill>
                <a:latin typeface="Courier New" pitchFamily="34" charset="0"/>
                <a:ea typeface="Courier New" pitchFamily="34" charset="-122"/>
                <a:cs typeface="Courier New" pitchFamily="34" charset="-120"/>
              </a:rPr>
              <a:t>"llama-3.3-70b-versatile"</a:t>
            </a:r>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"choices"</a:t>
            </a:r>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"message"</a:t>
            </a:r>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"role"</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2EE6A6"/>
                </a:solidFill>
                <a:latin typeface="Courier New" pitchFamily="34" charset="0"/>
                <a:ea typeface="Courier New" pitchFamily="34" charset="-122"/>
                <a:cs typeface="Courier New" pitchFamily="34" charset="-120"/>
              </a:rPr>
              <a:t>"assistant"</a:t>
            </a:r>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"content"</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B547"/>
                </a:solidFill>
                <a:latin typeface="Courier New" pitchFamily="34" charset="0"/>
                <a:ea typeface="Courier New" pitchFamily="34" charset="-122"/>
                <a:cs typeface="Courier New" pitchFamily="34" charset="-120"/>
              </a:rPr>
              <a:t>"DI means your class asks for…"</a:t>
            </a:r>
            <a:endParaRPr lang="en-US" sz="1350" dirty="0"/>
          </a:p>
          <a:p>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"finish_reason"</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2EE6A6"/>
                </a:solidFill>
                <a:latin typeface="Courier New" pitchFamily="34" charset="0"/>
                <a:ea typeface="Courier New" pitchFamily="34" charset="-122"/>
                <a:cs typeface="Courier New" pitchFamily="34" charset="-120"/>
              </a:rPr>
              <a:t>"stop"</a:t>
            </a:r>
            <a:endParaRPr lang="en-US" sz="1350" dirty="0"/>
          </a:p>
          <a:p>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"usage"</a:t>
            </a:r>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"prompt_tokens"</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5C8A"/>
                </a:solidFill>
                <a:latin typeface="Courier New" pitchFamily="34" charset="0"/>
                <a:ea typeface="Courier New" pitchFamily="34" charset="-122"/>
                <a:cs typeface="Courier New" pitchFamily="34" charset="-120"/>
              </a:rPr>
              <a:t>24</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4FC3F7"/>
                </a:solidFill>
                <a:latin typeface="Courier New" pitchFamily="34" charset="0"/>
                <a:ea typeface="Courier New" pitchFamily="34" charset="-122"/>
                <a:cs typeface="Courier New" pitchFamily="34" charset="-120"/>
              </a:rPr>
              <a:t>"completion_tokens"</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5C8A"/>
                </a:solidFill>
                <a:latin typeface="Courier New" pitchFamily="34" charset="0"/>
                <a:ea typeface="Courier New" pitchFamily="34" charset="-122"/>
                <a:cs typeface="Courier New" pitchFamily="34" charset="-120"/>
              </a:rPr>
              <a:t>87</a:t>
            </a:r>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4FC3F7"/>
                </a:solidFill>
                <a:latin typeface="Courier New" pitchFamily="34" charset="0"/>
                <a:ea typeface="Courier New" pitchFamily="34" charset="-122"/>
                <a:cs typeface="Courier New" pitchFamily="34" charset="-120"/>
              </a:rPr>
              <a:t>    "total_tokens"</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5C8A"/>
                </a:solidFill>
                <a:latin typeface="Courier New" pitchFamily="34" charset="0"/>
                <a:ea typeface="Courier New" pitchFamily="34" charset="-122"/>
                <a:cs typeface="Courier New" pitchFamily="34" charset="-120"/>
              </a:rPr>
              <a:t>111</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4FC3F7"/>
                </a:solidFill>
                <a:latin typeface="Courier New" pitchFamily="34" charset="0"/>
                <a:ea typeface="Courier New" pitchFamily="34" charset="-122"/>
                <a:cs typeface="Courier New" pitchFamily="34" charset="-120"/>
              </a:rPr>
              <a:t>"total_time"</a:t>
            </a:r>
            <a:pPr indent="0" marL="0">
              <a:buNone/>
            </a:pPr>
            <a:r>
              <a:rPr lang="en-US" sz="1350" dirty="0">
                <a:solidFill>
                  <a:srgbClr val="E9E4FF"/>
                </a:solidFill>
                <a:latin typeface="Courier New" pitchFamily="34" charset="0"/>
                <a:ea typeface="Courier New" pitchFamily="34" charset="-122"/>
                <a:cs typeface="Courier New" pitchFamily="34" charset="-120"/>
              </a:rPr>
              <a:t>: </a:t>
            </a:r>
            <a:pPr indent="0" marL="0">
              <a:buNone/>
            </a:pPr>
            <a:r>
              <a:rPr lang="en-US" sz="1350" dirty="0">
                <a:solidFill>
                  <a:srgbClr val="FF5C8A"/>
                </a:solidFill>
                <a:latin typeface="Courier New" pitchFamily="34" charset="0"/>
                <a:ea typeface="Courier New" pitchFamily="34" charset="-122"/>
                <a:cs typeface="Courier New" pitchFamily="34" charset="-120"/>
              </a:rPr>
              <a:t>0.21</a:t>
            </a:r>
            <a:endParaRPr lang="en-US" sz="1350" dirty="0"/>
          </a:p>
          <a:p>
            <a:pPr indent="0" marL="0">
              <a:buNone/>
            </a:pPr>
            <a:r>
              <a:rPr lang="en-US" sz="1350" dirty="0">
                <a:solidFill>
                  <a:srgbClr val="E9E4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9E4FF"/>
                </a:solidFill>
                <a:latin typeface="Courier New" pitchFamily="34" charset="0"/>
                <a:ea typeface="Courier New" pitchFamily="34" charset="-122"/>
                <a:cs typeface="Courier New" pitchFamily="34" charset="-120"/>
              </a:rPr>
              <a:t>}</a:t>
            </a:r>
            <a:endParaRPr lang="en-US" sz="1350" dirty="0"/>
          </a:p>
        </p:txBody>
      </p:sp>
      <p:sp>
        <p:nvSpPr>
          <p:cNvPr id="13" name="a1_rc0"/>
          <p:cNvSpPr/>
          <p:nvPr/>
        </p:nvSpPr>
        <p:spPr>
          <a:xfrm>
            <a:off x="8229600" y="1783080"/>
            <a:ext cx="3429000" cy="960120"/>
          </a:xfrm>
          <a:prstGeom prst="roundRect">
            <a:avLst>
              <a:gd name="adj" fmla="val 11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a1_rt0"/>
          <p:cNvSpPr txBox="1"/>
          <p:nvPr/>
        </p:nvSpPr>
        <p:spPr>
          <a:xfrm>
            <a:off x="8458200" y="1892808"/>
            <a:ext cx="3017520" cy="365760"/>
          </a:xfrm>
          <a:prstGeom prst="rect">
            <a:avLst/>
          </a:prstGeom>
          <a:noFill/>
          <a:ln/>
        </p:spPr>
        <p:txBody>
          <a:bodyPr wrap="square" lIns="0" tIns="0" rIns="0" bIns="0" rtlCol="0" anchor="t"/>
          <a:lstStyle/>
          <a:p>
            <a:pPr indent="0" marL="0">
              <a:buNone/>
            </a:pPr>
            <a:r>
              <a:rPr lang="en-US" sz="1700" b="1" dirty="0">
                <a:solidFill>
                  <a:srgbClr val="2EE6A6"/>
                </a:solidFill>
                <a:latin typeface="Arial" pitchFamily="34" charset="0"/>
                <a:ea typeface="Arial" pitchFamily="34" charset="-122"/>
                <a:cs typeface="Arial" pitchFamily="34" charset="-120"/>
              </a:rPr>
              <a:t>The answer</a:t>
            </a:r>
            <a:endParaRPr lang="en-US" sz="1700" dirty="0"/>
          </a:p>
        </p:txBody>
      </p:sp>
      <p:sp>
        <p:nvSpPr>
          <p:cNvPr id="15" name="a1_rd0"/>
          <p:cNvSpPr txBox="1"/>
          <p:nvPr/>
        </p:nvSpPr>
        <p:spPr>
          <a:xfrm>
            <a:off x="8458200" y="2258568"/>
            <a:ext cx="3108960" cy="411480"/>
          </a:xfrm>
          <a:prstGeom prst="rect">
            <a:avLst/>
          </a:prstGeom>
          <a:noFill/>
          <a:ln/>
        </p:spPr>
        <p:txBody>
          <a:bodyPr wrap="square" lIns="0" tIns="0" rIns="0" bIns="0" rtlCol="0" anchor="t"/>
          <a:lstStyle/>
          <a:p>
            <a:pPr indent="0" marL="0">
              <a:buNone/>
            </a:pPr>
            <a:r>
              <a:rPr lang="en-US" sz="1150" dirty="0">
                <a:solidFill>
                  <a:srgbClr val="E9E4FF"/>
                </a:solidFill>
                <a:latin typeface="Courier New" pitchFamily="34" charset="0"/>
                <a:ea typeface="Courier New" pitchFamily="34" charset="-122"/>
                <a:cs typeface="Courier New" pitchFamily="34" charset="-120"/>
              </a:rPr>
              <a:t>choices[0].message.content</a:t>
            </a:r>
            <a:endParaRPr lang="en-US" sz="1150" dirty="0"/>
          </a:p>
        </p:txBody>
      </p:sp>
      <p:sp>
        <p:nvSpPr>
          <p:cNvPr id="16" name="a2_rc1"/>
          <p:cNvSpPr/>
          <p:nvPr/>
        </p:nvSpPr>
        <p:spPr>
          <a:xfrm>
            <a:off x="8229600" y="2880360"/>
            <a:ext cx="3429000" cy="960120"/>
          </a:xfrm>
          <a:prstGeom prst="roundRect">
            <a:avLst>
              <a:gd name="adj" fmla="val 11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7" name="a2_rt1"/>
          <p:cNvSpPr txBox="1"/>
          <p:nvPr/>
        </p:nvSpPr>
        <p:spPr>
          <a:xfrm>
            <a:off x="8458200" y="2990088"/>
            <a:ext cx="3017520" cy="365760"/>
          </a:xfrm>
          <a:prstGeom prst="rect">
            <a:avLst/>
          </a:prstGeom>
          <a:noFill/>
          <a:ln/>
        </p:spPr>
        <p:txBody>
          <a:bodyPr wrap="square" lIns="0" tIns="0" rIns="0" bIns="0" rtlCol="0" anchor="t"/>
          <a:lstStyle/>
          <a:p>
            <a:pPr indent="0" marL="0">
              <a:buNone/>
            </a:pPr>
            <a:r>
              <a:rPr lang="en-US" sz="1700" b="1" dirty="0">
                <a:solidFill>
                  <a:srgbClr val="FFB547"/>
                </a:solidFill>
                <a:latin typeface="Arial" pitchFamily="34" charset="0"/>
                <a:ea typeface="Arial" pitchFamily="34" charset="-122"/>
                <a:cs typeface="Arial" pitchFamily="34" charset="-120"/>
              </a:rPr>
              <a:t>Did it finish?</a:t>
            </a:r>
            <a:endParaRPr lang="en-US" sz="1700" dirty="0"/>
          </a:p>
        </p:txBody>
      </p:sp>
      <p:sp>
        <p:nvSpPr>
          <p:cNvPr id="18" name="a2_rd1"/>
          <p:cNvSpPr txBox="1"/>
          <p:nvPr/>
        </p:nvSpPr>
        <p:spPr>
          <a:xfrm>
            <a:off x="8458200" y="3355848"/>
            <a:ext cx="3108960" cy="411480"/>
          </a:xfrm>
          <a:prstGeom prst="rect">
            <a:avLst/>
          </a:prstGeom>
          <a:noFill/>
          <a:ln/>
        </p:spPr>
        <p:txBody>
          <a:bodyPr wrap="square" lIns="0" tIns="0" rIns="0" bIns="0" rtlCol="0" anchor="t"/>
          <a:lstStyle/>
          <a:p>
            <a:pPr indent="0" marL="0">
              <a:buNone/>
            </a:pPr>
            <a:r>
              <a:rPr lang="en-US" sz="1150" dirty="0">
                <a:solidFill>
                  <a:srgbClr val="E9E4FF"/>
                </a:solidFill>
                <a:latin typeface="Courier New" pitchFamily="34" charset="0"/>
                <a:ea typeface="Courier New" pitchFamily="34" charset="-122"/>
                <a:cs typeface="Courier New" pitchFamily="34" charset="-120"/>
              </a:rPr>
              <a:t>finish_reason: stop ✓ · length ✗ (cut off)</a:t>
            </a:r>
            <a:endParaRPr lang="en-US" sz="1150" dirty="0"/>
          </a:p>
        </p:txBody>
      </p:sp>
      <p:sp>
        <p:nvSpPr>
          <p:cNvPr id="19" name="a3_rc2"/>
          <p:cNvSpPr/>
          <p:nvPr/>
        </p:nvSpPr>
        <p:spPr>
          <a:xfrm>
            <a:off x="8229600" y="3977640"/>
            <a:ext cx="3429000" cy="960120"/>
          </a:xfrm>
          <a:prstGeom prst="roundRect">
            <a:avLst>
              <a:gd name="adj" fmla="val 11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0" name="a3_rt2"/>
          <p:cNvSpPr txBox="1"/>
          <p:nvPr/>
        </p:nvSpPr>
        <p:spPr>
          <a:xfrm>
            <a:off x="8458200" y="4087368"/>
            <a:ext cx="3017520" cy="365760"/>
          </a:xfrm>
          <a:prstGeom prst="rect">
            <a:avLst/>
          </a:prstGeom>
          <a:noFill/>
          <a:ln/>
        </p:spPr>
        <p:txBody>
          <a:bodyPr wrap="square" lIns="0" tIns="0" rIns="0" bIns="0" rtlCol="0" anchor="t"/>
          <a:lstStyle/>
          <a:p>
            <a:pPr indent="0" marL="0">
              <a:buNone/>
            </a:pPr>
            <a:r>
              <a:rPr lang="en-US" sz="1700" b="1" dirty="0">
                <a:solidFill>
                  <a:srgbClr val="FF5C8A"/>
                </a:solidFill>
                <a:latin typeface="Arial" pitchFamily="34" charset="0"/>
                <a:ea typeface="Arial" pitchFamily="34" charset="-122"/>
                <a:cs typeface="Arial" pitchFamily="34" charset="-120"/>
              </a:rPr>
              <a:t>The bill</a:t>
            </a:r>
            <a:endParaRPr lang="en-US" sz="1700" dirty="0"/>
          </a:p>
        </p:txBody>
      </p:sp>
      <p:sp>
        <p:nvSpPr>
          <p:cNvPr id="21" name="a3_rd2"/>
          <p:cNvSpPr txBox="1"/>
          <p:nvPr/>
        </p:nvSpPr>
        <p:spPr>
          <a:xfrm>
            <a:off x="8458200" y="4453128"/>
            <a:ext cx="3108960" cy="411480"/>
          </a:xfrm>
          <a:prstGeom prst="rect">
            <a:avLst/>
          </a:prstGeom>
          <a:noFill/>
          <a:ln/>
        </p:spPr>
        <p:txBody>
          <a:bodyPr wrap="square" lIns="0" tIns="0" rIns="0" bIns="0" rtlCol="0" anchor="t"/>
          <a:lstStyle/>
          <a:p>
            <a:pPr indent="0" marL="0">
              <a:buNone/>
            </a:pPr>
            <a:r>
              <a:rPr lang="en-US" sz="1150" dirty="0">
                <a:solidFill>
                  <a:srgbClr val="E9E4FF"/>
                </a:solidFill>
                <a:latin typeface="Courier New" pitchFamily="34" charset="0"/>
                <a:ea typeface="Courier New" pitchFamily="34" charset="-122"/>
                <a:cs typeface="Courier New" pitchFamily="34" charset="-120"/>
              </a:rPr>
              <a:t>usage: log this on every call</a:t>
            </a:r>
            <a:endParaRPr lang="en-US" sz="1150" dirty="0"/>
          </a:p>
        </p:txBody>
      </p:sp>
      <p:sp>
        <p:nvSpPr>
          <p:cNvPr id="22" name="a4_rc3"/>
          <p:cNvSpPr/>
          <p:nvPr/>
        </p:nvSpPr>
        <p:spPr>
          <a:xfrm>
            <a:off x="8229600" y="5074920"/>
            <a:ext cx="3429000" cy="960120"/>
          </a:xfrm>
          <a:prstGeom prst="roundRect">
            <a:avLst>
              <a:gd name="adj" fmla="val 11429"/>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3" name="a4_rt3"/>
          <p:cNvSpPr txBox="1"/>
          <p:nvPr/>
        </p:nvSpPr>
        <p:spPr>
          <a:xfrm>
            <a:off x="8458200" y="5184648"/>
            <a:ext cx="3017520" cy="365760"/>
          </a:xfrm>
          <a:prstGeom prst="rect">
            <a:avLst/>
          </a:prstGeom>
          <a:noFill/>
          <a:ln/>
        </p:spPr>
        <p:txBody>
          <a:bodyPr wrap="square" lIns="0" tIns="0" rIns="0" bIns="0" rtlCol="0" anchor="t"/>
          <a:lstStyle/>
          <a:p>
            <a:pPr indent="0" marL="0">
              <a:buNone/>
            </a:pPr>
            <a:r>
              <a:rPr lang="en-US" sz="1700" b="1" dirty="0">
                <a:solidFill>
                  <a:srgbClr val="4FC3F7"/>
                </a:solidFill>
                <a:latin typeface="Arial" pitchFamily="34" charset="0"/>
                <a:ea typeface="Arial" pitchFamily="34" charset="-122"/>
                <a:cs typeface="Arial" pitchFamily="34" charset="-120"/>
              </a:rPr>
              <a:t>Traceability</a:t>
            </a:r>
            <a:endParaRPr lang="en-US" sz="1700" dirty="0"/>
          </a:p>
        </p:txBody>
      </p:sp>
      <p:sp>
        <p:nvSpPr>
          <p:cNvPr id="24" name="a4_rd3"/>
          <p:cNvSpPr txBox="1"/>
          <p:nvPr/>
        </p:nvSpPr>
        <p:spPr>
          <a:xfrm>
            <a:off x="8458200" y="5550408"/>
            <a:ext cx="3108960" cy="411480"/>
          </a:xfrm>
          <a:prstGeom prst="rect">
            <a:avLst/>
          </a:prstGeom>
          <a:noFill/>
          <a:ln/>
        </p:spPr>
        <p:txBody>
          <a:bodyPr wrap="square" lIns="0" tIns="0" rIns="0" bIns="0" rtlCol="0" anchor="t"/>
          <a:lstStyle/>
          <a:p>
            <a:pPr indent="0" marL="0">
              <a:buNone/>
            </a:pPr>
            <a:r>
              <a:rPr lang="en-US" sz="1150" dirty="0">
                <a:solidFill>
                  <a:srgbClr val="E9E4FF"/>
                </a:solidFill>
                <a:latin typeface="Courier New" pitchFamily="34" charset="0"/>
                <a:ea typeface="Courier New" pitchFamily="34" charset="-122"/>
                <a:cs typeface="Courier New" pitchFamily="34" charset="-120"/>
              </a:rPr>
              <a:t>id: store it for support &amp; debugging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anim calcmode="lin" valueType="num">
                                      <p:cBhvr>
                                        <p:cTn id="6" dur="500" fill="hold"/>
                                        <p:tgtEl>
                                          <p:spTgt spid="13"/>
                                        </p:tgtEl>
                                        <p:attrNameLst>
                                          <p:attrName>ppt_x</p:attrName>
                                        </p:attrNameLst>
                                      </p:cBhvr>
                                      <p:tavLst>
                                        <p:tav tm="0">
                                          <p:val>
                                            <p:strVal val="#ppt_x"/>
                                          </p:val>
                                        </p:tav>
                                        <p:tav tm="100000">
                                          <p:val>
                                            <p:strVal val="#ppt_x"/>
                                          </p:val>
                                        </p:tav>
                                      </p:tavLst>
                                    </p:anim>
                                    <p:anim calcmode="lin" valueType="num">
                                      <p:cBhvr>
                                        <p:cTn id="7" dur="500" decel="100000" fill="hold"/>
                                        <p:tgtEl>
                                          <p:spTgt spid="13"/>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p:cTn id="11" dur="500" fill="hold"/>
                                        <p:tgtEl>
                                          <p:spTgt spid="14"/>
                                        </p:tgtEl>
                                        <p:attrNameLst>
                                          <p:attrName>ppt_x</p:attrName>
                                        </p:attrNameLst>
                                      </p:cBhvr>
                                      <p:tavLst>
                                        <p:tav tm="0">
                                          <p:val>
                                            <p:strVal val="#ppt_x"/>
                                          </p:val>
                                        </p:tav>
                                        <p:tav tm="100000">
                                          <p:val>
                                            <p:strVal val="#ppt_x"/>
                                          </p:val>
                                        </p:tav>
                                      </p:tavLst>
                                    </p:anim>
                                    <p:anim calcmode="lin" valueType="num">
                                      <p:cBhvr>
                                        <p:cTn id="12" dur="500" decel="100000" fill="hold"/>
                                        <p:tgtEl>
                                          <p:spTgt spid="14"/>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anim calcmode="lin" valueType="num">
                                      <p:cBhvr>
                                        <p:cTn id="16" dur="500" fill="hold"/>
                                        <p:tgtEl>
                                          <p:spTgt spid="15"/>
                                        </p:tgtEl>
                                        <p:attrNameLst>
                                          <p:attrName>ppt_x</p:attrName>
                                        </p:attrNameLst>
                                      </p:cBhvr>
                                      <p:tavLst>
                                        <p:tav tm="0">
                                          <p:val>
                                            <p:strVal val="#ppt_x"/>
                                          </p:val>
                                        </p:tav>
                                        <p:tav tm="100000">
                                          <p:val>
                                            <p:strVal val="#ppt_x"/>
                                          </p:val>
                                        </p:tav>
                                      </p:tavLst>
                                    </p:anim>
                                    <p:anim calcmode="lin" valueType="num">
                                      <p:cBhvr>
                                        <p:cTn id="17"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p:cTn id="23" dur="500" fill="hold"/>
                                        <p:tgtEl>
                                          <p:spTgt spid="16"/>
                                        </p:tgtEl>
                                        <p:attrNameLst>
                                          <p:attrName>ppt_x</p:attrName>
                                        </p:attrNameLst>
                                      </p:cBhvr>
                                      <p:tavLst>
                                        <p:tav tm="0">
                                          <p:val>
                                            <p:strVal val="#ppt_x"/>
                                          </p:val>
                                        </p:tav>
                                        <p:tav tm="100000">
                                          <p:val>
                                            <p:strVal val="#ppt_x"/>
                                          </p:val>
                                        </p:tav>
                                      </p:tavLst>
                                    </p:anim>
                                    <p:anim calcmode="lin" valueType="num">
                                      <p:cBhvr>
                                        <p:cTn id="24" dur="500" decel="100000" fill="hold"/>
                                        <p:tgtEl>
                                          <p:spTgt spid="16"/>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p:cTn id="28" dur="500" fill="hold"/>
                                        <p:tgtEl>
                                          <p:spTgt spid="17"/>
                                        </p:tgtEl>
                                        <p:attrNameLst>
                                          <p:attrName>ppt_x</p:attrName>
                                        </p:attrNameLst>
                                      </p:cBhvr>
                                      <p:tavLst>
                                        <p:tav tm="0">
                                          <p:val>
                                            <p:strVal val="#ppt_x"/>
                                          </p:val>
                                        </p:tav>
                                        <p:tav tm="100000">
                                          <p:val>
                                            <p:strVal val="#ppt_x"/>
                                          </p:val>
                                        </p:tav>
                                      </p:tavLst>
                                    </p:anim>
                                    <p:anim calcmode="lin" valueType="num">
                                      <p:cBhvr>
                                        <p:cTn id="29" dur="500" decel="100000" fill="hold"/>
                                        <p:tgtEl>
                                          <p:spTgt spid="17"/>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decel="100000" fill="hold"/>
                                        <p:tgtEl>
                                          <p:spTgt spid="18"/>
                                        </p:tgtEl>
                                        <p:attrNameLst>
                                          <p:attrName>ppt_y</p:attrName>
                                        </p:attrNameLst>
                                      </p:cBhvr>
                                      <p:tavLst>
                                        <p:tav tm="0">
                                          <p:val>
                                            <p:strVal val="#ppt_y+.06"/>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decel="100000" fill="hold"/>
                                        <p:tgtEl>
                                          <p:spTgt spid="19"/>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anim calcmode="lin" valueType="num">
                                      <p:cBhvr>
                                        <p:cTn id="45" dur="500" fill="hold"/>
                                        <p:tgtEl>
                                          <p:spTgt spid="20"/>
                                        </p:tgtEl>
                                        <p:attrNameLst>
                                          <p:attrName>ppt_x</p:attrName>
                                        </p:attrNameLst>
                                      </p:cBhvr>
                                      <p:tavLst>
                                        <p:tav tm="0">
                                          <p:val>
                                            <p:strVal val="#ppt_x"/>
                                          </p:val>
                                        </p:tav>
                                        <p:tav tm="100000">
                                          <p:val>
                                            <p:strVal val="#ppt_x"/>
                                          </p:val>
                                        </p:tav>
                                      </p:tavLst>
                                    </p:anim>
                                    <p:anim calcmode="lin" valueType="num">
                                      <p:cBhvr>
                                        <p:cTn id="46" dur="500" decel="100000" fill="hold"/>
                                        <p:tgtEl>
                                          <p:spTgt spid="20"/>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anim calcmode="lin" valueType="num">
                                      <p:cBhvr>
                                        <p:cTn id="50" dur="500" fill="hold"/>
                                        <p:tgtEl>
                                          <p:spTgt spid="21"/>
                                        </p:tgtEl>
                                        <p:attrNameLst>
                                          <p:attrName>ppt_x</p:attrName>
                                        </p:attrNameLst>
                                      </p:cBhvr>
                                      <p:tavLst>
                                        <p:tav tm="0">
                                          <p:val>
                                            <p:strVal val="#ppt_x"/>
                                          </p:val>
                                        </p:tav>
                                        <p:tav tm="100000">
                                          <p:val>
                                            <p:strVal val="#ppt_x"/>
                                          </p:val>
                                        </p:tav>
                                      </p:tavLst>
                                    </p:anim>
                                    <p:anim calcmode="lin" valueType="num">
                                      <p:cBhvr>
                                        <p:cTn id="51" dur="500" decel="100000" fill="hold"/>
                                        <p:tgtEl>
                                          <p:spTgt spid="21"/>
                                        </p:tgtEl>
                                        <p:attrNameLst>
                                          <p:attrName>ppt_y</p:attrName>
                                        </p:attrNameLst>
                                      </p:cBhvr>
                                      <p:tavLst>
                                        <p:tav tm="0">
                                          <p:val>
                                            <p:strVal val="#ppt_y+.06"/>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anim calcmode="lin" valueType="num">
                                      <p:cBhvr>
                                        <p:cTn id="57" dur="500" fill="hold"/>
                                        <p:tgtEl>
                                          <p:spTgt spid="22"/>
                                        </p:tgtEl>
                                        <p:attrNameLst>
                                          <p:attrName>ppt_x</p:attrName>
                                        </p:attrNameLst>
                                      </p:cBhvr>
                                      <p:tavLst>
                                        <p:tav tm="0">
                                          <p:val>
                                            <p:strVal val="#ppt_x"/>
                                          </p:val>
                                        </p:tav>
                                        <p:tav tm="100000">
                                          <p:val>
                                            <p:strVal val="#ppt_x"/>
                                          </p:val>
                                        </p:tav>
                                      </p:tavLst>
                                    </p:anim>
                                    <p:anim calcmode="lin" valueType="num">
                                      <p:cBhvr>
                                        <p:cTn id="58" dur="500" decel="100000" fill="hold"/>
                                        <p:tgtEl>
                                          <p:spTgt spid="22"/>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anim calcmode="lin" valueType="num">
                                      <p:cBhvr>
                                        <p:cTn id="62" dur="500" fill="hold"/>
                                        <p:tgtEl>
                                          <p:spTgt spid="23"/>
                                        </p:tgtEl>
                                        <p:attrNameLst>
                                          <p:attrName>ppt_x</p:attrName>
                                        </p:attrNameLst>
                                      </p:cBhvr>
                                      <p:tavLst>
                                        <p:tav tm="0">
                                          <p:val>
                                            <p:strVal val="#ppt_x"/>
                                          </p:val>
                                        </p:tav>
                                        <p:tav tm="100000">
                                          <p:val>
                                            <p:strVal val="#ppt_x"/>
                                          </p:val>
                                        </p:tav>
                                      </p:tavLst>
                                    </p:anim>
                                    <p:anim calcmode="lin" valueType="num">
                                      <p:cBhvr>
                                        <p:cTn id="63" dur="500" decel="100000" fill="hold"/>
                                        <p:tgtEl>
                                          <p:spTgt spid="23"/>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anim calcmode="lin" valueType="num">
                                      <p:cBhvr>
                                        <p:cTn id="67" dur="500" fill="hold"/>
                                        <p:tgtEl>
                                          <p:spTgt spid="24"/>
                                        </p:tgtEl>
                                        <p:attrNameLst>
                                          <p:attrName>ppt_x</p:attrName>
                                        </p:attrNameLst>
                                      </p:cBhvr>
                                      <p:tavLst>
                                        <p:tav tm="0">
                                          <p:val>
                                            <p:strVal val="#ppt_x"/>
                                          </p:val>
                                        </p:tav>
                                        <p:tav tm="100000">
                                          <p:val>
                                            <p:strVal val="#ppt_x"/>
                                          </p:val>
                                        </p:tav>
                                      </p:tavLst>
                                    </p:anim>
                                    <p:anim calcmode="lin" valueType="num">
                                      <p:cBhvr>
                                        <p:cTn id="68"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25</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THE WHOLE INTEGRATION</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12 lines of C#. No SDK.</a:t>
            </a:r>
            <a:endParaRPr lang="en-US" sz="3400" dirty="0"/>
          </a:p>
        </p:txBody>
      </p:sp>
      <p:sp>
        <p:nvSpPr>
          <p:cNvPr id="8" name="a0_cs_bg"/>
          <p:cNvSpPr/>
          <p:nvPr/>
        </p:nvSpPr>
        <p:spPr>
          <a:xfrm>
            <a:off x="548640" y="1691640"/>
            <a:ext cx="11091672" cy="4069080"/>
          </a:xfrm>
          <a:prstGeom prst="roundRect">
            <a:avLst>
              <a:gd name="adj" fmla="val 2697"/>
            </a:avLst>
          </a:prstGeom>
          <a:solidFill>
            <a:srgbClr val="120E24"/>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0_cs_dot0"/>
          <p:cNvSpPr/>
          <p:nvPr/>
        </p:nvSpPr>
        <p:spPr>
          <a:xfrm>
            <a:off x="777240" y="1874520"/>
            <a:ext cx="128016" cy="128016"/>
          </a:xfrm>
          <a:prstGeom prst="ellipse">
            <a:avLst/>
          </a:prstGeom>
          <a:solidFill>
            <a:srgbClr val="FF5F57"/>
          </a:solidFill>
          <a:ln/>
        </p:spPr>
      </p:sp>
      <p:sp>
        <p:nvSpPr>
          <p:cNvPr id="10" name="a0_cs_dot1"/>
          <p:cNvSpPr/>
          <p:nvPr/>
        </p:nvSpPr>
        <p:spPr>
          <a:xfrm>
            <a:off x="1005840" y="1874520"/>
            <a:ext cx="128016" cy="128016"/>
          </a:xfrm>
          <a:prstGeom prst="ellipse">
            <a:avLst/>
          </a:prstGeom>
          <a:solidFill>
            <a:srgbClr val="FEBC2E"/>
          </a:solidFill>
          <a:ln/>
        </p:spPr>
      </p:sp>
      <p:sp>
        <p:nvSpPr>
          <p:cNvPr id="11" name="a0_cs_dot2"/>
          <p:cNvSpPr/>
          <p:nvPr/>
        </p:nvSpPr>
        <p:spPr>
          <a:xfrm>
            <a:off x="1234440" y="1874520"/>
            <a:ext cx="128016" cy="128016"/>
          </a:xfrm>
          <a:prstGeom prst="ellipse">
            <a:avLst/>
          </a:prstGeom>
          <a:solidFill>
            <a:srgbClr val="28C840"/>
          </a:solidFill>
          <a:ln/>
        </p:spPr>
      </p:sp>
      <p:sp>
        <p:nvSpPr>
          <p:cNvPr id="12" name="a0_cs_code"/>
          <p:cNvSpPr txBox="1"/>
          <p:nvPr/>
        </p:nvSpPr>
        <p:spPr>
          <a:xfrm>
            <a:off x="822960" y="2148840"/>
            <a:ext cx="10634472" cy="3474720"/>
          </a:xfrm>
          <a:prstGeom prst="rect">
            <a:avLst/>
          </a:prstGeom>
          <a:noFill/>
          <a:ln/>
        </p:spPr>
        <p:txBody>
          <a:bodyPr wrap="square" lIns="0" tIns="0" rIns="0" bIns="0" rtlCol="0" anchor="t"/>
          <a:lstStyle/>
          <a:p>
            <a:pPr indent="0" marL="0">
              <a:buNone/>
            </a:pPr>
            <a:r>
              <a:rPr lang="en-US" sz="1400" dirty="0">
                <a:solidFill>
                  <a:srgbClr val="4FC3F7"/>
                </a:solidFill>
                <a:latin typeface="Courier New" pitchFamily="34" charset="0"/>
                <a:ea typeface="Courier New" pitchFamily="34" charset="-122"/>
                <a:cs typeface="Courier New" pitchFamily="34" charset="-120"/>
              </a:rPr>
              <a:t>using var</a:t>
            </a:r>
            <a:pPr indent="0" marL="0">
              <a:buNone/>
            </a:pPr>
            <a:r>
              <a:rPr lang="en-US" sz="1400" dirty="0">
                <a:solidFill>
                  <a:srgbClr val="E9E4FF"/>
                </a:solidFill>
                <a:latin typeface="Courier New" pitchFamily="34" charset="0"/>
                <a:ea typeface="Courier New" pitchFamily="34" charset="-122"/>
                <a:cs typeface="Courier New" pitchFamily="34" charset="-120"/>
              </a:rPr>
              <a:t> http = </a:t>
            </a:r>
            <a:pPr indent="0" marL="0">
              <a:buNone/>
            </a:pPr>
            <a:r>
              <a:rPr lang="en-US" sz="1400" dirty="0">
                <a:solidFill>
                  <a:srgbClr val="4FC3F7"/>
                </a:solidFill>
                <a:latin typeface="Courier New" pitchFamily="34" charset="0"/>
                <a:ea typeface="Courier New" pitchFamily="34" charset="-122"/>
                <a:cs typeface="Courier New" pitchFamily="34" charset="-120"/>
              </a:rPr>
              <a:t>new</a:t>
            </a:r>
            <a:pPr indent="0" marL="0">
              <a:buNone/>
            </a:pPr>
            <a:r>
              <a:rPr lang="en-US" sz="1400" dirty="0">
                <a:solidFill>
                  <a:srgbClr val="2EE6A6"/>
                </a:solidFill>
                <a:latin typeface="Courier New" pitchFamily="34" charset="0"/>
                <a:ea typeface="Courier New" pitchFamily="34" charset="-122"/>
                <a:cs typeface="Courier New" pitchFamily="34" charset="-120"/>
              </a:rPr>
              <a:t> HttpClient</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http.DefaultRequestHeaders.Authorization =</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new</a:t>
            </a:r>
            <a:pPr indent="0" marL="0">
              <a:buNone/>
            </a:pPr>
            <a:r>
              <a:rPr lang="en-US" sz="1400" dirty="0">
                <a:solidFill>
                  <a:srgbClr val="2EE6A6"/>
                </a:solidFill>
                <a:latin typeface="Courier New" pitchFamily="34" charset="0"/>
                <a:ea typeface="Courier New" pitchFamily="34" charset="-122"/>
                <a:cs typeface="Courier New" pitchFamily="34" charset="-120"/>
              </a:rPr>
              <a:t> AuthenticationHeaderValue</a:t>
            </a:r>
            <a:pPr indent="0" marL="0">
              <a:buNone/>
            </a:pPr>
            <a:r>
              <a:rPr lang="en-US" sz="1400" dirty="0">
                <a:solidFill>
                  <a:srgbClr val="E9E4FF"/>
                </a:solidFill>
                <a:latin typeface="Courier New" pitchFamily="34" charset="0"/>
                <a:ea typeface="Courier New" pitchFamily="34" charset="-122"/>
                <a:cs typeface="Courier New" pitchFamily="34" charset="-120"/>
              </a:rPr>
              <a:t>(</a:t>
            </a:r>
            <a:pPr indent="0" marL="0">
              <a:buNone/>
            </a:pPr>
            <a:r>
              <a:rPr lang="en-US" sz="1400" dirty="0">
                <a:solidFill>
                  <a:srgbClr val="FFB547"/>
                </a:solidFill>
                <a:latin typeface="Courier New" pitchFamily="34" charset="0"/>
                <a:ea typeface="Courier New" pitchFamily="34" charset="-122"/>
                <a:cs typeface="Courier New" pitchFamily="34" charset="-120"/>
              </a:rPr>
              <a:t>"Bearer"</a:t>
            </a:r>
            <a:pPr indent="0" marL="0">
              <a:buNone/>
            </a:pPr>
            <a:r>
              <a:rPr lang="en-US" sz="1400" dirty="0">
                <a:solidFill>
                  <a:srgbClr val="E9E4FF"/>
                </a:solidFill>
                <a:latin typeface="Courier New" pitchFamily="34" charset="0"/>
                <a:ea typeface="Courier New" pitchFamily="34" charset="-122"/>
                <a:cs typeface="Courier New" pitchFamily="34" charset="-120"/>
              </a:rPr>
              <a:t>, apiKey);</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var</a:t>
            </a:r>
            <a:pPr indent="0" marL="0">
              <a:buNone/>
            </a:pPr>
            <a:r>
              <a:rPr lang="en-US" sz="1400" dirty="0">
                <a:solidFill>
                  <a:srgbClr val="E9E4FF"/>
                </a:solidFill>
                <a:latin typeface="Courier New" pitchFamily="34" charset="0"/>
                <a:ea typeface="Courier New" pitchFamily="34" charset="-122"/>
                <a:cs typeface="Courier New" pitchFamily="34" charset="-120"/>
              </a:rPr>
              <a:t> body = </a:t>
            </a:r>
            <a:pPr indent="0" marL="0">
              <a:buNone/>
            </a:pPr>
            <a:r>
              <a:rPr lang="en-US" sz="1400" dirty="0">
                <a:solidFill>
                  <a:srgbClr val="FFB547"/>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FFB547"/>
                </a:solidFill>
                <a:latin typeface="Courier New" pitchFamily="34" charset="0"/>
                <a:ea typeface="Courier New" pitchFamily="34" charset="-122"/>
                <a:cs typeface="Courier New" pitchFamily="34" charset="-120"/>
              </a:rPr>
              <a:t>  { "model": "llama-3.3-70b-versatile",</a:t>
            </a:r>
            <a:endParaRPr lang="en-US" sz="1400" dirty="0"/>
          </a:p>
          <a:p>
            <a:pPr indent="0" marL="0">
              <a:buNone/>
            </a:pPr>
            <a:r>
              <a:rPr lang="en-US" sz="1400" dirty="0">
                <a:solidFill>
                  <a:srgbClr val="FFB547"/>
                </a:solidFill>
                <a:latin typeface="Courier New" pitchFamily="34" charset="0"/>
                <a:ea typeface="Courier New" pitchFamily="34" charset="-122"/>
                <a:cs typeface="Courier New" pitchFamily="34" charset="-120"/>
              </a:rPr>
              <a:t>    "messages": [{ "role": "user", "content": "Hi!" }] }</a:t>
            </a:r>
            <a:endParaRPr lang="en-US" sz="1400" dirty="0"/>
          </a:p>
          <a:p>
            <a:pPr indent="0" marL="0">
              <a:buNone/>
            </a:pPr>
            <a:r>
              <a:rPr lang="en-US" sz="1400" dirty="0">
                <a:solidFill>
                  <a:srgbClr val="FFB547"/>
                </a:solidFill>
                <a:latin typeface="Courier New" pitchFamily="34" charset="0"/>
                <a:ea typeface="Courier New" pitchFamily="34" charset="-122"/>
                <a:cs typeface="Courier New" pitchFamily="34" charset="-120"/>
              </a:rPr>
              <a:t>  """</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var</a:t>
            </a:r>
            <a:pPr indent="0" marL="0">
              <a:buNone/>
            </a:pPr>
            <a:r>
              <a:rPr lang="en-US" sz="1400" dirty="0">
                <a:solidFill>
                  <a:srgbClr val="E9E4FF"/>
                </a:solidFill>
                <a:latin typeface="Courier New" pitchFamily="34" charset="0"/>
                <a:ea typeface="Courier New" pitchFamily="34" charset="-122"/>
                <a:cs typeface="Courier New" pitchFamily="34" charset="-120"/>
              </a:rPr>
              <a:t> res  = </a:t>
            </a:r>
            <a:pPr indent="0" marL="0">
              <a:buNone/>
            </a:pPr>
            <a:r>
              <a:rPr lang="en-US" sz="1400" dirty="0">
                <a:solidFill>
                  <a:srgbClr val="4FC3F7"/>
                </a:solidFill>
                <a:latin typeface="Courier New" pitchFamily="34" charset="0"/>
                <a:ea typeface="Courier New" pitchFamily="34" charset="-122"/>
                <a:cs typeface="Courier New" pitchFamily="34" charset="-120"/>
              </a:rPr>
              <a:t>await</a:t>
            </a:r>
            <a:pPr indent="0" marL="0">
              <a:buNone/>
            </a:pPr>
            <a:r>
              <a:rPr lang="en-US" sz="1400" dirty="0">
                <a:solidFill>
                  <a:srgbClr val="E9E4FF"/>
                </a:solidFill>
                <a:latin typeface="Courier New" pitchFamily="34" charset="0"/>
                <a:ea typeface="Courier New" pitchFamily="34" charset="-122"/>
                <a:cs typeface="Courier New" pitchFamily="34" charset="-120"/>
              </a:rPr>
              <a:t> http.PostAsync(url,</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    new</a:t>
            </a:r>
            <a:pPr indent="0" marL="0">
              <a:buNone/>
            </a:pPr>
            <a:r>
              <a:rPr lang="en-US" sz="1400" dirty="0">
                <a:solidFill>
                  <a:srgbClr val="2EE6A6"/>
                </a:solidFill>
                <a:latin typeface="Courier New" pitchFamily="34" charset="0"/>
                <a:ea typeface="Courier New" pitchFamily="34" charset="-122"/>
                <a:cs typeface="Courier New" pitchFamily="34" charset="-120"/>
              </a:rPr>
              <a:t> StringContent</a:t>
            </a:r>
            <a:pPr indent="0" marL="0">
              <a:buNone/>
            </a:pPr>
            <a:r>
              <a:rPr lang="en-US" sz="1400" dirty="0">
                <a:solidFill>
                  <a:srgbClr val="E9E4FF"/>
                </a:solidFill>
                <a:latin typeface="Courier New" pitchFamily="34" charset="0"/>
                <a:ea typeface="Courier New" pitchFamily="34" charset="-122"/>
                <a:cs typeface="Courier New" pitchFamily="34" charset="-120"/>
              </a:rPr>
              <a:t>(body, Encoding.UTF8, </a:t>
            </a:r>
            <a:pPr indent="0" marL="0">
              <a:buNone/>
            </a:pPr>
            <a:r>
              <a:rPr lang="en-US" sz="1400" dirty="0">
                <a:solidFill>
                  <a:srgbClr val="FFB547"/>
                </a:solidFill>
                <a:latin typeface="Courier New" pitchFamily="34" charset="0"/>
                <a:ea typeface="Courier New" pitchFamily="34" charset="-122"/>
                <a:cs typeface="Courier New" pitchFamily="34" charset="-120"/>
              </a:rPr>
              <a:t>"application/json"</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var</a:t>
            </a:r>
            <a:pPr indent="0" marL="0">
              <a:buNone/>
            </a:pPr>
            <a:r>
              <a:rPr lang="en-US" sz="1400" dirty="0">
                <a:solidFill>
                  <a:srgbClr val="E9E4FF"/>
                </a:solidFill>
                <a:latin typeface="Courier New" pitchFamily="34" charset="0"/>
                <a:ea typeface="Courier New" pitchFamily="34" charset="-122"/>
                <a:cs typeface="Courier New" pitchFamily="34" charset="-120"/>
              </a:rPr>
              <a:t> json = </a:t>
            </a:r>
            <a:pPr indent="0" marL="0">
              <a:buNone/>
            </a:pPr>
            <a:r>
              <a:rPr lang="en-US" sz="1400" dirty="0">
                <a:solidFill>
                  <a:srgbClr val="4FC3F7"/>
                </a:solidFill>
                <a:latin typeface="Courier New" pitchFamily="34" charset="0"/>
                <a:ea typeface="Courier New" pitchFamily="34" charset="-122"/>
                <a:cs typeface="Courier New" pitchFamily="34" charset="-120"/>
              </a:rPr>
              <a:t>await</a:t>
            </a:r>
            <a:pPr indent="0" marL="0">
              <a:buNone/>
            </a:pPr>
            <a:r>
              <a:rPr lang="en-US" sz="1400" dirty="0">
                <a:solidFill>
                  <a:srgbClr val="E9E4FF"/>
                </a:solidFill>
                <a:latin typeface="Courier New" pitchFamily="34" charset="0"/>
                <a:ea typeface="Courier New" pitchFamily="34" charset="-122"/>
                <a:cs typeface="Courier New" pitchFamily="34" charset="-120"/>
              </a:rPr>
              <a:t> res.Content.ReadAsStringAsync();</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4FC3F7"/>
                </a:solidFill>
                <a:latin typeface="Courier New" pitchFamily="34" charset="0"/>
                <a:ea typeface="Courier New" pitchFamily="34" charset="-122"/>
                <a:cs typeface="Courier New" pitchFamily="34" charset="-120"/>
              </a:rPr>
              <a:t>var</a:t>
            </a:r>
            <a:pPr indent="0" marL="0">
              <a:buNone/>
            </a:pPr>
            <a:r>
              <a:rPr lang="en-US" sz="1400" dirty="0">
                <a:solidFill>
                  <a:srgbClr val="E9E4FF"/>
                </a:solidFill>
                <a:latin typeface="Courier New" pitchFamily="34" charset="0"/>
                <a:ea typeface="Courier New" pitchFamily="34" charset="-122"/>
                <a:cs typeface="Courier New" pitchFamily="34" charset="-120"/>
              </a:rPr>
              <a:t> answer = </a:t>
            </a:r>
            <a:pPr indent="0" marL="0">
              <a:buNone/>
            </a:pPr>
            <a:r>
              <a:rPr lang="en-US" sz="1400" dirty="0">
                <a:solidFill>
                  <a:srgbClr val="2EE6A6"/>
                </a:solidFill>
                <a:latin typeface="Courier New" pitchFamily="34" charset="0"/>
                <a:ea typeface="Courier New" pitchFamily="34" charset="-122"/>
                <a:cs typeface="Courier New" pitchFamily="34" charset="-120"/>
              </a:rPr>
              <a:t>JsonDocument</a:t>
            </a:r>
            <a:pPr indent="0" marL="0">
              <a:buNone/>
            </a:pPr>
            <a:r>
              <a:rPr lang="en-US" sz="1400" dirty="0">
                <a:solidFill>
                  <a:srgbClr val="E9E4FF"/>
                </a:solidFill>
                <a:latin typeface="Courier New" pitchFamily="34" charset="0"/>
                <a:ea typeface="Courier New" pitchFamily="34" charset="-122"/>
                <a:cs typeface="Courier New" pitchFamily="34" charset="-120"/>
              </a:rPr>
              <a:t>.Parse(json).RootElement</a:t>
            </a:r>
            <a:endParaRPr lang="en-US" sz="1400" dirty="0"/>
          </a:p>
          <a:p>
            <a:pPr indent="0" marL="0">
              <a:buNone/>
            </a:pPr>
            <a:r>
              <a:rPr lang="en-US" sz="1400" dirty="0">
                <a:solidFill>
                  <a:srgbClr val="E9E4FF"/>
                </a:solidFill>
                <a:latin typeface="Courier New" pitchFamily="34" charset="0"/>
                <a:ea typeface="Courier New" pitchFamily="34" charset="-122"/>
                <a:cs typeface="Courier New" pitchFamily="34" charset="-120"/>
              </a:rPr>
              <a:t>    .GetProperty(</a:t>
            </a:r>
            <a:pPr indent="0" marL="0">
              <a:buNone/>
            </a:pPr>
            <a:r>
              <a:rPr lang="en-US" sz="1400" dirty="0">
                <a:solidFill>
                  <a:srgbClr val="FFB547"/>
                </a:solidFill>
                <a:latin typeface="Courier New" pitchFamily="34" charset="0"/>
                <a:ea typeface="Courier New" pitchFamily="34" charset="-122"/>
                <a:cs typeface="Courier New" pitchFamily="34" charset="-120"/>
              </a:rPr>
              <a:t>"choices"</a:t>
            </a:r>
            <a:pPr indent="0" marL="0">
              <a:buNone/>
            </a:pPr>
            <a:r>
              <a:rPr lang="en-US" sz="1400" dirty="0">
                <a:solidFill>
                  <a:srgbClr val="E9E4FF"/>
                </a:solidFill>
                <a:latin typeface="Courier New" pitchFamily="34" charset="0"/>
                <a:ea typeface="Courier New" pitchFamily="34" charset="-122"/>
                <a:cs typeface="Courier New" pitchFamily="34" charset="-120"/>
              </a:rPr>
              <a:t>)[</a:t>
            </a:r>
            <a:pPr indent="0" marL="0">
              <a:buNone/>
            </a:pPr>
            <a:r>
              <a:rPr lang="en-US" sz="1400" dirty="0">
                <a:solidFill>
                  <a:srgbClr val="FF5C8A"/>
                </a:solidFill>
                <a:latin typeface="Courier New" pitchFamily="34" charset="0"/>
                <a:ea typeface="Courier New" pitchFamily="34" charset="-122"/>
                <a:cs typeface="Courier New" pitchFamily="34" charset="-120"/>
              </a:rPr>
              <a:t>0</a:t>
            </a:r>
            <a:pPr indent="0" marL="0">
              <a:buNone/>
            </a:pPr>
            <a:r>
              <a:rPr lang="en-US" sz="1400" dirty="0">
                <a:solidFill>
                  <a:srgbClr val="E9E4FF"/>
                </a:solidFill>
                <a:latin typeface="Courier New" pitchFamily="34" charset="0"/>
                <a:ea typeface="Courier New" pitchFamily="34" charset="-122"/>
                <a:cs typeface="Courier New" pitchFamily="34" charset="-120"/>
              </a:rPr>
              <a:t>].GetProperty(</a:t>
            </a:r>
            <a:pPr indent="0" marL="0">
              <a:buNone/>
            </a:pPr>
            <a:r>
              <a:rPr lang="en-US" sz="1400" dirty="0">
                <a:solidFill>
                  <a:srgbClr val="FFB547"/>
                </a:solidFill>
                <a:latin typeface="Courier New" pitchFamily="34" charset="0"/>
                <a:ea typeface="Courier New" pitchFamily="34" charset="-122"/>
                <a:cs typeface="Courier New" pitchFamily="34" charset="-120"/>
              </a:rPr>
              <a:t>"message"</a:t>
            </a:r>
            <a:pPr indent="0" marL="0">
              <a:buNone/>
            </a:pPr>
            <a:r>
              <a:rPr lang="en-US" sz="1400" dirty="0">
                <a:solidFill>
                  <a:srgbClr val="E9E4FF"/>
                </a:solidFill>
                <a:latin typeface="Courier New" pitchFamily="34" charset="0"/>
                <a:ea typeface="Courier New" pitchFamily="34" charset="-122"/>
                <a:cs typeface="Courier New" pitchFamily="34" charset="-120"/>
              </a:rPr>
              <a:t>).GetProperty(</a:t>
            </a:r>
            <a:pPr indent="0" marL="0">
              <a:buNone/>
            </a:pPr>
            <a:r>
              <a:rPr lang="en-US" sz="1400" dirty="0">
                <a:solidFill>
                  <a:srgbClr val="FFB547"/>
                </a:solidFill>
                <a:latin typeface="Courier New" pitchFamily="34" charset="0"/>
                <a:ea typeface="Courier New" pitchFamily="34" charset="-122"/>
                <a:cs typeface="Courier New" pitchFamily="34" charset="-120"/>
              </a:rPr>
              <a:t>"content"</a:t>
            </a:r>
            <a:pPr indent="0" marL="0">
              <a:buNone/>
            </a:pPr>
            <a:r>
              <a:rPr lang="en-US" sz="1400" dirty="0">
                <a:solidFill>
                  <a:srgbClr val="E9E4FF"/>
                </a:solidFill>
                <a:latin typeface="Courier New" pitchFamily="34" charset="0"/>
                <a:ea typeface="Courier New" pitchFamily="34" charset="-122"/>
                <a:cs typeface="Courier New" pitchFamily="34" charset="-120"/>
              </a:rPr>
              <a:t>);</a:t>
            </a:r>
            <a:endParaRPr lang="en-US" sz="1400" dirty="0"/>
          </a:p>
        </p:txBody>
      </p:sp>
      <p:sp>
        <p:nvSpPr>
          <p:cNvPr id="13" name="a1_hint"/>
          <p:cNvSpPr/>
          <p:nvPr/>
        </p:nvSpPr>
        <p:spPr>
          <a:xfrm>
            <a:off x="548640" y="5852160"/>
            <a:ext cx="11091672" cy="457200"/>
          </a:xfrm>
          <a:prstGeom prst="roundRect">
            <a:avLst>
              <a:gd name="adj" fmla="val 16000"/>
            </a:avLst>
          </a:prstGeom>
          <a:solidFill>
            <a:srgbClr val="2EE6A6">
              <a:alpha val="15000"/>
            </a:srgbClr>
          </a:solidFill>
          <a:ln w="12700">
            <a:solidFill>
              <a:srgbClr val="2EE6A6"/>
            </a:solidFill>
            <a:prstDash val="solid"/>
          </a:ln>
        </p:spPr>
      </p:sp>
      <p:sp>
        <p:nvSpPr>
          <p:cNvPr id="14" name="a1_hintt"/>
          <p:cNvSpPr txBox="1"/>
          <p:nvPr/>
        </p:nvSpPr>
        <p:spPr>
          <a:xfrm>
            <a:off x="731520" y="5852160"/>
            <a:ext cx="10789920" cy="457200"/>
          </a:xfrm>
          <a:prstGeom prst="rect">
            <a:avLst/>
          </a:prstGeom>
          <a:noFill/>
          <a:ln/>
        </p:spPr>
        <p:txBody>
          <a:bodyPr wrap="square" lIns="0" tIns="0" rIns="0" bIns="0" rtlCol="0" anchor="ctr"/>
          <a:lstStyle/>
          <a:p>
            <a:pPr indent="0" marL="0">
              <a:buNone/>
            </a:pPr>
            <a:r>
              <a:rPr lang="en-US" sz="1400" dirty="0">
                <a:solidFill>
                  <a:srgbClr val="2EE6A6"/>
                </a:solidFill>
              </a:rPr>
              <a:t>Production version: IHttpClientFactory + typed records + resilience. In Session 3: IChatClient does all of this for you.</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anim calcmode="lin" valueType="num">
                                      <p:cBhvr>
                                        <p:cTn id="6" dur="500" fill="hold"/>
                                        <p:tgtEl>
                                          <p:spTgt spid="13"/>
                                        </p:tgtEl>
                                        <p:attrNameLst>
                                          <p:attrName>ppt_x</p:attrName>
                                        </p:attrNameLst>
                                      </p:cBhvr>
                                      <p:tavLst>
                                        <p:tav tm="0">
                                          <p:val>
                                            <p:strVal val="#ppt_x"/>
                                          </p:val>
                                        </p:tav>
                                        <p:tav tm="100000">
                                          <p:val>
                                            <p:strVal val="#ppt_x"/>
                                          </p:val>
                                        </p:tav>
                                      </p:tavLst>
                                    </p:anim>
                                    <p:anim calcmode="lin" valueType="num">
                                      <p:cBhvr>
                                        <p:cTn id="7" dur="500" decel="100000" fill="hold"/>
                                        <p:tgtEl>
                                          <p:spTgt spid="13"/>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p:cTn id="11" dur="500" fill="hold"/>
                                        <p:tgtEl>
                                          <p:spTgt spid="14"/>
                                        </p:tgtEl>
                                        <p:attrNameLst>
                                          <p:attrName>ppt_x</p:attrName>
                                        </p:attrNameLst>
                                      </p:cBhvr>
                                      <p:tavLst>
                                        <p:tav tm="0">
                                          <p:val>
                                            <p:strVal val="#ppt_x"/>
                                          </p:val>
                                        </p:tav>
                                        <p:tav tm="100000">
                                          <p:val>
                                            <p:strVal val="#ppt_x"/>
                                          </p:val>
                                        </p:tav>
                                      </p:tavLst>
                                    </p:anim>
                                    <p:anim calcmode="lin" valueType="num">
                                      <p:cBhvr>
                                        <p:cTn id="12" dur="500" decel="100000" fill="hold"/>
                                        <p:tgtEl>
                                          <p:spTgt spid="1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26</a:t>
            </a:r>
            <a:endParaRPr lang="en-US" sz="1000" dirty="0"/>
          </a:p>
        </p:txBody>
      </p:sp>
      <p:sp>
        <p:nvSpPr>
          <p:cNvPr id="6" name="auto1_rec"/>
          <p:cNvSpPr/>
          <p:nvPr/>
        </p:nvSpPr>
        <p:spPr>
          <a:xfrm>
            <a:off x="548640" y="457200"/>
            <a:ext cx="274320" cy="274320"/>
          </a:xfrm>
          <a:prstGeom prst="ellipse">
            <a:avLst/>
          </a:prstGeom>
          <a:solidFill>
            <a:srgbClr val="FF3B3B"/>
          </a:solidFill>
          <a:ln/>
        </p:spPr>
      </p:sp>
      <p:sp>
        <p:nvSpPr>
          <p:cNvPr id="7" name="Text 5"/>
          <p:cNvSpPr txBox="1"/>
          <p:nvPr/>
        </p:nvSpPr>
        <p:spPr>
          <a:xfrm>
            <a:off x="914400" y="411480"/>
            <a:ext cx="1828800" cy="365760"/>
          </a:xfrm>
          <a:prstGeom prst="rect">
            <a:avLst/>
          </a:prstGeom>
          <a:noFill/>
          <a:ln/>
        </p:spPr>
        <p:txBody>
          <a:bodyPr wrap="square" lIns="0" tIns="0" rIns="0" bIns="0" rtlCol="0" anchor="t"/>
          <a:lstStyle/>
          <a:p>
            <a:pPr indent="0" marL="0">
              <a:buNone/>
            </a:pPr>
            <a:r>
              <a:rPr lang="en-US" sz="1600" b="1" spc="400" kern="0" dirty="0">
                <a:solidFill>
                  <a:srgbClr val="FF3B3B"/>
                </a:solidFill>
                <a:latin typeface="Arial" pitchFamily="34" charset="0"/>
                <a:ea typeface="Arial" pitchFamily="34" charset="-122"/>
                <a:cs typeface="Arial" pitchFamily="34" charset="-120"/>
              </a:rPr>
              <a:t>LIVE</a:t>
            </a:r>
            <a:endParaRPr lang="en-US" sz="1600" dirty="0"/>
          </a:p>
        </p:txBody>
      </p:sp>
      <p:sp>
        <p:nvSpPr>
          <p:cNvPr id="8" name="Text 6"/>
          <p:cNvSpPr txBox="1"/>
          <p:nvPr/>
        </p:nvSpPr>
        <p:spPr>
          <a:xfrm>
            <a:off x="548640" y="822960"/>
            <a:ext cx="10972800" cy="7315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Let's talk to an LLM from C#</a:t>
            </a:r>
            <a:endParaRPr lang="en-US" sz="3400" dirty="0"/>
          </a:p>
        </p:txBody>
      </p:sp>
      <p:sp>
        <p:nvSpPr>
          <p:cNvPr id="9" name="a1_d0"/>
          <p:cNvSpPr/>
          <p:nvPr/>
        </p:nvSpPr>
        <p:spPr>
          <a:xfrm>
            <a:off x="548640" y="182880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0" name="a1_dn0"/>
          <p:cNvSpPr txBox="1"/>
          <p:nvPr/>
        </p:nvSpPr>
        <p:spPr>
          <a:xfrm>
            <a:off x="777240" y="1965960"/>
            <a:ext cx="731520" cy="731520"/>
          </a:xfrm>
          <a:prstGeom prst="rect">
            <a:avLst/>
          </a:prstGeom>
          <a:noFill/>
          <a:ln/>
        </p:spPr>
        <p:txBody>
          <a:bodyPr wrap="square" lIns="0" tIns="0" rIns="0" bIns="0" rtlCol="0" anchor="t"/>
          <a:lstStyle/>
          <a:p>
            <a:pPr indent="0" marL="0">
              <a:buNone/>
            </a:pPr>
            <a:r>
              <a:rPr lang="en-US" sz="4000" b="1" dirty="0">
                <a:solidFill>
                  <a:srgbClr val="2EE6A6"/>
                </a:solidFill>
                <a:latin typeface="Arial" pitchFamily="34" charset="0"/>
                <a:ea typeface="Arial" pitchFamily="34" charset="-122"/>
                <a:cs typeface="Arial" pitchFamily="34" charset="-120"/>
              </a:rPr>
              <a:t>1</a:t>
            </a:r>
            <a:endParaRPr lang="en-US" sz="4000" dirty="0"/>
          </a:p>
        </p:txBody>
      </p:sp>
      <p:sp>
        <p:nvSpPr>
          <p:cNvPr id="11" name="a1_dt0"/>
          <p:cNvSpPr txBox="1"/>
          <p:nvPr/>
        </p:nvSpPr>
        <p:spPr>
          <a:xfrm>
            <a:off x="777240" y="269748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Raw call</a:t>
            </a:r>
            <a:endParaRPr lang="en-US" sz="1700" dirty="0"/>
          </a:p>
        </p:txBody>
      </p:sp>
      <p:sp>
        <p:nvSpPr>
          <p:cNvPr id="12" name="a1_dd0"/>
          <p:cNvSpPr txBox="1"/>
          <p:nvPr/>
        </p:nvSpPr>
        <p:spPr>
          <a:xfrm>
            <a:off x="777240" y="304495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JSON string out, JSON string back</a:t>
            </a:r>
            <a:endParaRPr lang="en-US" sz="1250" dirty="0"/>
          </a:p>
        </p:txBody>
      </p:sp>
      <p:sp>
        <p:nvSpPr>
          <p:cNvPr id="13" name="a2_d1"/>
          <p:cNvSpPr/>
          <p:nvPr/>
        </p:nvSpPr>
        <p:spPr>
          <a:xfrm>
            <a:off x="3383280" y="182880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a2_dn1"/>
          <p:cNvSpPr txBox="1"/>
          <p:nvPr/>
        </p:nvSpPr>
        <p:spPr>
          <a:xfrm>
            <a:off x="3611880" y="1965960"/>
            <a:ext cx="731520" cy="731520"/>
          </a:xfrm>
          <a:prstGeom prst="rect">
            <a:avLst/>
          </a:prstGeom>
          <a:noFill/>
          <a:ln/>
        </p:spPr>
        <p:txBody>
          <a:bodyPr wrap="square" lIns="0" tIns="0" rIns="0" bIns="0" rtlCol="0" anchor="t"/>
          <a:lstStyle/>
          <a:p>
            <a:pPr indent="0" marL="0">
              <a:buNone/>
            </a:pPr>
            <a:r>
              <a:rPr lang="en-US" sz="4000" b="1" dirty="0">
                <a:solidFill>
                  <a:srgbClr val="FFB547"/>
                </a:solidFill>
                <a:latin typeface="Arial" pitchFamily="34" charset="0"/>
                <a:ea typeface="Arial" pitchFamily="34" charset="-122"/>
                <a:cs typeface="Arial" pitchFamily="34" charset="-120"/>
              </a:rPr>
              <a:t>2</a:t>
            </a:r>
            <a:endParaRPr lang="en-US" sz="4000" dirty="0"/>
          </a:p>
        </p:txBody>
      </p:sp>
      <p:sp>
        <p:nvSpPr>
          <p:cNvPr id="15" name="a2_dt1"/>
          <p:cNvSpPr txBox="1"/>
          <p:nvPr/>
        </p:nvSpPr>
        <p:spPr>
          <a:xfrm>
            <a:off x="3611880" y="269748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Typed call</a:t>
            </a:r>
            <a:endParaRPr lang="en-US" sz="1700" dirty="0"/>
          </a:p>
        </p:txBody>
      </p:sp>
      <p:sp>
        <p:nvSpPr>
          <p:cNvPr id="16" name="a2_dd1"/>
          <p:cNvSpPr txBox="1"/>
          <p:nvPr/>
        </p:nvSpPr>
        <p:spPr>
          <a:xfrm>
            <a:off x="3611880" y="304495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Records, usage, finish_reason</a:t>
            </a:r>
            <a:endParaRPr lang="en-US" sz="1250" dirty="0"/>
          </a:p>
        </p:txBody>
      </p:sp>
      <p:sp>
        <p:nvSpPr>
          <p:cNvPr id="17" name="a3_d2"/>
          <p:cNvSpPr/>
          <p:nvPr/>
        </p:nvSpPr>
        <p:spPr>
          <a:xfrm>
            <a:off x="6217920" y="182880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8" name="a3_dn2"/>
          <p:cNvSpPr txBox="1"/>
          <p:nvPr/>
        </p:nvSpPr>
        <p:spPr>
          <a:xfrm>
            <a:off x="6446520" y="1965960"/>
            <a:ext cx="731520" cy="731520"/>
          </a:xfrm>
          <a:prstGeom prst="rect">
            <a:avLst/>
          </a:prstGeom>
          <a:noFill/>
          <a:ln/>
        </p:spPr>
        <p:txBody>
          <a:bodyPr wrap="square" lIns="0" tIns="0" rIns="0" bIns="0" rtlCol="0" anchor="t"/>
          <a:lstStyle/>
          <a:p>
            <a:pPr indent="0" marL="0">
              <a:buNone/>
            </a:pPr>
            <a:r>
              <a:rPr lang="en-US" sz="4000" b="1" dirty="0">
                <a:solidFill>
                  <a:srgbClr val="FF5C8A"/>
                </a:solidFill>
                <a:latin typeface="Arial" pitchFamily="34" charset="0"/>
                <a:ea typeface="Arial" pitchFamily="34" charset="-122"/>
                <a:cs typeface="Arial" pitchFamily="34" charset="-120"/>
              </a:rPr>
              <a:t>3</a:t>
            </a:r>
            <a:endParaRPr lang="en-US" sz="4000" dirty="0"/>
          </a:p>
        </p:txBody>
      </p:sp>
      <p:sp>
        <p:nvSpPr>
          <p:cNvPr id="19" name="a3_dt2"/>
          <p:cNvSpPr txBox="1"/>
          <p:nvPr/>
        </p:nvSpPr>
        <p:spPr>
          <a:xfrm>
            <a:off x="6446520" y="269748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Tokens</a:t>
            </a:r>
            <a:endParaRPr lang="en-US" sz="1700" dirty="0"/>
          </a:p>
        </p:txBody>
      </p:sp>
      <p:sp>
        <p:nvSpPr>
          <p:cNvPr id="20" name="a3_dd2"/>
          <p:cNvSpPr txBox="1"/>
          <p:nvPr/>
        </p:nvSpPr>
        <p:spPr>
          <a:xfrm>
            <a:off x="6446520" y="304495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English vs Hindi vs Malayalam, measured</a:t>
            </a:r>
            <a:endParaRPr lang="en-US" sz="1250" dirty="0"/>
          </a:p>
        </p:txBody>
      </p:sp>
      <p:sp>
        <p:nvSpPr>
          <p:cNvPr id="21" name="a4_d3"/>
          <p:cNvSpPr/>
          <p:nvPr/>
        </p:nvSpPr>
        <p:spPr>
          <a:xfrm>
            <a:off x="9052560" y="182880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2" name="a4_dn3"/>
          <p:cNvSpPr txBox="1"/>
          <p:nvPr/>
        </p:nvSpPr>
        <p:spPr>
          <a:xfrm>
            <a:off x="9281160" y="1965960"/>
            <a:ext cx="731520" cy="731520"/>
          </a:xfrm>
          <a:prstGeom prst="rect">
            <a:avLst/>
          </a:prstGeom>
          <a:noFill/>
          <a:ln/>
        </p:spPr>
        <p:txBody>
          <a:bodyPr wrap="square" lIns="0" tIns="0" rIns="0" bIns="0" rtlCol="0" anchor="t"/>
          <a:lstStyle/>
          <a:p>
            <a:pPr indent="0" marL="0">
              <a:buNone/>
            </a:pPr>
            <a:r>
              <a:rPr lang="en-US" sz="4000" b="1" dirty="0">
                <a:solidFill>
                  <a:srgbClr val="4FC3F7"/>
                </a:solidFill>
                <a:latin typeface="Arial" pitchFamily="34" charset="0"/>
                <a:ea typeface="Arial" pitchFamily="34" charset="-122"/>
                <a:cs typeface="Arial" pitchFamily="34" charset="-120"/>
              </a:rPr>
              <a:t>4</a:t>
            </a:r>
            <a:endParaRPr lang="en-US" sz="4000" dirty="0"/>
          </a:p>
        </p:txBody>
      </p:sp>
      <p:sp>
        <p:nvSpPr>
          <p:cNvPr id="23" name="a4_dt3"/>
          <p:cNvSpPr txBox="1"/>
          <p:nvPr/>
        </p:nvSpPr>
        <p:spPr>
          <a:xfrm>
            <a:off x="9281160" y="269748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Temperature</a:t>
            </a:r>
            <a:endParaRPr lang="en-US" sz="1700" dirty="0"/>
          </a:p>
        </p:txBody>
      </p:sp>
      <p:sp>
        <p:nvSpPr>
          <p:cNvPr id="24" name="a4_dd3"/>
          <p:cNvSpPr txBox="1"/>
          <p:nvPr/>
        </p:nvSpPr>
        <p:spPr>
          <a:xfrm>
            <a:off x="9281160" y="304495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0 vs 1.5, 3 runs each</a:t>
            </a:r>
            <a:endParaRPr lang="en-US" sz="1250" dirty="0"/>
          </a:p>
        </p:txBody>
      </p:sp>
      <p:sp>
        <p:nvSpPr>
          <p:cNvPr id="25" name="a5_d4"/>
          <p:cNvSpPr/>
          <p:nvPr/>
        </p:nvSpPr>
        <p:spPr>
          <a:xfrm>
            <a:off x="548640" y="374904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6" name="a5_dn4"/>
          <p:cNvSpPr txBox="1"/>
          <p:nvPr/>
        </p:nvSpPr>
        <p:spPr>
          <a:xfrm>
            <a:off x="777240" y="3886200"/>
            <a:ext cx="731520" cy="731520"/>
          </a:xfrm>
          <a:prstGeom prst="rect">
            <a:avLst/>
          </a:prstGeom>
          <a:noFill/>
          <a:ln/>
        </p:spPr>
        <p:txBody>
          <a:bodyPr wrap="square" lIns="0" tIns="0" rIns="0" bIns="0" rtlCol="0" anchor="t"/>
          <a:lstStyle/>
          <a:p>
            <a:pPr indent="0" marL="0">
              <a:buNone/>
            </a:pPr>
            <a:r>
              <a:rPr lang="en-US" sz="4000" b="1" dirty="0">
                <a:solidFill>
                  <a:srgbClr val="2EE6A6"/>
                </a:solidFill>
                <a:latin typeface="Arial" pitchFamily="34" charset="0"/>
                <a:ea typeface="Arial" pitchFamily="34" charset="-122"/>
                <a:cs typeface="Arial" pitchFamily="34" charset="-120"/>
              </a:rPr>
              <a:t>5</a:t>
            </a:r>
            <a:endParaRPr lang="en-US" sz="4000" dirty="0"/>
          </a:p>
        </p:txBody>
      </p:sp>
      <p:sp>
        <p:nvSpPr>
          <p:cNvPr id="27" name="a5_dt4"/>
          <p:cNvSpPr txBox="1"/>
          <p:nvPr/>
        </p:nvSpPr>
        <p:spPr>
          <a:xfrm>
            <a:off x="777240" y="461772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Memory</a:t>
            </a:r>
            <a:endParaRPr lang="en-US" sz="1700" dirty="0"/>
          </a:p>
        </p:txBody>
      </p:sp>
      <p:sp>
        <p:nvSpPr>
          <p:cNvPr id="28" name="a5_dd4"/>
          <p:cNvSpPr txBox="1"/>
          <p:nvPr/>
        </p:nvSpPr>
        <p:spPr>
          <a:xfrm>
            <a:off x="777240" y="496519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Watch it forget your name</a:t>
            </a:r>
            <a:endParaRPr lang="en-US" sz="1250" dirty="0"/>
          </a:p>
        </p:txBody>
      </p:sp>
      <p:sp>
        <p:nvSpPr>
          <p:cNvPr id="29" name="a6_d5"/>
          <p:cNvSpPr/>
          <p:nvPr/>
        </p:nvSpPr>
        <p:spPr>
          <a:xfrm>
            <a:off x="3383280" y="374904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0" name="a6_dn5"/>
          <p:cNvSpPr txBox="1"/>
          <p:nvPr/>
        </p:nvSpPr>
        <p:spPr>
          <a:xfrm>
            <a:off x="3611880" y="3886200"/>
            <a:ext cx="731520" cy="731520"/>
          </a:xfrm>
          <a:prstGeom prst="rect">
            <a:avLst/>
          </a:prstGeom>
          <a:noFill/>
          <a:ln/>
        </p:spPr>
        <p:txBody>
          <a:bodyPr wrap="square" lIns="0" tIns="0" rIns="0" bIns="0" rtlCol="0" anchor="t"/>
          <a:lstStyle/>
          <a:p>
            <a:pPr indent="0" marL="0">
              <a:buNone/>
            </a:pPr>
            <a:r>
              <a:rPr lang="en-US" sz="4000" b="1" dirty="0">
                <a:solidFill>
                  <a:srgbClr val="FFB547"/>
                </a:solidFill>
                <a:latin typeface="Arial" pitchFamily="34" charset="0"/>
                <a:ea typeface="Arial" pitchFamily="34" charset="-122"/>
                <a:cs typeface="Arial" pitchFamily="34" charset="-120"/>
              </a:rPr>
              <a:t>6</a:t>
            </a:r>
            <a:endParaRPr lang="en-US" sz="4000" dirty="0"/>
          </a:p>
        </p:txBody>
      </p:sp>
      <p:sp>
        <p:nvSpPr>
          <p:cNvPr id="31" name="a6_dt5"/>
          <p:cNvSpPr txBox="1"/>
          <p:nvPr/>
        </p:nvSpPr>
        <p:spPr>
          <a:xfrm>
            <a:off x="3611880" y="461772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Streaming</a:t>
            </a:r>
            <a:endParaRPr lang="en-US" sz="1700" dirty="0"/>
          </a:p>
        </p:txBody>
      </p:sp>
      <p:sp>
        <p:nvSpPr>
          <p:cNvPr id="32" name="a6_dd5"/>
          <p:cNvSpPr txBox="1"/>
          <p:nvPr/>
        </p:nvSpPr>
        <p:spPr>
          <a:xfrm>
            <a:off x="3611880" y="496519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SSE, time-to-first-token</a:t>
            </a:r>
            <a:endParaRPr lang="en-US" sz="1250" dirty="0"/>
          </a:p>
        </p:txBody>
      </p:sp>
      <p:sp>
        <p:nvSpPr>
          <p:cNvPr id="33" name="a7_d6"/>
          <p:cNvSpPr/>
          <p:nvPr/>
        </p:nvSpPr>
        <p:spPr>
          <a:xfrm>
            <a:off x="6217920" y="374904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4" name="a7_dn6"/>
          <p:cNvSpPr txBox="1"/>
          <p:nvPr/>
        </p:nvSpPr>
        <p:spPr>
          <a:xfrm>
            <a:off x="6446520" y="3886200"/>
            <a:ext cx="731520" cy="731520"/>
          </a:xfrm>
          <a:prstGeom prst="rect">
            <a:avLst/>
          </a:prstGeom>
          <a:noFill/>
          <a:ln/>
        </p:spPr>
        <p:txBody>
          <a:bodyPr wrap="square" lIns="0" tIns="0" rIns="0" bIns="0" rtlCol="0" anchor="t"/>
          <a:lstStyle/>
          <a:p>
            <a:pPr indent="0" marL="0">
              <a:buNone/>
            </a:pPr>
            <a:r>
              <a:rPr lang="en-US" sz="4000" b="1" dirty="0">
                <a:solidFill>
                  <a:srgbClr val="FF5C8A"/>
                </a:solidFill>
                <a:latin typeface="Arial" pitchFamily="34" charset="0"/>
                <a:ea typeface="Arial" pitchFamily="34" charset="-122"/>
                <a:cs typeface="Arial" pitchFamily="34" charset="-120"/>
              </a:rPr>
              <a:t>7</a:t>
            </a:r>
            <a:endParaRPr lang="en-US" sz="4000" dirty="0"/>
          </a:p>
        </p:txBody>
      </p:sp>
      <p:sp>
        <p:nvSpPr>
          <p:cNvPr id="35" name="a7_dt6"/>
          <p:cNvSpPr txBox="1"/>
          <p:nvPr/>
        </p:nvSpPr>
        <p:spPr>
          <a:xfrm>
            <a:off x="6446520" y="461772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Break it</a:t>
            </a:r>
            <a:endParaRPr lang="en-US" sz="1700" dirty="0"/>
          </a:p>
        </p:txBody>
      </p:sp>
      <p:sp>
        <p:nvSpPr>
          <p:cNvPr id="36" name="a7_dd6"/>
          <p:cNvSpPr txBox="1"/>
          <p:nvPr/>
        </p:nvSpPr>
        <p:spPr>
          <a:xfrm>
            <a:off x="6446520" y="496519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max_tokens, 404, 401</a:t>
            </a:r>
            <a:endParaRPr lang="en-US" sz="1250" dirty="0"/>
          </a:p>
        </p:txBody>
      </p:sp>
      <p:sp>
        <p:nvSpPr>
          <p:cNvPr id="37" name="a8_d7"/>
          <p:cNvSpPr/>
          <p:nvPr/>
        </p:nvSpPr>
        <p:spPr>
          <a:xfrm>
            <a:off x="9052560" y="3749040"/>
            <a:ext cx="2606040" cy="1691640"/>
          </a:xfrm>
          <a:prstGeom prst="roundRect">
            <a:avLst>
              <a:gd name="adj" fmla="val 6486"/>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8" name="a8_dn7"/>
          <p:cNvSpPr txBox="1"/>
          <p:nvPr/>
        </p:nvSpPr>
        <p:spPr>
          <a:xfrm>
            <a:off x="9281160" y="3886200"/>
            <a:ext cx="731520" cy="731520"/>
          </a:xfrm>
          <a:prstGeom prst="rect">
            <a:avLst/>
          </a:prstGeom>
          <a:noFill/>
          <a:ln/>
        </p:spPr>
        <p:txBody>
          <a:bodyPr wrap="square" lIns="0" tIns="0" rIns="0" bIns="0" rtlCol="0" anchor="t"/>
          <a:lstStyle/>
          <a:p>
            <a:pPr indent="0" marL="0">
              <a:buNone/>
            </a:pPr>
            <a:r>
              <a:rPr lang="en-US" sz="4000" b="1" dirty="0">
                <a:solidFill>
                  <a:srgbClr val="4FC3F7"/>
                </a:solidFill>
                <a:latin typeface="Arial" pitchFamily="34" charset="0"/>
                <a:ea typeface="Arial" pitchFamily="34" charset="-122"/>
                <a:cs typeface="Arial" pitchFamily="34" charset="-120"/>
              </a:rPr>
              <a:t>8</a:t>
            </a:r>
            <a:endParaRPr lang="en-US" sz="4000" dirty="0"/>
          </a:p>
        </p:txBody>
      </p:sp>
      <p:sp>
        <p:nvSpPr>
          <p:cNvPr id="39" name="a8_dt7"/>
          <p:cNvSpPr txBox="1"/>
          <p:nvPr/>
        </p:nvSpPr>
        <p:spPr>
          <a:xfrm>
            <a:off x="9281160" y="4617720"/>
            <a:ext cx="2194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DotNetBuddy</a:t>
            </a:r>
            <a:endParaRPr lang="en-US" sz="1700" dirty="0"/>
          </a:p>
        </p:txBody>
      </p:sp>
      <p:sp>
        <p:nvSpPr>
          <p:cNvPr id="40" name="a8_dd7"/>
          <p:cNvSpPr txBox="1"/>
          <p:nvPr/>
        </p:nvSpPr>
        <p:spPr>
          <a:xfrm>
            <a:off x="9281160" y="4965192"/>
            <a:ext cx="2240280" cy="411480"/>
          </a:xfrm>
          <a:prstGeom prst="rect">
            <a:avLst/>
          </a:prstGeom>
          <a:noFill/>
          <a:ln/>
        </p:spPr>
        <p:txBody>
          <a:bodyPr wrap="square" lIns="0" tIns="0" rIns="0" bIns="0" rtlCol="0" anchor="t"/>
          <a:lstStyle/>
          <a:p>
            <a:pPr indent="0" marL="0">
              <a:buNone/>
            </a:pPr>
            <a:r>
              <a:rPr lang="en-US" sz="1250" dirty="0">
                <a:solidFill>
                  <a:srgbClr val="A99BD6"/>
                </a:solidFill>
                <a:latin typeface="Calibri" pitchFamily="34" charset="0"/>
                <a:ea typeface="Calibri" pitchFamily="34" charset="-122"/>
                <a:cs typeface="Calibri" pitchFamily="34" charset="-120"/>
              </a:rPr>
              <a:t>A chatbot in ~30 lines</a:t>
            </a:r>
            <a:endParaRPr lang="en-US" sz="1250" dirty="0"/>
          </a:p>
        </p:txBody>
      </p:sp>
      <p:sp>
        <p:nvSpPr>
          <p:cNvPr id="41" name="Text 39"/>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300" dirty="0">
                <a:solidFill>
                  <a:srgbClr val="6F63A0"/>
                </a:solidFill>
                <a:latin typeface="Courier New" pitchFamily="34" charset="0"/>
                <a:ea typeface="Courier New" pitchFamily="34" charset="-122"/>
                <a:cs typeface="Courier New" pitchFamily="34" charset="-120"/>
              </a:rPr>
              <a:t>dotnet run  ·  model: llama-3.3-70b-versatile on Groq  ·  code shared after class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anim calcmode="lin" valueType="num">
                                      <p:cBhvr>
                                        <p:cTn id="6" dur="500" fill="hold"/>
                                        <p:tgtEl>
                                          <p:spTgt spid="6"/>
                                        </p:tgtEl>
                                        <p:attrNameLst>
                                          <p:attrName>ppt_x</p:attrName>
                                        </p:attrNameLst>
                                      </p:cBhvr>
                                      <p:tavLst>
                                        <p:tav tm="0">
                                          <p:val>
                                            <p:strVal val="#ppt_x"/>
                                          </p:val>
                                        </p:tav>
                                        <p:tav tm="100000">
                                          <p:val>
                                            <p:strVal val="#ppt_x"/>
                                          </p:val>
                                        </p:tav>
                                      </p:tavLst>
                                    </p:anim>
                                    <p:anim calcmode="lin" valueType="num">
                                      <p:cBhvr>
                                        <p:cTn id="7" dur="500" decel="100000" fill="hold"/>
                                        <p:tgtEl>
                                          <p:spTgt spid="6"/>
                                        </p:tgtEl>
                                        <p:attrNameLst>
                                          <p:attrName>ppt_y</p:attrName>
                                        </p:attrNameLst>
                                      </p:cBhvr>
                                      <p:tavLst>
                                        <p:tav tm="0">
                                          <p:val>
                                            <p:strVal val="#ppt_y+.06"/>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decel="100000" fill="hold"/>
                                        <p:tgtEl>
                                          <p:spTgt spid="9"/>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decel="100000" fill="hold"/>
                                        <p:tgtEl>
                                          <p:spTgt spid="10"/>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anim calcmode="lin" valueType="num">
                                      <p:cBhvr>
                                        <p:cTn id="23" dur="500" fill="hold"/>
                                        <p:tgtEl>
                                          <p:spTgt spid="11"/>
                                        </p:tgtEl>
                                        <p:attrNameLst>
                                          <p:attrName>ppt_x</p:attrName>
                                        </p:attrNameLst>
                                      </p:cBhvr>
                                      <p:tavLst>
                                        <p:tav tm="0">
                                          <p:val>
                                            <p:strVal val="#ppt_x"/>
                                          </p:val>
                                        </p:tav>
                                        <p:tav tm="100000">
                                          <p:val>
                                            <p:strVal val="#ppt_x"/>
                                          </p:val>
                                        </p:tav>
                                      </p:tavLst>
                                    </p:anim>
                                    <p:anim calcmode="lin" valueType="num">
                                      <p:cBhvr>
                                        <p:cTn id="24" dur="500" decel="100000" fill="hold"/>
                                        <p:tgtEl>
                                          <p:spTgt spid="11"/>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anim calcmode="lin" valueType="num">
                                      <p:cBhvr>
                                        <p:cTn id="28" dur="500" fill="hold"/>
                                        <p:tgtEl>
                                          <p:spTgt spid="12"/>
                                        </p:tgtEl>
                                        <p:attrNameLst>
                                          <p:attrName>ppt_x</p:attrName>
                                        </p:attrNameLst>
                                      </p:cBhvr>
                                      <p:tavLst>
                                        <p:tav tm="0">
                                          <p:val>
                                            <p:strVal val="#ppt_x"/>
                                          </p:val>
                                        </p:tav>
                                        <p:tav tm="100000">
                                          <p:val>
                                            <p:strVal val="#ppt_x"/>
                                          </p:val>
                                        </p:tav>
                                      </p:tavLst>
                                    </p:anim>
                                    <p:anim calcmode="lin" valueType="num">
                                      <p:cBhvr>
                                        <p:cTn id="29"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anim calcmode="lin" valueType="num">
                                      <p:cBhvr>
                                        <p:cTn id="35" dur="500" fill="hold"/>
                                        <p:tgtEl>
                                          <p:spTgt spid="13"/>
                                        </p:tgtEl>
                                        <p:attrNameLst>
                                          <p:attrName>ppt_x</p:attrName>
                                        </p:attrNameLst>
                                      </p:cBhvr>
                                      <p:tavLst>
                                        <p:tav tm="0">
                                          <p:val>
                                            <p:strVal val="#ppt_x"/>
                                          </p:val>
                                        </p:tav>
                                        <p:tav tm="100000">
                                          <p:val>
                                            <p:strVal val="#ppt_x"/>
                                          </p:val>
                                        </p:tav>
                                      </p:tavLst>
                                    </p:anim>
                                    <p:anim calcmode="lin" valueType="num">
                                      <p:cBhvr>
                                        <p:cTn id="36" dur="500" decel="100000" fill="hold"/>
                                        <p:tgtEl>
                                          <p:spTgt spid="13"/>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decel="100000" fill="hold"/>
                                        <p:tgtEl>
                                          <p:spTgt spid="14"/>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anim calcmode="lin" valueType="num">
                                      <p:cBhvr>
                                        <p:cTn id="45" dur="500" fill="hold"/>
                                        <p:tgtEl>
                                          <p:spTgt spid="15"/>
                                        </p:tgtEl>
                                        <p:attrNameLst>
                                          <p:attrName>ppt_x</p:attrName>
                                        </p:attrNameLst>
                                      </p:cBhvr>
                                      <p:tavLst>
                                        <p:tav tm="0">
                                          <p:val>
                                            <p:strVal val="#ppt_x"/>
                                          </p:val>
                                        </p:tav>
                                        <p:tav tm="100000">
                                          <p:val>
                                            <p:strVal val="#ppt_x"/>
                                          </p:val>
                                        </p:tav>
                                      </p:tavLst>
                                    </p:anim>
                                    <p:anim calcmode="lin" valueType="num">
                                      <p:cBhvr>
                                        <p:cTn id="46" dur="500" decel="100000" fill="hold"/>
                                        <p:tgtEl>
                                          <p:spTgt spid="15"/>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anim calcmode="lin" valueType="num">
                                      <p:cBhvr>
                                        <p:cTn id="50" dur="500" fill="hold"/>
                                        <p:tgtEl>
                                          <p:spTgt spid="16"/>
                                        </p:tgtEl>
                                        <p:attrNameLst>
                                          <p:attrName>ppt_x</p:attrName>
                                        </p:attrNameLst>
                                      </p:cBhvr>
                                      <p:tavLst>
                                        <p:tav tm="0">
                                          <p:val>
                                            <p:strVal val="#ppt_x"/>
                                          </p:val>
                                        </p:tav>
                                        <p:tav tm="100000">
                                          <p:val>
                                            <p:strVal val="#ppt_x"/>
                                          </p:val>
                                        </p:tav>
                                      </p:tavLst>
                                    </p:anim>
                                    <p:anim calcmode="lin" valueType="num">
                                      <p:cBhvr>
                                        <p:cTn id="51" dur="5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anim calcmode="lin" valueType="num">
                                      <p:cBhvr>
                                        <p:cTn id="57" dur="500" fill="hold"/>
                                        <p:tgtEl>
                                          <p:spTgt spid="17"/>
                                        </p:tgtEl>
                                        <p:attrNameLst>
                                          <p:attrName>ppt_x</p:attrName>
                                        </p:attrNameLst>
                                      </p:cBhvr>
                                      <p:tavLst>
                                        <p:tav tm="0">
                                          <p:val>
                                            <p:strVal val="#ppt_x"/>
                                          </p:val>
                                        </p:tav>
                                        <p:tav tm="100000">
                                          <p:val>
                                            <p:strVal val="#ppt_x"/>
                                          </p:val>
                                        </p:tav>
                                      </p:tavLst>
                                    </p:anim>
                                    <p:anim calcmode="lin" valueType="num">
                                      <p:cBhvr>
                                        <p:cTn id="58" dur="500" decel="1000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500"/>
                                        <p:tgtEl>
                                          <p:spTgt spid="18"/>
                                        </p:tgtEl>
                                      </p:cBhvr>
                                    </p:animEffect>
                                    <p:anim calcmode="lin" valueType="num">
                                      <p:cBhvr>
                                        <p:cTn id="62" dur="500" fill="hold"/>
                                        <p:tgtEl>
                                          <p:spTgt spid="18"/>
                                        </p:tgtEl>
                                        <p:attrNameLst>
                                          <p:attrName>ppt_x</p:attrName>
                                        </p:attrNameLst>
                                      </p:cBhvr>
                                      <p:tavLst>
                                        <p:tav tm="0">
                                          <p:val>
                                            <p:strVal val="#ppt_x"/>
                                          </p:val>
                                        </p:tav>
                                        <p:tav tm="100000">
                                          <p:val>
                                            <p:strVal val="#ppt_x"/>
                                          </p:val>
                                        </p:tav>
                                      </p:tavLst>
                                    </p:anim>
                                    <p:anim calcmode="lin" valueType="num">
                                      <p:cBhvr>
                                        <p:cTn id="63" dur="500" decel="1000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anim calcmode="lin" valueType="num">
                                      <p:cBhvr>
                                        <p:cTn id="67" dur="500" fill="hold"/>
                                        <p:tgtEl>
                                          <p:spTgt spid="19"/>
                                        </p:tgtEl>
                                        <p:attrNameLst>
                                          <p:attrName>ppt_x</p:attrName>
                                        </p:attrNameLst>
                                      </p:cBhvr>
                                      <p:tavLst>
                                        <p:tav tm="0">
                                          <p:val>
                                            <p:strVal val="#ppt_x"/>
                                          </p:val>
                                        </p:tav>
                                        <p:tav tm="100000">
                                          <p:val>
                                            <p:strVal val="#ppt_x"/>
                                          </p:val>
                                        </p:tav>
                                      </p:tavLst>
                                    </p:anim>
                                    <p:anim calcmode="lin" valueType="num">
                                      <p:cBhvr>
                                        <p:cTn id="68" dur="500" decel="1000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anim calcmode="lin" valueType="num">
                                      <p:cBhvr>
                                        <p:cTn id="72" dur="500" fill="hold"/>
                                        <p:tgtEl>
                                          <p:spTgt spid="20"/>
                                        </p:tgtEl>
                                        <p:attrNameLst>
                                          <p:attrName>ppt_x</p:attrName>
                                        </p:attrNameLst>
                                      </p:cBhvr>
                                      <p:tavLst>
                                        <p:tav tm="0">
                                          <p:val>
                                            <p:strVal val="#ppt_x"/>
                                          </p:val>
                                        </p:tav>
                                        <p:tav tm="100000">
                                          <p:val>
                                            <p:strVal val="#ppt_x"/>
                                          </p:val>
                                        </p:tav>
                                      </p:tavLst>
                                    </p:anim>
                                    <p:anim calcmode="lin" valueType="num">
                                      <p:cBhvr>
                                        <p:cTn id="73" dur="500" decel="100000" fill="hold"/>
                                        <p:tgtEl>
                                          <p:spTgt spid="20"/>
                                        </p:tgtEl>
                                        <p:attrNameLst>
                                          <p:attrName>ppt_y</p:attrName>
                                        </p:attrNameLst>
                                      </p:cBhvr>
                                      <p:tavLst>
                                        <p:tav tm="0">
                                          <p:val>
                                            <p:strVal val="#ppt_y+.06"/>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anim calcmode="lin" valueType="num">
                                      <p:cBhvr>
                                        <p:cTn id="79" dur="500" fill="hold"/>
                                        <p:tgtEl>
                                          <p:spTgt spid="21"/>
                                        </p:tgtEl>
                                        <p:attrNameLst>
                                          <p:attrName>ppt_x</p:attrName>
                                        </p:attrNameLst>
                                      </p:cBhvr>
                                      <p:tavLst>
                                        <p:tav tm="0">
                                          <p:val>
                                            <p:strVal val="#ppt_x"/>
                                          </p:val>
                                        </p:tav>
                                        <p:tav tm="100000">
                                          <p:val>
                                            <p:strVal val="#ppt_x"/>
                                          </p:val>
                                        </p:tav>
                                      </p:tavLst>
                                    </p:anim>
                                    <p:anim calcmode="lin" valueType="num">
                                      <p:cBhvr>
                                        <p:cTn id="80" dur="500" decel="100000" fill="hold"/>
                                        <p:tgtEl>
                                          <p:spTgt spid="21"/>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anim calcmode="lin" valueType="num">
                                      <p:cBhvr>
                                        <p:cTn id="84" dur="500" fill="hold"/>
                                        <p:tgtEl>
                                          <p:spTgt spid="22"/>
                                        </p:tgtEl>
                                        <p:attrNameLst>
                                          <p:attrName>ppt_x</p:attrName>
                                        </p:attrNameLst>
                                      </p:cBhvr>
                                      <p:tavLst>
                                        <p:tav tm="0">
                                          <p:val>
                                            <p:strVal val="#ppt_x"/>
                                          </p:val>
                                        </p:tav>
                                        <p:tav tm="100000">
                                          <p:val>
                                            <p:strVal val="#ppt_x"/>
                                          </p:val>
                                        </p:tav>
                                      </p:tavLst>
                                    </p:anim>
                                    <p:anim calcmode="lin" valueType="num">
                                      <p:cBhvr>
                                        <p:cTn id="85" dur="500" decel="100000" fill="hold"/>
                                        <p:tgtEl>
                                          <p:spTgt spid="22"/>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anim calcmode="lin" valueType="num">
                                      <p:cBhvr>
                                        <p:cTn id="89" dur="500" fill="hold"/>
                                        <p:tgtEl>
                                          <p:spTgt spid="23"/>
                                        </p:tgtEl>
                                        <p:attrNameLst>
                                          <p:attrName>ppt_x</p:attrName>
                                        </p:attrNameLst>
                                      </p:cBhvr>
                                      <p:tavLst>
                                        <p:tav tm="0">
                                          <p:val>
                                            <p:strVal val="#ppt_x"/>
                                          </p:val>
                                        </p:tav>
                                        <p:tav tm="100000">
                                          <p:val>
                                            <p:strVal val="#ppt_x"/>
                                          </p:val>
                                        </p:tav>
                                      </p:tavLst>
                                    </p:anim>
                                    <p:anim calcmode="lin" valueType="num">
                                      <p:cBhvr>
                                        <p:cTn id="90" dur="500" decel="100000" fill="hold"/>
                                        <p:tgtEl>
                                          <p:spTgt spid="23"/>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00"/>
                                        <p:tgtEl>
                                          <p:spTgt spid="25"/>
                                        </p:tgtEl>
                                      </p:cBhvr>
                                    </p:animEffect>
                                    <p:anim calcmode="lin" valueType="num">
                                      <p:cBhvr>
                                        <p:cTn id="101" dur="500" fill="hold"/>
                                        <p:tgtEl>
                                          <p:spTgt spid="25"/>
                                        </p:tgtEl>
                                        <p:attrNameLst>
                                          <p:attrName>ppt_x</p:attrName>
                                        </p:attrNameLst>
                                      </p:cBhvr>
                                      <p:tavLst>
                                        <p:tav tm="0">
                                          <p:val>
                                            <p:strVal val="#ppt_x"/>
                                          </p:val>
                                        </p:tav>
                                        <p:tav tm="100000">
                                          <p:val>
                                            <p:strVal val="#ppt_x"/>
                                          </p:val>
                                        </p:tav>
                                      </p:tavLst>
                                    </p:anim>
                                    <p:anim calcmode="lin" valueType="num">
                                      <p:cBhvr>
                                        <p:cTn id="102" dur="500" decel="100000" fill="hold"/>
                                        <p:tgtEl>
                                          <p:spTgt spid="25"/>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anim calcmode="lin" valueType="num">
                                      <p:cBhvr>
                                        <p:cTn id="106" dur="500" fill="hold"/>
                                        <p:tgtEl>
                                          <p:spTgt spid="26"/>
                                        </p:tgtEl>
                                        <p:attrNameLst>
                                          <p:attrName>ppt_x</p:attrName>
                                        </p:attrNameLst>
                                      </p:cBhvr>
                                      <p:tavLst>
                                        <p:tav tm="0">
                                          <p:val>
                                            <p:strVal val="#ppt_x"/>
                                          </p:val>
                                        </p:tav>
                                        <p:tav tm="100000">
                                          <p:val>
                                            <p:strVal val="#ppt_x"/>
                                          </p:val>
                                        </p:tav>
                                      </p:tavLst>
                                    </p:anim>
                                    <p:anim calcmode="lin" valueType="num">
                                      <p:cBhvr>
                                        <p:cTn id="107" dur="500" decel="100000" fill="hold"/>
                                        <p:tgtEl>
                                          <p:spTgt spid="26"/>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anim calcmode="lin" valueType="num">
                                      <p:cBhvr>
                                        <p:cTn id="111" dur="500" fill="hold"/>
                                        <p:tgtEl>
                                          <p:spTgt spid="27"/>
                                        </p:tgtEl>
                                        <p:attrNameLst>
                                          <p:attrName>ppt_x</p:attrName>
                                        </p:attrNameLst>
                                      </p:cBhvr>
                                      <p:tavLst>
                                        <p:tav tm="0">
                                          <p:val>
                                            <p:strVal val="#ppt_x"/>
                                          </p:val>
                                        </p:tav>
                                        <p:tav tm="100000">
                                          <p:val>
                                            <p:strVal val="#ppt_x"/>
                                          </p:val>
                                        </p:tav>
                                      </p:tavLst>
                                    </p:anim>
                                    <p:anim calcmode="lin" valueType="num">
                                      <p:cBhvr>
                                        <p:cTn id="112" dur="500" decel="100000" fill="hold"/>
                                        <p:tgtEl>
                                          <p:spTgt spid="27"/>
                                        </p:tgtEl>
                                        <p:attrNameLst>
                                          <p:attrName>ppt_y</p:attrName>
                                        </p:attrNameLst>
                                      </p:cBhvr>
                                      <p:tavLst>
                                        <p:tav tm="0">
                                          <p:val>
                                            <p:strVal val="#ppt_y+.06"/>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anim calcmode="lin" valueType="num">
                                      <p:cBhvr>
                                        <p:cTn id="116" dur="500" fill="hold"/>
                                        <p:tgtEl>
                                          <p:spTgt spid="28"/>
                                        </p:tgtEl>
                                        <p:attrNameLst>
                                          <p:attrName>ppt_x</p:attrName>
                                        </p:attrNameLst>
                                      </p:cBhvr>
                                      <p:tavLst>
                                        <p:tav tm="0">
                                          <p:val>
                                            <p:strVal val="#ppt_x"/>
                                          </p:val>
                                        </p:tav>
                                        <p:tav tm="100000">
                                          <p:val>
                                            <p:strVal val="#ppt_x"/>
                                          </p:val>
                                        </p:tav>
                                      </p:tavLst>
                                    </p:anim>
                                    <p:anim calcmode="lin" valueType="num">
                                      <p:cBhvr>
                                        <p:cTn id="117" dur="500" decel="100000" fill="hold"/>
                                        <p:tgtEl>
                                          <p:spTgt spid="28"/>
                                        </p:tgtEl>
                                        <p:attrNameLst>
                                          <p:attrName>ppt_y</p:attrName>
                                        </p:attrNameLst>
                                      </p:cBhvr>
                                      <p:tavLst>
                                        <p:tav tm="0">
                                          <p:val>
                                            <p:strVal val="#ppt_y+.06"/>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20" presetID="42" presetClass="entr" presetSubtype="0"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00"/>
                                        <p:tgtEl>
                                          <p:spTgt spid="29"/>
                                        </p:tgtEl>
                                      </p:cBhvr>
                                    </p:animEffect>
                                    <p:anim calcmode="lin" valueType="num">
                                      <p:cBhvr>
                                        <p:cTn id="123" dur="500" fill="hold"/>
                                        <p:tgtEl>
                                          <p:spTgt spid="29"/>
                                        </p:tgtEl>
                                        <p:attrNameLst>
                                          <p:attrName>ppt_x</p:attrName>
                                        </p:attrNameLst>
                                      </p:cBhvr>
                                      <p:tavLst>
                                        <p:tav tm="0">
                                          <p:val>
                                            <p:strVal val="#ppt_x"/>
                                          </p:val>
                                        </p:tav>
                                        <p:tav tm="100000">
                                          <p:val>
                                            <p:strVal val="#ppt_x"/>
                                          </p:val>
                                        </p:tav>
                                      </p:tavLst>
                                    </p:anim>
                                    <p:anim calcmode="lin" valueType="num">
                                      <p:cBhvr>
                                        <p:cTn id="124" dur="500" decel="100000" fill="hold"/>
                                        <p:tgtEl>
                                          <p:spTgt spid="29"/>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00"/>
                                        <p:tgtEl>
                                          <p:spTgt spid="30"/>
                                        </p:tgtEl>
                                      </p:cBhvr>
                                    </p:animEffect>
                                    <p:anim calcmode="lin" valueType="num">
                                      <p:cBhvr>
                                        <p:cTn id="128" dur="500" fill="hold"/>
                                        <p:tgtEl>
                                          <p:spTgt spid="30"/>
                                        </p:tgtEl>
                                        <p:attrNameLst>
                                          <p:attrName>ppt_x</p:attrName>
                                        </p:attrNameLst>
                                      </p:cBhvr>
                                      <p:tavLst>
                                        <p:tav tm="0">
                                          <p:val>
                                            <p:strVal val="#ppt_x"/>
                                          </p:val>
                                        </p:tav>
                                        <p:tav tm="100000">
                                          <p:val>
                                            <p:strVal val="#ppt_x"/>
                                          </p:val>
                                        </p:tav>
                                      </p:tavLst>
                                    </p:anim>
                                    <p:anim calcmode="lin" valueType="num">
                                      <p:cBhvr>
                                        <p:cTn id="129" dur="500" decel="100000" fill="hold"/>
                                        <p:tgtEl>
                                          <p:spTgt spid="30"/>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00"/>
                                        <p:tgtEl>
                                          <p:spTgt spid="31"/>
                                        </p:tgtEl>
                                      </p:cBhvr>
                                    </p:animEffect>
                                    <p:anim calcmode="lin" valueType="num">
                                      <p:cBhvr>
                                        <p:cTn id="133" dur="500" fill="hold"/>
                                        <p:tgtEl>
                                          <p:spTgt spid="31"/>
                                        </p:tgtEl>
                                        <p:attrNameLst>
                                          <p:attrName>ppt_x</p:attrName>
                                        </p:attrNameLst>
                                      </p:cBhvr>
                                      <p:tavLst>
                                        <p:tav tm="0">
                                          <p:val>
                                            <p:strVal val="#ppt_x"/>
                                          </p:val>
                                        </p:tav>
                                        <p:tav tm="100000">
                                          <p:val>
                                            <p:strVal val="#ppt_x"/>
                                          </p:val>
                                        </p:tav>
                                      </p:tavLst>
                                    </p:anim>
                                    <p:anim calcmode="lin" valueType="num">
                                      <p:cBhvr>
                                        <p:cTn id="134" dur="500" decel="100000" fill="hold"/>
                                        <p:tgtEl>
                                          <p:spTgt spid="31"/>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500"/>
                                        <p:tgtEl>
                                          <p:spTgt spid="32"/>
                                        </p:tgtEl>
                                      </p:cBhvr>
                                    </p:animEffect>
                                    <p:anim calcmode="lin" valueType="num">
                                      <p:cBhvr>
                                        <p:cTn id="138" dur="500" fill="hold"/>
                                        <p:tgtEl>
                                          <p:spTgt spid="32"/>
                                        </p:tgtEl>
                                        <p:attrNameLst>
                                          <p:attrName>ppt_x</p:attrName>
                                        </p:attrNameLst>
                                      </p:cBhvr>
                                      <p:tavLst>
                                        <p:tav tm="0">
                                          <p:val>
                                            <p:strVal val="#ppt_x"/>
                                          </p:val>
                                        </p:tav>
                                        <p:tav tm="100000">
                                          <p:val>
                                            <p:strVal val="#ppt_x"/>
                                          </p:val>
                                        </p:tav>
                                      </p:tavLst>
                                    </p:anim>
                                    <p:anim calcmode="lin" valueType="num">
                                      <p:cBhvr>
                                        <p:cTn id="139" dur="500" decel="100000" fill="hold"/>
                                        <p:tgtEl>
                                          <p:spTgt spid="32"/>
                                        </p:tgtEl>
                                        <p:attrNameLst>
                                          <p:attrName>ppt_y</p:attrName>
                                        </p:attrNameLst>
                                      </p:cBhvr>
                                      <p:tavLst>
                                        <p:tav tm="0">
                                          <p:val>
                                            <p:strVal val="#ppt_y+.06"/>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500"/>
                                        <p:tgtEl>
                                          <p:spTgt spid="33"/>
                                        </p:tgtEl>
                                      </p:cBhvr>
                                    </p:animEffect>
                                    <p:anim calcmode="lin" valueType="num">
                                      <p:cBhvr>
                                        <p:cTn id="145" dur="500" fill="hold"/>
                                        <p:tgtEl>
                                          <p:spTgt spid="33"/>
                                        </p:tgtEl>
                                        <p:attrNameLst>
                                          <p:attrName>ppt_x</p:attrName>
                                        </p:attrNameLst>
                                      </p:cBhvr>
                                      <p:tavLst>
                                        <p:tav tm="0">
                                          <p:val>
                                            <p:strVal val="#ppt_x"/>
                                          </p:val>
                                        </p:tav>
                                        <p:tav tm="100000">
                                          <p:val>
                                            <p:strVal val="#ppt_x"/>
                                          </p:val>
                                        </p:tav>
                                      </p:tavLst>
                                    </p:anim>
                                    <p:anim calcmode="lin" valueType="num">
                                      <p:cBhvr>
                                        <p:cTn id="146" dur="500" decel="100000" fill="hold"/>
                                        <p:tgtEl>
                                          <p:spTgt spid="33"/>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500"/>
                                        <p:tgtEl>
                                          <p:spTgt spid="34"/>
                                        </p:tgtEl>
                                      </p:cBhvr>
                                    </p:animEffect>
                                    <p:anim calcmode="lin" valueType="num">
                                      <p:cBhvr>
                                        <p:cTn id="150" dur="500" fill="hold"/>
                                        <p:tgtEl>
                                          <p:spTgt spid="34"/>
                                        </p:tgtEl>
                                        <p:attrNameLst>
                                          <p:attrName>ppt_x</p:attrName>
                                        </p:attrNameLst>
                                      </p:cBhvr>
                                      <p:tavLst>
                                        <p:tav tm="0">
                                          <p:val>
                                            <p:strVal val="#ppt_x"/>
                                          </p:val>
                                        </p:tav>
                                        <p:tav tm="100000">
                                          <p:val>
                                            <p:strVal val="#ppt_x"/>
                                          </p:val>
                                        </p:tav>
                                      </p:tavLst>
                                    </p:anim>
                                    <p:anim calcmode="lin" valueType="num">
                                      <p:cBhvr>
                                        <p:cTn id="151" dur="500" decel="100000" fill="hold"/>
                                        <p:tgtEl>
                                          <p:spTgt spid="34"/>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5"/>
                                        </p:tgtEl>
                                        <p:attrNameLst>
                                          <p:attrName>style.visibility</p:attrName>
                                        </p:attrNameLst>
                                      </p:cBhvr>
                                      <p:to>
                                        <p:strVal val="visible"/>
                                      </p:to>
                                    </p:set>
                                    <p:animEffect transition="in" filter="fade">
                                      <p:cBhvr>
                                        <p:cTn id="154" dur="500"/>
                                        <p:tgtEl>
                                          <p:spTgt spid="35"/>
                                        </p:tgtEl>
                                      </p:cBhvr>
                                    </p:animEffect>
                                    <p:anim calcmode="lin" valueType="num">
                                      <p:cBhvr>
                                        <p:cTn id="155" dur="500" fill="hold"/>
                                        <p:tgtEl>
                                          <p:spTgt spid="35"/>
                                        </p:tgtEl>
                                        <p:attrNameLst>
                                          <p:attrName>ppt_x</p:attrName>
                                        </p:attrNameLst>
                                      </p:cBhvr>
                                      <p:tavLst>
                                        <p:tav tm="0">
                                          <p:val>
                                            <p:strVal val="#ppt_x"/>
                                          </p:val>
                                        </p:tav>
                                        <p:tav tm="100000">
                                          <p:val>
                                            <p:strVal val="#ppt_x"/>
                                          </p:val>
                                        </p:tav>
                                      </p:tavLst>
                                    </p:anim>
                                    <p:anim calcmode="lin" valueType="num">
                                      <p:cBhvr>
                                        <p:cTn id="156" dur="500" decel="100000" fill="hold"/>
                                        <p:tgtEl>
                                          <p:spTgt spid="35"/>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6"/>
                                        </p:tgtEl>
                                        <p:attrNameLst>
                                          <p:attrName>style.visibility</p:attrName>
                                        </p:attrNameLst>
                                      </p:cBhvr>
                                      <p:to>
                                        <p:strVal val="visible"/>
                                      </p:to>
                                    </p:set>
                                    <p:animEffect transition="in" filter="fade">
                                      <p:cBhvr>
                                        <p:cTn id="159" dur="500"/>
                                        <p:tgtEl>
                                          <p:spTgt spid="36"/>
                                        </p:tgtEl>
                                      </p:cBhvr>
                                    </p:animEffect>
                                    <p:anim calcmode="lin" valueType="num">
                                      <p:cBhvr>
                                        <p:cTn id="160" dur="500" fill="hold"/>
                                        <p:tgtEl>
                                          <p:spTgt spid="36"/>
                                        </p:tgtEl>
                                        <p:attrNameLst>
                                          <p:attrName>ppt_x</p:attrName>
                                        </p:attrNameLst>
                                      </p:cBhvr>
                                      <p:tavLst>
                                        <p:tav tm="0">
                                          <p:val>
                                            <p:strVal val="#ppt_x"/>
                                          </p:val>
                                        </p:tav>
                                        <p:tav tm="100000">
                                          <p:val>
                                            <p:strVal val="#ppt_x"/>
                                          </p:val>
                                        </p:tav>
                                      </p:tavLst>
                                    </p:anim>
                                    <p:anim calcmode="lin" valueType="num">
                                      <p:cBhvr>
                                        <p:cTn id="161" dur="500" decel="100000" fill="hold"/>
                                        <p:tgtEl>
                                          <p:spTgt spid="36"/>
                                        </p:tgtEl>
                                        <p:attrNameLst>
                                          <p:attrName>ppt_y</p:attrName>
                                        </p:attrNameLst>
                                      </p:cBhvr>
                                      <p:tavLst>
                                        <p:tav tm="0">
                                          <p:val>
                                            <p:strVal val="#ppt_y+.06"/>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64" presetID="42" presetClass="entr" presetSubtype="0" fill="hold" grpId="0" nodeType="clickEffect">
                                  <p:stCondLst>
                                    <p:cond delay="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500"/>
                                        <p:tgtEl>
                                          <p:spTgt spid="37"/>
                                        </p:tgtEl>
                                      </p:cBhvr>
                                    </p:animEffect>
                                    <p:anim calcmode="lin" valueType="num">
                                      <p:cBhvr>
                                        <p:cTn id="167" dur="500" fill="hold"/>
                                        <p:tgtEl>
                                          <p:spTgt spid="37"/>
                                        </p:tgtEl>
                                        <p:attrNameLst>
                                          <p:attrName>ppt_x</p:attrName>
                                        </p:attrNameLst>
                                      </p:cBhvr>
                                      <p:tavLst>
                                        <p:tav tm="0">
                                          <p:val>
                                            <p:strVal val="#ppt_x"/>
                                          </p:val>
                                        </p:tav>
                                        <p:tav tm="100000">
                                          <p:val>
                                            <p:strVal val="#ppt_x"/>
                                          </p:val>
                                        </p:tav>
                                      </p:tavLst>
                                    </p:anim>
                                    <p:anim calcmode="lin" valueType="num">
                                      <p:cBhvr>
                                        <p:cTn id="168" dur="500" decel="100000" fill="hold"/>
                                        <p:tgtEl>
                                          <p:spTgt spid="37"/>
                                        </p:tgtEl>
                                        <p:attrNameLst>
                                          <p:attrName>ppt_y</p:attrName>
                                        </p:attrNameLst>
                                      </p:cBhvr>
                                      <p:tavLst>
                                        <p:tav tm="0">
                                          <p:val>
                                            <p:strVal val="#ppt_y+.06"/>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500"/>
                                        <p:tgtEl>
                                          <p:spTgt spid="38"/>
                                        </p:tgtEl>
                                      </p:cBhvr>
                                    </p:animEffect>
                                    <p:anim calcmode="lin" valueType="num">
                                      <p:cBhvr>
                                        <p:cTn id="172" dur="500" fill="hold"/>
                                        <p:tgtEl>
                                          <p:spTgt spid="38"/>
                                        </p:tgtEl>
                                        <p:attrNameLst>
                                          <p:attrName>ppt_x</p:attrName>
                                        </p:attrNameLst>
                                      </p:cBhvr>
                                      <p:tavLst>
                                        <p:tav tm="0">
                                          <p:val>
                                            <p:strVal val="#ppt_x"/>
                                          </p:val>
                                        </p:tav>
                                        <p:tav tm="100000">
                                          <p:val>
                                            <p:strVal val="#ppt_x"/>
                                          </p:val>
                                        </p:tav>
                                      </p:tavLst>
                                    </p:anim>
                                    <p:anim calcmode="lin" valueType="num">
                                      <p:cBhvr>
                                        <p:cTn id="173" dur="500" decel="100000" fill="hold"/>
                                        <p:tgtEl>
                                          <p:spTgt spid="38"/>
                                        </p:tgtEl>
                                        <p:attrNameLst>
                                          <p:attrName>ppt_y</p:attrName>
                                        </p:attrNameLst>
                                      </p:cBhvr>
                                      <p:tavLst>
                                        <p:tav tm="0">
                                          <p:val>
                                            <p:strVal val="#ppt_y+.06"/>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500"/>
                                        <p:tgtEl>
                                          <p:spTgt spid="39"/>
                                        </p:tgtEl>
                                      </p:cBhvr>
                                    </p:animEffect>
                                    <p:anim calcmode="lin" valueType="num">
                                      <p:cBhvr>
                                        <p:cTn id="177" dur="500" fill="hold"/>
                                        <p:tgtEl>
                                          <p:spTgt spid="39"/>
                                        </p:tgtEl>
                                        <p:attrNameLst>
                                          <p:attrName>ppt_x</p:attrName>
                                        </p:attrNameLst>
                                      </p:cBhvr>
                                      <p:tavLst>
                                        <p:tav tm="0">
                                          <p:val>
                                            <p:strVal val="#ppt_x"/>
                                          </p:val>
                                        </p:tav>
                                        <p:tav tm="100000">
                                          <p:val>
                                            <p:strVal val="#ppt_x"/>
                                          </p:val>
                                        </p:tav>
                                      </p:tavLst>
                                    </p:anim>
                                    <p:anim calcmode="lin" valueType="num">
                                      <p:cBhvr>
                                        <p:cTn id="178" dur="500" decel="100000" fill="hold"/>
                                        <p:tgtEl>
                                          <p:spTgt spid="39"/>
                                        </p:tgtEl>
                                        <p:attrNameLst>
                                          <p:attrName>ppt_y</p:attrName>
                                        </p:attrNameLst>
                                      </p:cBhvr>
                                      <p:tavLst>
                                        <p:tav tm="0">
                                          <p:val>
                                            <p:strVal val="#ppt_y+.06"/>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500"/>
                                        <p:tgtEl>
                                          <p:spTgt spid="40"/>
                                        </p:tgtEl>
                                      </p:cBhvr>
                                    </p:animEffect>
                                    <p:anim calcmode="lin" valueType="num">
                                      <p:cBhvr>
                                        <p:cTn id="182" dur="500" fill="hold"/>
                                        <p:tgtEl>
                                          <p:spTgt spid="40"/>
                                        </p:tgtEl>
                                        <p:attrNameLst>
                                          <p:attrName>ppt_x</p:attrName>
                                        </p:attrNameLst>
                                      </p:cBhvr>
                                      <p:tavLst>
                                        <p:tav tm="0">
                                          <p:val>
                                            <p:strVal val="#ppt_x"/>
                                          </p:val>
                                        </p:tav>
                                        <p:tav tm="100000">
                                          <p:val>
                                            <p:strVal val="#ppt_x"/>
                                          </p:val>
                                        </p:tav>
                                      </p:tavLst>
                                    </p:anim>
                                    <p:anim calcmode="lin" valueType="num">
                                      <p:cBhvr>
                                        <p:cTn id="183" dur="500" decel="100000" fill="hold"/>
                                        <p:tgtEl>
                                          <p:spTgt spid="4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27</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BEFORE YOU SHIP ANYTHING</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6 things that bite in production</a:t>
            </a:r>
            <a:endParaRPr lang="en-US" sz="3400" dirty="0"/>
          </a:p>
        </p:txBody>
      </p:sp>
      <p:sp>
        <p:nvSpPr>
          <p:cNvPr id="8" name="a1_g0"/>
          <p:cNvSpPr/>
          <p:nvPr/>
        </p:nvSpPr>
        <p:spPr>
          <a:xfrm>
            <a:off x="548640" y="178308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gi0_c"/>
          <p:cNvSpPr/>
          <p:nvPr/>
        </p:nvSpPr>
        <p:spPr>
          <a:xfrm>
            <a:off x="822960" y="2057400"/>
            <a:ext cx="685800" cy="685800"/>
          </a:xfrm>
          <a:prstGeom prst="ellipse">
            <a:avLst/>
          </a:prstGeom>
          <a:solidFill>
            <a:srgbClr val="FF5C8A">
              <a:alpha val="20000"/>
            </a:srgbClr>
          </a:solidFill>
          <a:ln w="19050">
            <a:solidFill>
              <a:srgbClr val="FF5C8A"/>
            </a:solidFill>
            <a:prstDash val="solid"/>
          </a:ln>
        </p:spPr>
      </p:sp>
      <p:pic>
        <p:nvPicPr>
          <p:cNvPr id="10" name="a1_gi0_i" descr="preencoded.png">    </p:cNvPr>
          <p:cNvPicPr>
            <a:picLocks noChangeAspect="1"/>
          </p:cNvPicPr>
          <p:nvPr/>
        </p:nvPicPr>
        <p:blipFill>
          <a:blip r:embed="rId1"/>
          <a:stretch>
            <a:fillRect/>
          </a:stretch>
        </p:blipFill>
        <p:spPr>
          <a:xfrm>
            <a:off x="1001268" y="2235708"/>
            <a:ext cx="329184" cy="329184"/>
          </a:xfrm>
          <a:prstGeom prst="rect">
            <a:avLst/>
          </a:prstGeom>
        </p:spPr>
      </p:pic>
      <p:sp>
        <p:nvSpPr>
          <p:cNvPr id="11" name="a1_gt0"/>
          <p:cNvSpPr txBox="1"/>
          <p:nvPr/>
        </p:nvSpPr>
        <p:spPr>
          <a:xfrm>
            <a:off x="1645920" y="210312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Secrets</a:t>
            </a:r>
            <a:endParaRPr lang="en-US" sz="1800" dirty="0"/>
          </a:p>
        </p:txBody>
      </p:sp>
      <p:sp>
        <p:nvSpPr>
          <p:cNvPr id="12" name="a1_gd0"/>
          <p:cNvSpPr txBox="1"/>
          <p:nvPr/>
        </p:nvSpPr>
        <p:spPr>
          <a:xfrm>
            <a:off x="822960" y="288036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Keys in env vars / User Secrets / Key Vault. Never in git.</a:t>
            </a:r>
            <a:endParaRPr lang="en-US" sz="1400" dirty="0"/>
          </a:p>
        </p:txBody>
      </p:sp>
      <p:sp>
        <p:nvSpPr>
          <p:cNvPr id="13" name="a2_g1"/>
          <p:cNvSpPr/>
          <p:nvPr/>
        </p:nvSpPr>
        <p:spPr>
          <a:xfrm>
            <a:off x="4297680" y="178308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a2_gi1_c"/>
          <p:cNvSpPr/>
          <p:nvPr/>
        </p:nvSpPr>
        <p:spPr>
          <a:xfrm>
            <a:off x="4572000" y="2057400"/>
            <a:ext cx="685800" cy="685800"/>
          </a:xfrm>
          <a:prstGeom prst="ellipse">
            <a:avLst/>
          </a:prstGeom>
          <a:solidFill>
            <a:srgbClr val="FFB547">
              <a:alpha val="20000"/>
            </a:srgbClr>
          </a:solidFill>
          <a:ln w="19050">
            <a:solidFill>
              <a:srgbClr val="FFB547"/>
            </a:solidFill>
            <a:prstDash val="solid"/>
          </a:ln>
        </p:spPr>
      </p:sp>
      <p:pic>
        <p:nvPicPr>
          <p:cNvPr id="15" name="a2_gi1_i" descr="preencoded.png">    </p:cNvPr>
          <p:cNvPicPr>
            <a:picLocks noChangeAspect="1"/>
          </p:cNvPicPr>
          <p:nvPr/>
        </p:nvPicPr>
        <p:blipFill>
          <a:blip r:embed="rId2"/>
          <a:stretch>
            <a:fillRect/>
          </a:stretch>
        </p:blipFill>
        <p:spPr>
          <a:xfrm>
            <a:off x="4750308" y="2235708"/>
            <a:ext cx="329184" cy="329184"/>
          </a:xfrm>
          <a:prstGeom prst="rect">
            <a:avLst/>
          </a:prstGeom>
        </p:spPr>
      </p:pic>
      <p:sp>
        <p:nvSpPr>
          <p:cNvPr id="16" name="a2_gt1"/>
          <p:cNvSpPr txBox="1"/>
          <p:nvPr/>
        </p:nvSpPr>
        <p:spPr>
          <a:xfrm>
            <a:off x="5394960" y="210312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Rate limits (429)</a:t>
            </a:r>
            <a:endParaRPr lang="en-US" sz="1800" dirty="0"/>
          </a:p>
        </p:txBody>
      </p:sp>
      <p:sp>
        <p:nvSpPr>
          <p:cNvPr id="17" name="a2_gd1"/>
          <p:cNvSpPr txBox="1"/>
          <p:nvPr/>
        </p:nvSpPr>
        <p:spPr>
          <a:xfrm>
            <a:off x="4572000" y="288036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Retry with backoff. Free tiers have tight limits.</a:t>
            </a:r>
            <a:endParaRPr lang="en-US" sz="1400" dirty="0"/>
          </a:p>
        </p:txBody>
      </p:sp>
      <p:sp>
        <p:nvSpPr>
          <p:cNvPr id="18" name="a3_g2"/>
          <p:cNvSpPr/>
          <p:nvPr/>
        </p:nvSpPr>
        <p:spPr>
          <a:xfrm>
            <a:off x="8046720" y="178308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9" name="a3_gi2_c"/>
          <p:cNvSpPr/>
          <p:nvPr/>
        </p:nvSpPr>
        <p:spPr>
          <a:xfrm>
            <a:off x="8321040" y="2057400"/>
            <a:ext cx="685800" cy="685800"/>
          </a:xfrm>
          <a:prstGeom prst="ellipse">
            <a:avLst/>
          </a:prstGeom>
          <a:solidFill>
            <a:srgbClr val="4FC3F7">
              <a:alpha val="20000"/>
            </a:srgbClr>
          </a:solidFill>
          <a:ln w="19050">
            <a:solidFill>
              <a:srgbClr val="4FC3F7"/>
            </a:solidFill>
            <a:prstDash val="solid"/>
          </a:ln>
        </p:spPr>
      </p:sp>
      <p:pic>
        <p:nvPicPr>
          <p:cNvPr id="20" name="a3_gi2_i" descr="preencoded.png">    </p:cNvPr>
          <p:cNvPicPr>
            <a:picLocks noChangeAspect="1"/>
          </p:cNvPicPr>
          <p:nvPr/>
        </p:nvPicPr>
        <p:blipFill>
          <a:blip r:embed="rId3"/>
          <a:stretch>
            <a:fillRect/>
          </a:stretch>
        </p:blipFill>
        <p:spPr>
          <a:xfrm>
            <a:off x="8499348" y="2235708"/>
            <a:ext cx="329184" cy="329184"/>
          </a:xfrm>
          <a:prstGeom prst="rect">
            <a:avLst/>
          </a:prstGeom>
        </p:spPr>
      </p:pic>
      <p:sp>
        <p:nvSpPr>
          <p:cNvPr id="21" name="a3_gt2"/>
          <p:cNvSpPr txBox="1"/>
          <p:nvPr/>
        </p:nvSpPr>
        <p:spPr>
          <a:xfrm>
            <a:off x="9144000" y="210312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Latency</a:t>
            </a:r>
            <a:endParaRPr lang="en-US" sz="1800" dirty="0"/>
          </a:p>
        </p:txBody>
      </p:sp>
      <p:sp>
        <p:nvSpPr>
          <p:cNvPr id="22" name="a3_gd2"/>
          <p:cNvSpPr txBox="1"/>
          <p:nvPr/>
        </p:nvSpPr>
        <p:spPr>
          <a:xfrm>
            <a:off x="8321040" y="288036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Seconds, not ms. Stream the response + set timeouts.</a:t>
            </a:r>
            <a:endParaRPr lang="en-US" sz="1400" dirty="0"/>
          </a:p>
        </p:txBody>
      </p:sp>
      <p:sp>
        <p:nvSpPr>
          <p:cNvPr id="23" name="a4_g3"/>
          <p:cNvSpPr/>
          <p:nvPr/>
        </p:nvSpPr>
        <p:spPr>
          <a:xfrm>
            <a:off x="548640" y="397764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4" name="a4_gi3_c"/>
          <p:cNvSpPr/>
          <p:nvPr/>
        </p:nvSpPr>
        <p:spPr>
          <a:xfrm>
            <a:off x="822960" y="4251960"/>
            <a:ext cx="685800" cy="685800"/>
          </a:xfrm>
          <a:prstGeom prst="ellipse">
            <a:avLst/>
          </a:prstGeom>
          <a:solidFill>
            <a:srgbClr val="2EE6A6">
              <a:alpha val="20000"/>
            </a:srgbClr>
          </a:solidFill>
          <a:ln w="19050">
            <a:solidFill>
              <a:srgbClr val="2EE6A6"/>
            </a:solidFill>
            <a:prstDash val="solid"/>
          </a:ln>
        </p:spPr>
      </p:sp>
      <p:pic>
        <p:nvPicPr>
          <p:cNvPr id="25" name="a4_gi3_i" descr="preencoded.png">    </p:cNvPr>
          <p:cNvPicPr>
            <a:picLocks noChangeAspect="1"/>
          </p:cNvPicPr>
          <p:nvPr/>
        </p:nvPicPr>
        <p:blipFill>
          <a:blip r:embed="rId4"/>
          <a:stretch>
            <a:fillRect/>
          </a:stretch>
        </p:blipFill>
        <p:spPr>
          <a:xfrm>
            <a:off x="1001268" y="4430268"/>
            <a:ext cx="329184" cy="329184"/>
          </a:xfrm>
          <a:prstGeom prst="rect">
            <a:avLst/>
          </a:prstGeom>
        </p:spPr>
      </p:pic>
      <p:sp>
        <p:nvSpPr>
          <p:cNvPr id="26" name="a4_gt3"/>
          <p:cNvSpPr txBox="1"/>
          <p:nvPr/>
        </p:nvSpPr>
        <p:spPr>
          <a:xfrm>
            <a:off x="1645920" y="429768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Cost</a:t>
            </a:r>
            <a:endParaRPr lang="en-US" sz="1800" dirty="0"/>
          </a:p>
        </p:txBody>
      </p:sp>
      <p:sp>
        <p:nvSpPr>
          <p:cNvPr id="27" name="a4_gd3"/>
          <p:cNvSpPr txBox="1"/>
          <p:nvPr/>
        </p:nvSpPr>
        <p:spPr>
          <a:xfrm>
            <a:off x="822960" y="507492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Log usage per call. Long chats get expensive quietly.</a:t>
            </a:r>
            <a:endParaRPr lang="en-US" sz="1400" dirty="0"/>
          </a:p>
        </p:txBody>
      </p:sp>
      <p:sp>
        <p:nvSpPr>
          <p:cNvPr id="28" name="a5_g4"/>
          <p:cNvSpPr/>
          <p:nvPr/>
        </p:nvSpPr>
        <p:spPr>
          <a:xfrm>
            <a:off x="4297680" y="397764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9" name="a5_gi4_c"/>
          <p:cNvSpPr/>
          <p:nvPr/>
        </p:nvSpPr>
        <p:spPr>
          <a:xfrm>
            <a:off x="4572000" y="4251960"/>
            <a:ext cx="685800" cy="685800"/>
          </a:xfrm>
          <a:prstGeom prst="ellipse">
            <a:avLst/>
          </a:prstGeom>
          <a:solidFill>
            <a:srgbClr val="7C4DFF">
              <a:alpha val="20000"/>
            </a:srgbClr>
          </a:solidFill>
          <a:ln w="19050">
            <a:solidFill>
              <a:srgbClr val="7C4DFF"/>
            </a:solidFill>
            <a:prstDash val="solid"/>
          </a:ln>
        </p:spPr>
      </p:sp>
      <p:pic>
        <p:nvPicPr>
          <p:cNvPr id="30" name="a5_gi4_i" descr="preencoded.png">    </p:cNvPr>
          <p:cNvPicPr>
            <a:picLocks noChangeAspect="1"/>
          </p:cNvPicPr>
          <p:nvPr/>
        </p:nvPicPr>
        <p:blipFill>
          <a:blip r:embed="rId5"/>
          <a:stretch>
            <a:fillRect/>
          </a:stretch>
        </p:blipFill>
        <p:spPr>
          <a:xfrm>
            <a:off x="4750308" y="4430268"/>
            <a:ext cx="329184" cy="329184"/>
          </a:xfrm>
          <a:prstGeom prst="rect">
            <a:avLst/>
          </a:prstGeom>
        </p:spPr>
      </p:pic>
      <p:sp>
        <p:nvSpPr>
          <p:cNvPr id="31" name="a5_gt4"/>
          <p:cNvSpPr txBox="1"/>
          <p:nvPr/>
        </p:nvSpPr>
        <p:spPr>
          <a:xfrm>
            <a:off x="5394960" y="429768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Hallucinations</a:t>
            </a:r>
            <a:endParaRPr lang="en-US" sz="1800" dirty="0"/>
          </a:p>
        </p:txBody>
      </p:sp>
      <p:sp>
        <p:nvSpPr>
          <p:cNvPr id="32" name="a5_gd4"/>
          <p:cNvSpPr txBox="1"/>
          <p:nvPr/>
        </p:nvSpPr>
        <p:spPr>
          <a:xfrm>
            <a:off x="4572000" y="507492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Confident ≠ correct. Ground it (RAG) and verify it (evals).</a:t>
            </a:r>
            <a:endParaRPr lang="en-US" sz="1400" dirty="0"/>
          </a:p>
        </p:txBody>
      </p:sp>
      <p:sp>
        <p:nvSpPr>
          <p:cNvPr id="33" name="a6_g5"/>
          <p:cNvSpPr/>
          <p:nvPr/>
        </p:nvSpPr>
        <p:spPr>
          <a:xfrm>
            <a:off x="8046720" y="3977640"/>
            <a:ext cx="3520440" cy="1965960"/>
          </a:xfrm>
          <a:prstGeom prst="roundRect">
            <a:avLst>
              <a:gd name="adj" fmla="val 5581"/>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34" name="a6_gi5_c"/>
          <p:cNvSpPr/>
          <p:nvPr/>
        </p:nvSpPr>
        <p:spPr>
          <a:xfrm>
            <a:off x="8321040" y="4251960"/>
            <a:ext cx="685800" cy="685800"/>
          </a:xfrm>
          <a:prstGeom prst="ellipse">
            <a:avLst/>
          </a:prstGeom>
          <a:solidFill>
            <a:srgbClr val="FFFFFF">
              <a:alpha val="20000"/>
            </a:srgbClr>
          </a:solidFill>
          <a:ln w="19050">
            <a:solidFill>
              <a:srgbClr val="FFFFFF"/>
            </a:solidFill>
            <a:prstDash val="solid"/>
          </a:ln>
        </p:spPr>
      </p:sp>
      <p:pic>
        <p:nvPicPr>
          <p:cNvPr id="35" name="a6_gi5_i" descr="preencoded.png">    </p:cNvPr>
          <p:cNvPicPr>
            <a:picLocks noChangeAspect="1"/>
          </p:cNvPicPr>
          <p:nvPr/>
        </p:nvPicPr>
        <p:blipFill>
          <a:blip r:embed="rId6"/>
          <a:stretch>
            <a:fillRect/>
          </a:stretch>
        </p:blipFill>
        <p:spPr>
          <a:xfrm>
            <a:off x="8499348" y="4430268"/>
            <a:ext cx="329184" cy="329184"/>
          </a:xfrm>
          <a:prstGeom prst="rect">
            <a:avLst/>
          </a:prstGeom>
        </p:spPr>
      </p:pic>
      <p:sp>
        <p:nvSpPr>
          <p:cNvPr id="36" name="a6_gt5"/>
          <p:cNvSpPr txBox="1"/>
          <p:nvPr/>
        </p:nvSpPr>
        <p:spPr>
          <a:xfrm>
            <a:off x="9144000" y="4297680"/>
            <a:ext cx="228600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Data privacy</a:t>
            </a:r>
            <a:endParaRPr lang="en-US" sz="1800" dirty="0"/>
          </a:p>
        </p:txBody>
      </p:sp>
      <p:sp>
        <p:nvSpPr>
          <p:cNvPr id="37" name="a6_gd5"/>
          <p:cNvSpPr txBox="1"/>
          <p:nvPr/>
        </p:nvSpPr>
        <p:spPr>
          <a:xfrm>
            <a:off x="8321040" y="5074920"/>
            <a:ext cx="3017520" cy="77724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What you send leaves your network. Check provider terms.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decel="1000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p:cTn id="53" dur="500" fill="hold"/>
                                        <p:tgtEl>
                                          <p:spTgt spid="17"/>
                                        </p:tgtEl>
                                        <p:attrNameLst>
                                          <p:attrName>ppt_x</p:attrName>
                                        </p:attrNameLst>
                                      </p:cBhvr>
                                      <p:tavLst>
                                        <p:tav tm="0">
                                          <p:val>
                                            <p:strVal val="#ppt_x"/>
                                          </p:val>
                                        </p:tav>
                                        <p:tav tm="100000">
                                          <p:val>
                                            <p:strVal val="#ppt_x"/>
                                          </p:val>
                                        </p:tav>
                                      </p:tavLst>
                                    </p:anim>
                                    <p:anim calcmode="lin" valueType="num">
                                      <p:cBhvr>
                                        <p:cTn id="54" dur="50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p:cTn id="60" dur="500" fill="hold"/>
                                        <p:tgtEl>
                                          <p:spTgt spid="18"/>
                                        </p:tgtEl>
                                        <p:attrNameLst>
                                          <p:attrName>ppt_x</p:attrName>
                                        </p:attrNameLst>
                                      </p:cBhvr>
                                      <p:tavLst>
                                        <p:tav tm="0">
                                          <p:val>
                                            <p:strVal val="#ppt_x"/>
                                          </p:val>
                                        </p:tav>
                                        <p:tav tm="100000">
                                          <p:val>
                                            <p:strVal val="#ppt_x"/>
                                          </p:val>
                                        </p:tav>
                                      </p:tavLst>
                                    </p:anim>
                                    <p:anim calcmode="lin" valueType="num">
                                      <p:cBhvr>
                                        <p:cTn id="61" dur="500" decel="1000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p:cTn id="65" dur="500" fill="hold"/>
                                        <p:tgtEl>
                                          <p:spTgt spid="19"/>
                                        </p:tgtEl>
                                        <p:attrNameLst>
                                          <p:attrName>ppt_x</p:attrName>
                                        </p:attrNameLst>
                                      </p:cBhvr>
                                      <p:tavLst>
                                        <p:tav tm="0">
                                          <p:val>
                                            <p:strVal val="#ppt_x"/>
                                          </p:val>
                                        </p:tav>
                                        <p:tav tm="100000">
                                          <p:val>
                                            <p:strVal val="#ppt_x"/>
                                          </p:val>
                                        </p:tav>
                                      </p:tavLst>
                                    </p:anim>
                                    <p:anim calcmode="lin" valueType="num">
                                      <p:cBhvr>
                                        <p:cTn id="66" dur="500" decel="1000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anim calcmode="lin" valueType="num">
                                      <p:cBhvr>
                                        <p:cTn id="70" dur="500" fill="hold"/>
                                        <p:tgtEl>
                                          <p:spTgt spid="20"/>
                                        </p:tgtEl>
                                        <p:attrNameLst>
                                          <p:attrName>ppt_x</p:attrName>
                                        </p:attrNameLst>
                                      </p:cBhvr>
                                      <p:tavLst>
                                        <p:tav tm="0">
                                          <p:val>
                                            <p:strVal val="#ppt_x"/>
                                          </p:val>
                                        </p:tav>
                                        <p:tav tm="100000">
                                          <p:val>
                                            <p:strVal val="#ppt_x"/>
                                          </p:val>
                                        </p:tav>
                                      </p:tavLst>
                                    </p:anim>
                                    <p:anim calcmode="lin" valueType="num">
                                      <p:cBhvr>
                                        <p:cTn id="71" dur="500" decel="10000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anim calcmode="lin" valueType="num">
                                      <p:cBhvr>
                                        <p:cTn id="75" dur="500" fill="hold"/>
                                        <p:tgtEl>
                                          <p:spTgt spid="21"/>
                                        </p:tgtEl>
                                        <p:attrNameLst>
                                          <p:attrName>ppt_x</p:attrName>
                                        </p:attrNameLst>
                                      </p:cBhvr>
                                      <p:tavLst>
                                        <p:tav tm="0">
                                          <p:val>
                                            <p:strVal val="#ppt_x"/>
                                          </p:val>
                                        </p:tav>
                                        <p:tav tm="100000">
                                          <p:val>
                                            <p:strVal val="#ppt_x"/>
                                          </p:val>
                                        </p:tav>
                                      </p:tavLst>
                                    </p:anim>
                                    <p:anim calcmode="lin" valueType="num">
                                      <p:cBhvr>
                                        <p:cTn id="76" dur="500" decel="100000" fill="hold"/>
                                        <p:tgtEl>
                                          <p:spTgt spid="21"/>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anim calcmode="lin" valueType="num">
                                      <p:cBhvr>
                                        <p:cTn id="80" dur="500" fill="hold"/>
                                        <p:tgtEl>
                                          <p:spTgt spid="22"/>
                                        </p:tgtEl>
                                        <p:attrNameLst>
                                          <p:attrName>ppt_x</p:attrName>
                                        </p:attrNameLst>
                                      </p:cBhvr>
                                      <p:tavLst>
                                        <p:tav tm="0">
                                          <p:val>
                                            <p:strVal val="#ppt_x"/>
                                          </p:val>
                                        </p:tav>
                                        <p:tav tm="100000">
                                          <p:val>
                                            <p:strVal val="#ppt_x"/>
                                          </p:val>
                                        </p:tav>
                                      </p:tavLst>
                                    </p:anim>
                                    <p:anim calcmode="lin" valueType="num">
                                      <p:cBhvr>
                                        <p:cTn id="81" dur="5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p:cTn id="87" dur="500" fill="hold"/>
                                        <p:tgtEl>
                                          <p:spTgt spid="23"/>
                                        </p:tgtEl>
                                        <p:attrNameLst>
                                          <p:attrName>ppt_x</p:attrName>
                                        </p:attrNameLst>
                                      </p:cBhvr>
                                      <p:tavLst>
                                        <p:tav tm="0">
                                          <p:val>
                                            <p:strVal val="#ppt_x"/>
                                          </p:val>
                                        </p:tav>
                                        <p:tav tm="100000">
                                          <p:val>
                                            <p:strVal val="#ppt_x"/>
                                          </p:val>
                                        </p:tav>
                                      </p:tavLst>
                                    </p:anim>
                                    <p:anim calcmode="lin" valueType="num">
                                      <p:cBhvr>
                                        <p:cTn id="88" dur="500" decel="1000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anim calcmode="lin" valueType="num">
                                      <p:cBhvr>
                                        <p:cTn id="92" dur="500" fill="hold"/>
                                        <p:tgtEl>
                                          <p:spTgt spid="24"/>
                                        </p:tgtEl>
                                        <p:attrNameLst>
                                          <p:attrName>ppt_x</p:attrName>
                                        </p:attrNameLst>
                                      </p:cBhvr>
                                      <p:tavLst>
                                        <p:tav tm="0">
                                          <p:val>
                                            <p:strVal val="#ppt_x"/>
                                          </p:val>
                                        </p:tav>
                                        <p:tav tm="100000">
                                          <p:val>
                                            <p:strVal val="#ppt_x"/>
                                          </p:val>
                                        </p:tav>
                                      </p:tavLst>
                                    </p:anim>
                                    <p:anim calcmode="lin" valueType="num">
                                      <p:cBhvr>
                                        <p:cTn id="93" dur="500" decel="1000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anim calcmode="lin" valueType="num">
                                      <p:cBhvr>
                                        <p:cTn id="97" dur="500" fill="hold"/>
                                        <p:tgtEl>
                                          <p:spTgt spid="25"/>
                                        </p:tgtEl>
                                        <p:attrNameLst>
                                          <p:attrName>ppt_x</p:attrName>
                                        </p:attrNameLst>
                                      </p:cBhvr>
                                      <p:tavLst>
                                        <p:tav tm="0">
                                          <p:val>
                                            <p:strVal val="#ppt_x"/>
                                          </p:val>
                                        </p:tav>
                                        <p:tav tm="100000">
                                          <p:val>
                                            <p:strVal val="#ppt_x"/>
                                          </p:val>
                                        </p:tav>
                                      </p:tavLst>
                                    </p:anim>
                                    <p:anim calcmode="lin" valueType="num">
                                      <p:cBhvr>
                                        <p:cTn id="98" dur="500" decel="1000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anim calcmode="lin" valueType="num">
                                      <p:cBhvr>
                                        <p:cTn id="102" dur="500" fill="hold"/>
                                        <p:tgtEl>
                                          <p:spTgt spid="26"/>
                                        </p:tgtEl>
                                        <p:attrNameLst>
                                          <p:attrName>ppt_x</p:attrName>
                                        </p:attrNameLst>
                                      </p:cBhvr>
                                      <p:tavLst>
                                        <p:tav tm="0">
                                          <p:val>
                                            <p:strVal val="#ppt_x"/>
                                          </p:val>
                                        </p:tav>
                                        <p:tav tm="100000">
                                          <p:val>
                                            <p:strVal val="#ppt_x"/>
                                          </p:val>
                                        </p:tav>
                                      </p:tavLst>
                                    </p:anim>
                                    <p:anim calcmode="lin" valueType="num">
                                      <p:cBhvr>
                                        <p:cTn id="103" dur="500" decel="1000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00"/>
                                        <p:tgtEl>
                                          <p:spTgt spid="27"/>
                                        </p:tgtEl>
                                      </p:cBhvr>
                                    </p:animEffect>
                                    <p:anim calcmode="lin" valueType="num">
                                      <p:cBhvr>
                                        <p:cTn id="107" dur="500" fill="hold"/>
                                        <p:tgtEl>
                                          <p:spTgt spid="27"/>
                                        </p:tgtEl>
                                        <p:attrNameLst>
                                          <p:attrName>ppt_x</p:attrName>
                                        </p:attrNameLst>
                                      </p:cBhvr>
                                      <p:tavLst>
                                        <p:tav tm="0">
                                          <p:val>
                                            <p:strVal val="#ppt_x"/>
                                          </p:val>
                                        </p:tav>
                                        <p:tav tm="100000">
                                          <p:val>
                                            <p:strVal val="#ppt_x"/>
                                          </p:val>
                                        </p:tav>
                                      </p:tavLst>
                                    </p:anim>
                                    <p:anim calcmode="lin" valueType="num">
                                      <p:cBhvr>
                                        <p:cTn id="108"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anim calcmode="lin" valueType="num">
                                      <p:cBhvr>
                                        <p:cTn id="114" dur="500" fill="hold"/>
                                        <p:tgtEl>
                                          <p:spTgt spid="28"/>
                                        </p:tgtEl>
                                        <p:attrNameLst>
                                          <p:attrName>ppt_x</p:attrName>
                                        </p:attrNameLst>
                                      </p:cBhvr>
                                      <p:tavLst>
                                        <p:tav tm="0">
                                          <p:val>
                                            <p:strVal val="#ppt_x"/>
                                          </p:val>
                                        </p:tav>
                                        <p:tav tm="100000">
                                          <p:val>
                                            <p:strVal val="#ppt_x"/>
                                          </p:val>
                                        </p:tav>
                                      </p:tavLst>
                                    </p:anim>
                                    <p:anim calcmode="lin" valueType="num">
                                      <p:cBhvr>
                                        <p:cTn id="115" dur="500" decel="100000" fill="hold"/>
                                        <p:tgtEl>
                                          <p:spTgt spid="28"/>
                                        </p:tgtEl>
                                        <p:attrNameLst>
                                          <p:attrName>ppt_y</p:attrName>
                                        </p:attrNameLst>
                                      </p:cBhvr>
                                      <p:tavLst>
                                        <p:tav tm="0">
                                          <p:val>
                                            <p:strVal val="#ppt_y+.06"/>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500"/>
                                        <p:tgtEl>
                                          <p:spTgt spid="29"/>
                                        </p:tgtEl>
                                      </p:cBhvr>
                                    </p:animEffect>
                                    <p:anim calcmode="lin" valueType="num">
                                      <p:cBhvr>
                                        <p:cTn id="119" dur="500" fill="hold"/>
                                        <p:tgtEl>
                                          <p:spTgt spid="29"/>
                                        </p:tgtEl>
                                        <p:attrNameLst>
                                          <p:attrName>ppt_x</p:attrName>
                                        </p:attrNameLst>
                                      </p:cBhvr>
                                      <p:tavLst>
                                        <p:tav tm="0">
                                          <p:val>
                                            <p:strVal val="#ppt_x"/>
                                          </p:val>
                                        </p:tav>
                                        <p:tav tm="100000">
                                          <p:val>
                                            <p:strVal val="#ppt_x"/>
                                          </p:val>
                                        </p:tav>
                                      </p:tavLst>
                                    </p:anim>
                                    <p:anim calcmode="lin" valueType="num">
                                      <p:cBhvr>
                                        <p:cTn id="120" dur="500" decel="100000" fill="hold"/>
                                        <p:tgtEl>
                                          <p:spTgt spid="29"/>
                                        </p:tgtEl>
                                        <p:attrNameLst>
                                          <p:attrName>ppt_y</p:attrName>
                                        </p:attrNameLst>
                                      </p:cBhvr>
                                      <p:tavLst>
                                        <p:tav tm="0">
                                          <p:val>
                                            <p:strVal val="#ppt_y+.06"/>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500"/>
                                        <p:tgtEl>
                                          <p:spTgt spid="30"/>
                                        </p:tgtEl>
                                      </p:cBhvr>
                                    </p:animEffect>
                                    <p:anim calcmode="lin" valueType="num">
                                      <p:cBhvr>
                                        <p:cTn id="124" dur="500" fill="hold"/>
                                        <p:tgtEl>
                                          <p:spTgt spid="30"/>
                                        </p:tgtEl>
                                        <p:attrNameLst>
                                          <p:attrName>ppt_x</p:attrName>
                                        </p:attrNameLst>
                                      </p:cBhvr>
                                      <p:tavLst>
                                        <p:tav tm="0">
                                          <p:val>
                                            <p:strVal val="#ppt_x"/>
                                          </p:val>
                                        </p:tav>
                                        <p:tav tm="100000">
                                          <p:val>
                                            <p:strVal val="#ppt_x"/>
                                          </p:val>
                                        </p:tav>
                                      </p:tavLst>
                                    </p:anim>
                                    <p:anim calcmode="lin" valueType="num">
                                      <p:cBhvr>
                                        <p:cTn id="125" dur="500" decel="100000" fill="hold"/>
                                        <p:tgtEl>
                                          <p:spTgt spid="30"/>
                                        </p:tgtEl>
                                        <p:attrNameLst>
                                          <p:attrName>ppt_y</p:attrName>
                                        </p:attrNameLst>
                                      </p:cBhvr>
                                      <p:tavLst>
                                        <p:tav tm="0">
                                          <p:val>
                                            <p:strVal val="#ppt_y+.06"/>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500"/>
                                        <p:tgtEl>
                                          <p:spTgt spid="31"/>
                                        </p:tgtEl>
                                      </p:cBhvr>
                                    </p:animEffect>
                                    <p:anim calcmode="lin" valueType="num">
                                      <p:cBhvr>
                                        <p:cTn id="129" dur="500" fill="hold"/>
                                        <p:tgtEl>
                                          <p:spTgt spid="31"/>
                                        </p:tgtEl>
                                        <p:attrNameLst>
                                          <p:attrName>ppt_x</p:attrName>
                                        </p:attrNameLst>
                                      </p:cBhvr>
                                      <p:tavLst>
                                        <p:tav tm="0">
                                          <p:val>
                                            <p:strVal val="#ppt_x"/>
                                          </p:val>
                                        </p:tav>
                                        <p:tav tm="100000">
                                          <p:val>
                                            <p:strVal val="#ppt_x"/>
                                          </p:val>
                                        </p:tav>
                                      </p:tavLst>
                                    </p:anim>
                                    <p:anim calcmode="lin" valueType="num">
                                      <p:cBhvr>
                                        <p:cTn id="130" dur="500" decel="100000" fill="hold"/>
                                        <p:tgtEl>
                                          <p:spTgt spid="31"/>
                                        </p:tgtEl>
                                        <p:attrNameLst>
                                          <p:attrName>ppt_y</p:attrName>
                                        </p:attrNameLst>
                                      </p:cBhvr>
                                      <p:tavLst>
                                        <p:tav tm="0">
                                          <p:val>
                                            <p:strVal val="#ppt_y+.06"/>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500"/>
                                        <p:tgtEl>
                                          <p:spTgt spid="32"/>
                                        </p:tgtEl>
                                      </p:cBhvr>
                                    </p:animEffect>
                                    <p:anim calcmode="lin" valueType="num">
                                      <p:cBhvr>
                                        <p:cTn id="134" dur="500" fill="hold"/>
                                        <p:tgtEl>
                                          <p:spTgt spid="32"/>
                                        </p:tgtEl>
                                        <p:attrNameLst>
                                          <p:attrName>ppt_x</p:attrName>
                                        </p:attrNameLst>
                                      </p:cBhvr>
                                      <p:tavLst>
                                        <p:tav tm="0">
                                          <p:val>
                                            <p:strVal val="#ppt_x"/>
                                          </p:val>
                                        </p:tav>
                                        <p:tav tm="100000">
                                          <p:val>
                                            <p:strVal val="#ppt_x"/>
                                          </p:val>
                                        </p:tav>
                                      </p:tavLst>
                                    </p:anim>
                                    <p:anim calcmode="lin" valueType="num">
                                      <p:cBhvr>
                                        <p:cTn id="135" dur="500" decel="100000" fill="hold"/>
                                        <p:tgtEl>
                                          <p:spTgt spid="32"/>
                                        </p:tgtEl>
                                        <p:attrNameLst>
                                          <p:attrName>ppt_y</p:attrName>
                                        </p:attrNameLst>
                                      </p:cBhvr>
                                      <p:tavLst>
                                        <p:tav tm="0">
                                          <p:val>
                                            <p:strVal val="#ppt_y+.06"/>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00"/>
                                        <p:tgtEl>
                                          <p:spTgt spid="33"/>
                                        </p:tgtEl>
                                      </p:cBhvr>
                                    </p:animEffect>
                                    <p:anim calcmode="lin" valueType="num">
                                      <p:cBhvr>
                                        <p:cTn id="141" dur="500" fill="hold"/>
                                        <p:tgtEl>
                                          <p:spTgt spid="33"/>
                                        </p:tgtEl>
                                        <p:attrNameLst>
                                          <p:attrName>ppt_x</p:attrName>
                                        </p:attrNameLst>
                                      </p:cBhvr>
                                      <p:tavLst>
                                        <p:tav tm="0">
                                          <p:val>
                                            <p:strVal val="#ppt_x"/>
                                          </p:val>
                                        </p:tav>
                                        <p:tav tm="100000">
                                          <p:val>
                                            <p:strVal val="#ppt_x"/>
                                          </p:val>
                                        </p:tav>
                                      </p:tavLst>
                                    </p:anim>
                                    <p:anim calcmode="lin" valueType="num">
                                      <p:cBhvr>
                                        <p:cTn id="142" dur="500" decel="100000" fill="hold"/>
                                        <p:tgtEl>
                                          <p:spTgt spid="33"/>
                                        </p:tgtEl>
                                        <p:attrNameLst>
                                          <p:attrName>ppt_y</p:attrName>
                                        </p:attrNameLst>
                                      </p:cBhvr>
                                      <p:tavLst>
                                        <p:tav tm="0">
                                          <p:val>
                                            <p:strVal val="#ppt_y+.06"/>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500"/>
                                        <p:tgtEl>
                                          <p:spTgt spid="34"/>
                                        </p:tgtEl>
                                      </p:cBhvr>
                                    </p:animEffect>
                                    <p:anim calcmode="lin" valueType="num">
                                      <p:cBhvr>
                                        <p:cTn id="146" dur="500" fill="hold"/>
                                        <p:tgtEl>
                                          <p:spTgt spid="34"/>
                                        </p:tgtEl>
                                        <p:attrNameLst>
                                          <p:attrName>ppt_x</p:attrName>
                                        </p:attrNameLst>
                                      </p:cBhvr>
                                      <p:tavLst>
                                        <p:tav tm="0">
                                          <p:val>
                                            <p:strVal val="#ppt_x"/>
                                          </p:val>
                                        </p:tav>
                                        <p:tav tm="100000">
                                          <p:val>
                                            <p:strVal val="#ppt_x"/>
                                          </p:val>
                                        </p:tav>
                                      </p:tavLst>
                                    </p:anim>
                                    <p:anim calcmode="lin" valueType="num">
                                      <p:cBhvr>
                                        <p:cTn id="147" dur="500" decel="100000" fill="hold"/>
                                        <p:tgtEl>
                                          <p:spTgt spid="34"/>
                                        </p:tgtEl>
                                        <p:attrNameLst>
                                          <p:attrName>ppt_y</p:attrName>
                                        </p:attrNameLst>
                                      </p:cBhvr>
                                      <p:tavLst>
                                        <p:tav tm="0">
                                          <p:val>
                                            <p:strVal val="#ppt_y+.06"/>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500"/>
                                        <p:tgtEl>
                                          <p:spTgt spid="35"/>
                                        </p:tgtEl>
                                      </p:cBhvr>
                                    </p:animEffect>
                                    <p:anim calcmode="lin" valueType="num">
                                      <p:cBhvr>
                                        <p:cTn id="151" dur="500" fill="hold"/>
                                        <p:tgtEl>
                                          <p:spTgt spid="35"/>
                                        </p:tgtEl>
                                        <p:attrNameLst>
                                          <p:attrName>ppt_x</p:attrName>
                                        </p:attrNameLst>
                                      </p:cBhvr>
                                      <p:tavLst>
                                        <p:tav tm="0">
                                          <p:val>
                                            <p:strVal val="#ppt_x"/>
                                          </p:val>
                                        </p:tav>
                                        <p:tav tm="100000">
                                          <p:val>
                                            <p:strVal val="#ppt_x"/>
                                          </p:val>
                                        </p:tav>
                                      </p:tavLst>
                                    </p:anim>
                                    <p:anim calcmode="lin" valueType="num">
                                      <p:cBhvr>
                                        <p:cTn id="152" dur="500" decel="100000" fill="hold"/>
                                        <p:tgtEl>
                                          <p:spTgt spid="35"/>
                                        </p:tgtEl>
                                        <p:attrNameLst>
                                          <p:attrName>ppt_y</p:attrName>
                                        </p:attrNameLst>
                                      </p:cBhvr>
                                      <p:tavLst>
                                        <p:tav tm="0">
                                          <p:val>
                                            <p:strVal val="#ppt_y+.06"/>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500"/>
                                        <p:tgtEl>
                                          <p:spTgt spid="36"/>
                                        </p:tgtEl>
                                      </p:cBhvr>
                                    </p:animEffect>
                                    <p:anim calcmode="lin" valueType="num">
                                      <p:cBhvr>
                                        <p:cTn id="156" dur="500" fill="hold"/>
                                        <p:tgtEl>
                                          <p:spTgt spid="36"/>
                                        </p:tgtEl>
                                        <p:attrNameLst>
                                          <p:attrName>ppt_x</p:attrName>
                                        </p:attrNameLst>
                                      </p:cBhvr>
                                      <p:tavLst>
                                        <p:tav tm="0">
                                          <p:val>
                                            <p:strVal val="#ppt_x"/>
                                          </p:val>
                                        </p:tav>
                                        <p:tav tm="100000">
                                          <p:val>
                                            <p:strVal val="#ppt_x"/>
                                          </p:val>
                                        </p:tav>
                                      </p:tavLst>
                                    </p:anim>
                                    <p:anim calcmode="lin" valueType="num">
                                      <p:cBhvr>
                                        <p:cTn id="157" dur="500" decel="100000" fill="hold"/>
                                        <p:tgtEl>
                                          <p:spTgt spid="36"/>
                                        </p:tgtEl>
                                        <p:attrNameLst>
                                          <p:attrName>ppt_y</p:attrName>
                                        </p:attrNameLst>
                                      </p:cBhvr>
                                      <p:tavLst>
                                        <p:tav tm="0">
                                          <p:val>
                                            <p:strVal val="#ppt_y+.06"/>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7"/>
                                        </p:tgtEl>
                                        <p:attrNameLst>
                                          <p:attrName>style.visibility</p:attrName>
                                        </p:attrNameLst>
                                      </p:cBhvr>
                                      <p:to>
                                        <p:strVal val="visible"/>
                                      </p:to>
                                    </p:set>
                                    <p:animEffect transition="in" filter="fade">
                                      <p:cBhvr>
                                        <p:cTn id="160" dur="500"/>
                                        <p:tgtEl>
                                          <p:spTgt spid="37"/>
                                        </p:tgtEl>
                                      </p:cBhvr>
                                    </p:animEffect>
                                    <p:anim calcmode="lin" valueType="num">
                                      <p:cBhvr>
                                        <p:cTn id="161" dur="500" fill="hold"/>
                                        <p:tgtEl>
                                          <p:spTgt spid="37"/>
                                        </p:tgtEl>
                                        <p:attrNameLst>
                                          <p:attrName>ppt_x</p:attrName>
                                        </p:attrNameLst>
                                      </p:cBhvr>
                                      <p:tavLst>
                                        <p:tav tm="0">
                                          <p:val>
                                            <p:strVal val="#ppt_x"/>
                                          </p:val>
                                        </p:tav>
                                        <p:tav tm="100000">
                                          <p:val>
                                            <p:strVal val="#ppt_x"/>
                                          </p:val>
                                        </p:tav>
                                      </p:tavLst>
                                    </p:anim>
                                    <p:anim calcmode="lin" valueType="num">
                                      <p:cBhvr>
                                        <p:cTn id="162" dur="500" decel="100000" fill="hold"/>
                                        <p:tgtEl>
                                          <p:spTgt spid="3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28</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NAPKIN MATH</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What would a real chatbot cost?</a:t>
            </a:r>
            <a:endParaRPr lang="en-US" sz="3400" dirty="0"/>
          </a:p>
        </p:txBody>
      </p:sp>
      <p:sp>
        <p:nvSpPr>
          <p:cNvPr id="8" name="a1_in0"/>
          <p:cNvSpPr/>
          <p:nvPr/>
        </p:nvSpPr>
        <p:spPr>
          <a:xfrm>
            <a:off x="548640" y="1783080"/>
            <a:ext cx="420624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a1_inn0"/>
          <p:cNvSpPr txBox="1"/>
          <p:nvPr/>
        </p:nvSpPr>
        <p:spPr>
          <a:xfrm>
            <a:off x="777240" y="1783080"/>
            <a:ext cx="1737360" cy="914400"/>
          </a:xfrm>
          <a:prstGeom prst="rect">
            <a:avLst/>
          </a:prstGeom>
          <a:noFill/>
          <a:ln/>
        </p:spPr>
        <p:txBody>
          <a:bodyPr wrap="square" lIns="0" tIns="0" rIns="0" bIns="0" rtlCol="0" anchor="ctr"/>
          <a:lstStyle/>
          <a:p>
            <a:pPr indent="0" marL="0">
              <a:buNone/>
            </a:pPr>
            <a:r>
              <a:rPr lang="en-US" sz="3000" b="1" dirty="0">
                <a:solidFill>
                  <a:srgbClr val="FFB547"/>
                </a:solidFill>
                <a:latin typeface="Arial" pitchFamily="34" charset="0"/>
                <a:ea typeface="Arial" pitchFamily="34" charset="-122"/>
                <a:cs typeface="Arial" pitchFamily="34" charset="-120"/>
              </a:rPr>
              <a:t>1,000</a:t>
            </a:r>
            <a:endParaRPr lang="en-US" sz="3000" dirty="0"/>
          </a:p>
        </p:txBody>
      </p:sp>
      <p:sp>
        <p:nvSpPr>
          <p:cNvPr id="10" name="a1_inl0"/>
          <p:cNvSpPr txBox="1"/>
          <p:nvPr/>
        </p:nvSpPr>
        <p:spPr>
          <a:xfrm>
            <a:off x="2560320" y="1783080"/>
            <a:ext cx="2103120" cy="914400"/>
          </a:xfrm>
          <a:prstGeom prst="rect">
            <a:avLst/>
          </a:prstGeom>
          <a:noFill/>
          <a:ln/>
        </p:spPr>
        <p:txBody>
          <a:bodyPr wrap="square" lIns="0" tIns="0" rIns="0" bIns="0" rtlCol="0" anchor="ctr"/>
          <a:lstStyle/>
          <a:p>
            <a:pPr indent="0" marL="0">
              <a:buNone/>
            </a:pPr>
            <a:r>
              <a:rPr lang="en-US" sz="1600" dirty="0">
                <a:solidFill>
                  <a:srgbClr val="E9E4FF"/>
                </a:solidFill>
                <a:latin typeface="Calibri" pitchFamily="34" charset="0"/>
                <a:ea typeface="Calibri" pitchFamily="34" charset="-122"/>
                <a:cs typeface="Calibri" pitchFamily="34" charset="-120"/>
              </a:rPr>
              <a:t>users / day</a:t>
            </a:r>
            <a:endParaRPr lang="en-US" sz="1600" dirty="0"/>
          </a:p>
        </p:txBody>
      </p:sp>
      <p:sp>
        <p:nvSpPr>
          <p:cNvPr id="11" name="a1_in1"/>
          <p:cNvSpPr/>
          <p:nvPr/>
        </p:nvSpPr>
        <p:spPr>
          <a:xfrm>
            <a:off x="548640" y="2862072"/>
            <a:ext cx="420624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2" name="a1_inn1"/>
          <p:cNvSpPr txBox="1"/>
          <p:nvPr/>
        </p:nvSpPr>
        <p:spPr>
          <a:xfrm>
            <a:off x="777240" y="2862072"/>
            <a:ext cx="1737360" cy="914400"/>
          </a:xfrm>
          <a:prstGeom prst="rect">
            <a:avLst/>
          </a:prstGeom>
          <a:noFill/>
          <a:ln/>
        </p:spPr>
        <p:txBody>
          <a:bodyPr wrap="square" lIns="0" tIns="0" rIns="0" bIns="0" rtlCol="0" anchor="ctr"/>
          <a:lstStyle/>
          <a:p>
            <a:pPr indent="0" marL="0">
              <a:buNone/>
            </a:pPr>
            <a:r>
              <a:rPr lang="en-US" sz="3000" b="1" dirty="0">
                <a:solidFill>
                  <a:srgbClr val="FFB547"/>
                </a:solidFill>
                <a:latin typeface="Arial" pitchFamily="34" charset="0"/>
                <a:ea typeface="Arial" pitchFamily="34" charset="-122"/>
                <a:cs typeface="Arial" pitchFamily="34" charset="-120"/>
              </a:rPr>
              <a:t>20</a:t>
            </a:r>
            <a:endParaRPr lang="en-US" sz="3000" dirty="0"/>
          </a:p>
        </p:txBody>
      </p:sp>
      <p:sp>
        <p:nvSpPr>
          <p:cNvPr id="13" name="a1_inl1"/>
          <p:cNvSpPr txBox="1"/>
          <p:nvPr/>
        </p:nvSpPr>
        <p:spPr>
          <a:xfrm>
            <a:off x="2560320" y="2862072"/>
            <a:ext cx="2103120" cy="914400"/>
          </a:xfrm>
          <a:prstGeom prst="rect">
            <a:avLst/>
          </a:prstGeom>
          <a:noFill/>
          <a:ln/>
        </p:spPr>
        <p:txBody>
          <a:bodyPr wrap="square" lIns="0" tIns="0" rIns="0" bIns="0" rtlCol="0" anchor="ctr"/>
          <a:lstStyle/>
          <a:p>
            <a:pPr indent="0" marL="0">
              <a:buNone/>
            </a:pPr>
            <a:r>
              <a:rPr lang="en-US" sz="1600" dirty="0">
                <a:solidFill>
                  <a:srgbClr val="E9E4FF"/>
                </a:solidFill>
                <a:latin typeface="Calibri" pitchFamily="34" charset="0"/>
                <a:ea typeface="Calibri" pitchFamily="34" charset="-122"/>
                <a:cs typeface="Calibri" pitchFamily="34" charset="-120"/>
              </a:rPr>
              <a:t>messages each</a:t>
            </a:r>
            <a:endParaRPr lang="en-US" sz="1600" dirty="0"/>
          </a:p>
        </p:txBody>
      </p:sp>
      <p:sp>
        <p:nvSpPr>
          <p:cNvPr id="14" name="a1_in2"/>
          <p:cNvSpPr/>
          <p:nvPr/>
        </p:nvSpPr>
        <p:spPr>
          <a:xfrm>
            <a:off x="548640" y="3941064"/>
            <a:ext cx="420624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5" name="a1_inn2"/>
          <p:cNvSpPr txBox="1"/>
          <p:nvPr/>
        </p:nvSpPr>
        <p:spPr>
          <a:xfrm>
            <a:off x="777240" y="3941064"/>
            <a:ext cx="1737360" cy="914400"/>
          </a:xfrm>
          <a:prstGeom prst="rect">
            <a:avLst/>
          </a:prstGeom>
          <a:noFill/>
          <a:ln/>
        </p:spPr>
        <p:txBody>
          <a:bodyPr wrap="square" lIns="0" tIns="0" rIns="0" bIns="0" rtlCol="0" anchor="ctr"/>
          <a:lstStyle/>
          <a:p>
            <a:pPr indent="0" marL="0">
              <a:buNone/>
            </a:pPr>
            <a:r>
              <a:rPr lang="en-US" sz="3000" b="1" dirty="0">
                <a:solidFill>
                  <a:srgbClr val="FFB547"/>
                </a:solidFill>
                <a:latin typeface="Arial" pitchFamily="34" charset="0"/>
                <a:ea typeface="Arial" pitchFamily="34" charset="-122"/>
                <a:cs typeface="Arial" pitchFamily="34" charset="-120"/>
              </a:rPr>
              <a:t>1,500</a:t>
            </a:r>
            <a:endParaRPr lang="en-US" sz="3000" dirty="0"/>
          </a:p>
        </p:txBody>
      </p:sp>
      <p:sp>
        <p:nvSpPr>
          <p:cNvPr id="16" name="a1_inl2"/>
          <p:cNvSpPr txBox="1"/>
          <p:nvPr/>
        </p:nvSpPr>
        <p:spPr>
          <a:xfrm>
            <a:off x="2560320" y="3941064"/>
            <a:ext cx="2103120" cy="914400"/>
          </a:xfrm>
          <a:prstGeom prst="rect">
            <a:avLst/>
          </a:prstGeom>
          <a:noFill/>
          <a:ln/>
        </p:spPr>
        <p:txBody>
          <a:bodyPr wrap="square" lIns="0" tIns="0" rIns="0" bIns="0" rtlCol="0" anchor="ctr"/>
          <a:lstStyle/>
          <a:p>
            <a:pPr indent="0" marL="0">
              <a:buNone/>
            </a:pPr>
            <a:r>
              <a:rPr lang="en-US" sz="1600" dirty="0">
                <a:solidFill>
                  <a:srgbClr val="E9E4FF"/>
                </a:solidFill>
                <a:latin typeface="Calibri" pitchFamily="34" charset="0"/>
                <a:ea typeface="Calibri" pitchFamily="34" charset="-122"/>
                <a:cs typeface="Calibri" pitchFamily="34" charset="-120"/>
              </a:rPr>
              <a:t>input tokens / msg</a:t>
            </a:r>
            <a:endParaRPr lang="en-US" sz="1600" dirty="0"/>
          </a:p>
        </p:txBody>
      </p:sp>
      <p:sp>
        <p:nvSpPr>
          <p:cNvPr id="17" name="a1_in3"/>
          <p:cNvSpPr/>
          <p:nvPr/>
        </p:nvSpPr>
        <p:spPr>
          <a:xfrm>
            <a:off x="548640" y="5020056"/>
            <a:ext cx="420624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8" name="a1_inn3"/>
          <p:cNvSpPr txBox="1"/>
          <p:nvPr/>
        </p:nvSpPr>
        <p:spPr>
          <a:xfrm>
            <a:off x="777240" y="5020056"/>
            <a:ext cx="1737360" cy="914400"/>
          </a:xfrm>
          <a:prstGeom prst="rect">
            <a:avLst/>
          </a:prstGeom>
          <a:noFill/>
          <a:ln/>
        </p:spPr>
        <p:txBody>
          <a:bodyPr wrap="square" lIns="0" tIns="0" rIns="0" bIns="0" rtlCol="0" anchor="ctr"/>
          <a:lstStyle/>
          <a:p>
            <a:pPr indent="0" marL="0">
              <a:buNone/>
            </a:pPr>
            <a:r>
              <a:rPr lang="en-US" sz="3000" b="1" dirty="0">
                <a:solidFill>
                  <a:srgbClr val="FFB547"/>
                </a:solidFill>
                <a:latin typeface="Arial" pitchFamily="34" charset="0"/>
                <a:ea typeface="Arial" pitchFamily="34" charset="-122"/>
                <a:cs typeface="Arial" pitchFamily="34" charset="-120"/>
              </a:rPr>
              <a:t>300</a:t>
            </a:r>
            <a:endParaRPr lang="en-US" sz="3000" dirty="0"/>
          </a:p>
        </p:txBody>
      </p:sp>
      <p:sp>
        <p:nvSpPr>
          <p:cNvPr id="19" name="a1_inl3"/>
          <p:cNvSpPr txBox="1"/>
          <p:nvPr/>
        </p:nvSpPr>
        <p:spPr>
          <a:xfrm>
            <a:off x="2560320" y="5020056"/>
            <a:ext cx="2103120" cy="914400"/>
          </a:xfrm>
          <a:prstGeom prst="rect">
            <a:avLst/>
          </a:prstGeom>
          <a:noFill/>
          <a:ln/>
        </p:spPr>
        <p:txBody>
          <a:bodyPr wrap="square" lIns="0" tIns="0" rIns="0" bIns="0" rtlCol="0" anchor="ctr"/>
          <a:lstStyle/>
          <a:p>
            <a:pPr indent="0" marL="0">
              <a:buNone/>
            </a:pPr>
            <a:r>
              <a:rPr lang="en-US" sz="1600" dirty="0">
                <a:solidFill>
                  <a:srgbClr val="E9E4FF"/>
                </a:solidFill>
                <a:latin typeface="Calibri" pitchFamily="34" charset="0"/>
                <a:ea typeface="Calibri" pitchFamily="34" charset="-122"/>
                <a:cs typeface="Calibri" pitchFamily="34" charset="-120"/>
              </a:rPr>
              <a:t>output tokens / msg</a:t>
            </a:r>
            <a:endParaRPr lang="en-US" sz="1600" dirty="0"/>
          </a:p>
        </p:txBody>
      </p:sp>
      <p:sp>
        <p:nvSpPr>
          <p:cNvPr id="20" name="a2_arr"/>
          <p:cNvSpPr/>
          <p:nvPr/>
        </p:nvSpPr>
        <p:spPr>
          <a:xfrm>
            <a:off x="4983480" y="3429000"/>
            <a:ext cx="640080" cy="548640"/>
          </a:xfrm>
          <a:prstGeom prst="rightArrow">
            <a:avLst/>
          </a:prstGeom>
          <a:solidFill>
            <a:srgbClr val="2EE6A6"/>
          </a:solidFill>
          <a:ln/>
        </p:spPr>
      </p:sp>
      <p:sp>
        <p:nvSpPr>
          <p:cNvPr id="21" name="a2_out"/>
          <p:cNvSpPr/>
          <p:nvPr/>
        </p:nvSpPr>
        <p:spPr>
          <a:xfrm>
            <a:off x="5852160" y="1783080"/>
            <a:ext cx="5806440" cy="4160520"/>
          </a:xfrm>
          <a:prstGeom prst="roundRect">
            <a:avLst>
              <a:gd name="adj" fmla="val 2637"/>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2" name="a2_big"/>
          <p:cNvSpPr txBox="1"/>
          <p:nvPr/>
        </p:nvSpPr>
        <p:spPr>
          <a:xfrm>
            <a:off x="6172200" y="2011680"/>
            <a:ext cx="5303520" cy="1097280"/>
          </a:xfrm>
          <a:prstGeom prst="rect">
            <a:avLst/>
          </a:prstGeom>
          <a:noFill/>
          <a:ln/>
        </p:spPr>
        <p:txBody>
          <a:bodyPr wrap="square" lIns="0" tIns="0" rIns="0" bIns="0" rtlCol="0" anchor="t"/>
          <a:lstStyle/>
          <a:p>
            <a:pPr indent="0" marL="0">
              <a:buNone/>
            </a:pPr>
            <a:r>
              <a:rPr lang="en-US" sz="6000" b="1" dirty="0">
                <a:solidFill>
                  <a:srgbClr val="2EE6A6"/>
                </a:solidFill>
                <a:latin typeface="Arial" pitchFamily="34" charset="0"/>
                <a:ea typeface="Arial" pitchFamily="34" charset="-122"/>
                <a:cs typeface="Arial" pitchFamily="34" charset="-120"/>
              </a:rPr>
              <a:t>≈ $4 / day</a:t>
            </a:r>
            <a:endParaRPr lang="en-US" sz="6000" dirty="0"/>
          </a:p>
        </p:txBody>
      </p:sp>
      <p:sp>
        <p:nvSpPr>
          <p:cNvPr id="23" name="a2_calc"/>
          <p:cNvSpPr txBox="1"/>
          <p:nvPr/>
        </p:nvSpPr>
        <p:spPr>
          <a:xfrm>
            <a:off x="6172200" y="3154680"/>
            <a:ext cx="5303520" cy="822960"/>
          </a:xfrm>
          <a:prstGeom prst="rect">
            <a:avLst/>
          </a:prstGeom>
          <a:noFill/>
          <a:ln/>
        </p:spPr>
        <p:txBody>
          <a:bodyPr wrap="square" lIns="0" tIns="0" rIns="0" bIns="0" rtlCol="0" anchor="t"/>
          <a:lstStyle/>
          <a:p>
            <a:pPr indent="0" marL="0">
              <a:buNone/>
            </a:pPr>
            <a:r>
              <a:rPr lang="en-US" sz="1300" dirty="0">
                <a:solidFill>
                  <a:srgbClr val="A99BD6"/>
                </a:solidFill>
                <a:latin typeface="Calibri" pitchFamily="34" charset="0"/>
                <a:ea typeface="Calibri" pitchFamily="34" charset="-122"/>
                <a:cs typeface="Calibri" pitchFamily="34" charset="-120"/>
              </a:rPr>
              <a:t>30M input tokens × $0.075/M  +  6M output tokens × $0.30/M</a:t>
            </a:r>
            <a:endParaRPr lang="en-US" sz="1300" dirty="0"/>
          </a:p>
          <a:p>
            <a:pPr indent="0" marL="0">
              <a:buNone/>
            </a:pPr>
            <a:r>
              <a:rPr lang="en-US" sz="1300" dirty="0">
                <a:solidFill>
                  <a:srgbClr val="A99BD6"/>
                </a:solidFill>
                <a:latin typeface="Calibri" pitchFamily="34" charset="0"/>
                <a:ea typeface="Calibri" pitchFamily="34" charset="-122"/>
                <a:cs typeface="Calibri" pitchFamily="34" charset="-120"/>
              </a:rPr>
              <a:t>(example: gpt-oss-20b list price on Groq, Sept 2026)</a:t>
            </a:r>
            <a:endParaRPr lang="en-US" sz="1300" dirty="0"/>
          </a:p>
        </p:txBody>
      </p:sp>
      <p:sp>
        <p:nvSpPr>
          <p:cNvPr id="24" name="a3_cmp"/>
          <p:cNvSpPr txBox="1"/>
          <p:nvPr/>
        </p:nvSpPr>
        <p:spPr>
          <a:xfrm>
            <a:off x="6172200" y="4206240"/>
            <a:ext cx="5303520" cy="1097280"/>
          </a:xfrm>
          <a:prstGeom prst="rect">
            <a:avLst/>
          </a:prstGeom>
          <a:noFill/>
          <a:ln/>
        </p:spPr>
        <p:txBody>
          <a:bodyPr wrap="square" lIns="0" tIns="0" rIns="0" bIns="0" rtlCol="0" anchor="t"/>
          <a:lstStyle/>
          <a:p>
            <a:pPr indent="0" marL="0">
              <a:buNone/>
            </a:pPr>
            <a:r>
              <a:rPr lang="en-US" sz="1600" dirty="0">
                <a:solidFill>
                  <a:srgbClr val="E9E4FF"/>
                </a:solidFill>
                <a:latin typeface="Calibri" pitchFamily="34" charset="0"/>
                <a:ea typeface="Calibri" pitchFamily="34" charset="-122"/>
                <a:cs typeface="Calibri" pitchFamily="34" charset="-120"/>
              </a:rPr>
              <a:t>Same traffic on a frontier model can be </a:t>
            </a:r>
            <a:pPr indent="0" marL="0">
              <a:buNone/>
            </a:pPr>
            <a:r>
              <a:rPr lang="en-US" sz="1600" b="1" dirty="0">
                <a:solidFill>
                  <a:srgbClr val="FF5C8A"/>
                </a:solidFill>
                <a:latin typeface="Calibri" pitchFamily="34" charset="0"/>
                <a:ea typeface="Calibri" pitchFamily="34" charset="-122"/>
                <a:cs typeface="Calibri" pitchFamily="34" charset="-120"/>
              </a:rPr>
              <a:t>20–50× more</a:t>
            </a:r>
            <a:pPr indent="0" marL="0">
              <a:buNone/>
            </a:pPr>
            <a:r>
              <a:rPr lang="en-US" sz="1600" dirty="0">
                <a:solidFill>
                  <a:srgbClr val="E9E4FF"/>
                </a:solidFill>
                <a:latin typeface="Calibri" pitchFamily="34" charset="0"/>
                <a:ea typeface="Calibri" pitchFamily="34" charset="-122"/>
                <a:cs typeface="Calibri" pitchFamily="34" charset="-120"/>
              </a:rPr>
              <a:t>. Model choice is an architecture decision, not a detail.</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decel="100000" fill="hold"/>
                                        <p:tgtEl>
                                          <p:spTgt spid="12"/>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strVal val="#ppt_x"/>
                                          </p:val>
                                        </p:tav>
                                        <p:tav tm="100000">
                                          <p:val>
                                            <p:strVal val="#ppt_x"/>
                                          </p:val>
                                        </p:tav>
                                      </p:tavLst>
                                    </p:anim>
                                    <p:anim calcmode="lin" valueType="num">
                                      <p:cBhvr>
                                        <p:cTn id="32" dur="500" decel="100000" fill="hold"/>
                                        <p:tgtEl>
                                          <p:spTgt spid="13"/>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anim calcmode="lin" valueType="num">
                                      <p:cBhvr>
                                        <p:cTn id="36" dur="500" fill="hold"/>
                                        <p:tgtEl>
                                          <p:spTgt spid="14"/>
                                        </p:tgtEl>
                                        <p:attrNameLst>
                                          <p:attrName>ppt_x</p:attrName>
                                        </p:attrNameLst>
                                      </p:cBhvr>
                                      <p:tavLst>
                                        <p:tav tm="0">
                                          <p:val>
                                            <p:strVal val="#ppt_x"/>
                                          </p:val>
                                        </p:tav>
                                        <p:tav tm="100000">
                                          <p:val>
                                            <p:strVal val="#ppt_x"/>
                                          </p:val>
                                        </p:tav>
                                      </p:tavLst>
                                    </p:anim>
                                    <p:anim calcmode="lin" valueType="num">
                                      <p:cBhvr>
                                        <p:cTn id="37" dur="500" decel="100000" fill="hold"/>
                                        <p:tgtEl>
                                          <p:spTgt spid="14"/>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decel="100000" fill="hold"/>
                                        <p:tgtEl>
                                          <p:spTgt spid="15"/>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anim calcmode="lin" valueType="num">
                                      <p:cBhvr>
                                        <p:cTn id="46" dur="500" fill="hold"/>
                                        <p:tgtEl>
                                          <p:spTgt spid="16"/>
                                        </p:tgtEl>
                                        <p:attrNameLst>
                                          <p:attrName>ppt_x</p:attrName>
                                        </p:attrNameLst>
                                      </p:cBhvr>
                                      <p:tavLst>
                                        <p:tav tm="0">
                                          <p:val>
                                            <p:strVal val="#ppt_x"/>
                                          </p:val>
                                        </p:tav>
                                        <p:tav tm="100000">
                                          <p:val>
                                            <p:strVal val="#ppt_x"/>
                                          </p:val>
                                        </p:tav>
                                      </p:tavLst>
                                    </p:anim>
                                    <p:anim calcmode="lin" valueType="num">
                                      <p:cBhvr>
                                        <p:cTn id="47" dur="500" decel="100000" fill="hold"/>
                                        <p:tgtEl>
                                          <p:spTgt spid="16"/>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decel="100000" fill="hold"/>
                                        <p:tgtEl>
                                          <p:spTgt spid="17"/>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anim calcmode="lin" valueType="num">
                                      <p:cBhvr>
                                        <p:cTn id="56" dur="500" fill="hold"/>
                                        <p:tgtEl>
                                          <p:spTgt spid="18"/>
                                        </p:tgtEl>
                                        <p:attrNameLst>
                                          <p:attrName>ppt_x</p:attrName>
                                        </p:attrNameLst>
                                      </p:cBhvr>
                                      <p:tavLst>
                                        <p:tav tm="0">
                                          <p:val>
                                            <p:strVal val="#ppt_x"/>
                                          </p:val>
                                        </p:tav>
                                        <p:tav tm="100000">
                                          <p:val>
                                            <p:strVal val="#ppt_x"/>
                                          </p:val>
                                        </p:tav>
                                      </p:tavLst>
                                    </p:anim>
                                    <p:anim calcmode="lin" valueType="num">
                                      <p:cBhvr>
                                        <p:cTn id="57" dur="500" decel="100000" fill="hold"/>
                                        <p:tgtEl>
                                          <p:spTgt spid="18"/>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strVal val="#ppt_x"/>
                                          </p:val>
                                        </p:tav>
                                        <p:tav tm="100000">
                                          <p:val>
                                            <p:strVal val="#ppt_x"/>
                                          </p:val>
                                        </p:tav>
                                      </p:tavLst>
                                    </p:anim>
                                    <p:anim calcmode="lin" valueType="num">
                                      <p:cBhvr>
                                        <p:cTn id="62" dur="5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decel="1000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anim calcmode="lin" valueType="num">
                                      <p:cBhvr>
                                        <p:cTn id="73" dur="500" fill="hold"/>
                                        <p:tgtEl>
                                          <p:spTgt spid="21"/>
                                        </p:tgtEl>
                                        <p:attrNameLst>
                                          <p:attrName>ppt_x</p:attrName>
                                        </p:attrNameLst>
                                      </p:cBhvr>
                                      <p:tavLst>
                                        <p:tav tm="0">
                                          <p:val>
                                            <p:strVal val="#ppt_x"/>
                                          </p:val>
                                        </p:tav>
                                        <p:tav tm="100000">
                                          <p:val>
                                            <p:strVal val="#ppt_x"/>
                                          </p:val>
                                        </p:tav>
                                      </p:tavLst>
                                    </p:anim>
                                    <p:anim calcmode="lin" valueType="num">
                                      <p:cBhvr>
                                        <p:cTn id="74" dur="500" decel="1000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decel="1000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p:cTn id="83" dur="500" fill="hold"/>
                                        <p:tgtEl>
                                          <p:spTgt spid="23"/>
                                        </p:tgtEl>
                                        <p:attrNameLst>
                                          <p:attrName>ppt_x</p:attrName>
                                        </p:attrNameLst>
                                      </p:cBhvr>
                                      <p:tavLst>
                                        <p:tav tm="0">
                                          <p:val>
                                            <p:strVal val="#ppt_x"/>
                                          </p:val>
                                        </p:tav>
                                        <p:tav tm="100000">
                                          <p:val>
                                            <p:strVal val="#ppt_x"/>
                                          </p:val>
                                        </p:tav>
                                      </p:tavLst>
                                    </p:anim>
                                    <p:anim calcmode="lin" valueType="num">
                                      <p:cBhvr>
                                        <p:cTn id="84"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anim calcmode="lin" valueType="num">
                                      <p:cBhvr>
                                        <p:cTn id="90" dur="500" fill="hold"/>
                                        <p:tgtEl>
                                          <p:spTgt spid="24"/>
                                        </p:tgtEl>
                                        <p:attrNameLst>
                                          <p:attrName>ppt_x</p:attrName>
                                        </p:attrNameLst>
                                      </p:cBhvr>
                                      <p:tavLst>
                                        <p:tav tm="0">
                                          <p:val>
                                            <p:strVal val="#ppt_x"/>
                                          </p:val>
                                        </p:tav>
                                        <p:tav tm="100000">
                                          <p:val>
                                            <p:strVal val="#ppt_x"/>
                                          </p:val>
                                        </p:tav>
                                      </p:tavLst>
                                    </p:anim>
                                    <p:anim calcmode="lin" valueType="num">
                                      <p:cBhvr>
                                        <p:cTn id="91" dur="500" decel="100000" fill="hold"/>
                                        <p:tgtEl>
                                          <p:spTgt spid="2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29</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60-SECOND QUIZ · ANSWER IN CHAT</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Did it stick?</a:t>
            </a:r>
            <a:endParaRPr lang="en-US" sz="3400" dirty="0"/>
          </a:p>
        </p:txBody>
      </p:sp>
      <p:sp>
        <p:nvSpPr>
          <p:cNvPr id="8" name="Shape 6"/>
          <p:cNvSpPr/>
          <p:nvPr/>
        </p:nvSpPr>
        <p:spPr>
          <a:xfrm>
            <a:off x="548640" y="1783080"/>
            <a:ext cx="667512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Text 7"/>
          <p:cNvSpPr txBox="1"/>
          <p:nvPr/>
        </p:nvSpPr>
        <p:spPr>
          <a:xfrm>
            <a:off x="731520" y="1783080"/>
            <a:ext cx="640080" cy="914400"/>
          </a:xfrm>
          <a:prstGeom prst="rect">
            <a:avLst/>
          </a:prstGeom>
          <a:noFill/>
          <a:ln/>
        </p:spPr>
        <p:txBody>
          <a:bodyPr wrap="square" lIns="0" tIns="0" rIns="0" bIns="0" rtlCol="0" anchor="ctr"/>
          <a:lstStyle/>
          <a:p>
            <a:pPr indent="0" marL="0">
              <a:buNone/>
            </a:pPr>
            <a:r>
              <a:rPr lang="en-US" sz="2000" b="1" dirty="0">
                <a:solidFill>
                  <a:srgbClr val="FFB547"/>
                </a:solidFill>
                <a:latin typeface="Arial" pitchFamily="34" charset="0"/>
                <a:ea typeface="Arial" pitchFamily="34" charset="-122"/>
                <a:cs typeface="Arial" pitchFamily="34" charset="-120"/>
              </a:rPr>
              <a:t>Q1</a:t>
            </a:r>
            <a:endParaRPr lang="en-US" sz="2000" dirty="0"/>
          </a:p>
        </p:txBody>
      </p:sp>
      <p:sp>
        <p:nvSpPr>
          <p:cNvPr id="10" name="Text 8"/>
          <p:cNvSpPr txBox="1"/>
          <p:nvPr/>
        </p:nvSpPr>
        <p:spPr>
          <a:xfrm>
            <a:off x="1371600" y="1783080"/>
            <a:ext cx="576072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An LLM, at its core, predicts…</a:t>
            </a:r>
            <a:endParaRPr lang="en-US" sz="1700" dirty="0"/>
          </a:p>
        </p:txBody>
      </p:sp>
      <p:sp>
        <p:nvSpPr>
          <p:cNvPr id="11" name="a1_ans0"/>
          <p:cNvSpPr/>
          <p:nvPr/>
        </p:nvSpPr>
        <p:spPr>
          <a:xfrm>
            <a:off x="7406640" y="1783080"/>
            <a:ext cx="4251960" cy="914400"/>
          </a:xfrm>
          <a:prstGeom prst="roundRect">
            <a:avLst>
              <a:gd name="adj" fmla="val 10000"/>
            </a:avLst>
          </a:prstGeom>
          <a:solidFill>
            <a:srgbClr val="2EE6A6">
              <a:alpha val="18000"/>
            </a:srgbClr>
          </a:solidFill>
          <a:ln w="19050">
            <a:solidFill>
              <a:srgbClr val="2EE6A6"/>
            </a:solidFill>
            <a:prstDash val="solid"/>
          </a:ln>
        </p:spPr>
      </p:sp>
      <p:sp>
        <p:nvSpPr>
          <p:cNvPr id="12" name="a1_anst0"/>
          <p:cNvSpPr txBox="1"/>
          <p:nvPr/>
        </p:nvSpPr>
        <p:spPr>
          <a:xfrm>
            <a:off x="7589520" y="1783080"/>
            <a:ext cx="3977640" cy="914400"/>
          </a:xfrm>
          <a:prstGeom prst="rect">
            <a:avLst/>
          </a:prstGeom>
          <a:noFill/>
          <a:ln/>
        </p:spPr>
        <p:txBody>
          <a:bodyPr wrap="square" lIns="0" tIns="0" rIns="0" bIns="0" rtlCol="0" anchor="ctr"/>
          <a:lstStyle/>
          <a:p>
            <a:pPr indent="0" marL="0">
              <a:buNone/>
            </a:pPr>
            <a:r>
              <a:rPr lang="en-US" sz="1600" b="1" dirty="0">
                <a:solidFill>
                  <a:srgbClr val="2EE6A6"/>
                </a:solidFill>
                <a:latin typeface="Arial" pitchFamily="34" charset="0"/>
                <a:ea typeface="Arial" pitchFamily="34" charset="-122"/>
                <a:cs typeface="Arial" pitchFamily="34" charset="-120"/>
              </a:rPr>
              <a:t>✓  The next token</a:t>
            </a:r>
            <a:endParaRPr lang="en-US" sz="1600" dirty="0"/>
          </a:p>
        </p:txBody>
      </p:sp>
      <p:sp>
        <p:nvSpPr>
          <p:cNvPr id="13" name="Shape 11"/>
          <p:cNvSpPr/>
          <p:nvPr/>
        </p:nvSpPr>
        <p:spPr>
          <a:xfrm>
            <a:off x="548640" y="2880360"/>
            <a:ext cx="667512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4" name="Text 12"/>
          <p:cNvSpPr txBox="1"/>
          <p:nvPr/>
        </p:nvSpPr>
        <p:spPr>
          <a:xfrm>
            <a:off x="731520" y="2880360"/>
            <a:ext cx="640080" cy="914400"/>
          </a:xfrm>
          <a:prstGeom prst="rect">
            <a:avLst/>
          </a:prstGeom>
          <a:noFill/>
          <a:ln/>
        </p:spPr>
        <p:txBody>
          <a:bodyPr wrap="square" lIns="0" tIns="0" rIns="0" bIns="0" rtlCol="0" anchor="ctr"/>
          <a:lstStyle/>
          <a:p>
            <a:pPr indent="0" marL="0">
              <a:buNone/>
            </a:pPr>
            <a:r>
              <a:rPr lang="en-US" sz="2000" b="1" dirty="0">
                <a:solidFill>
                  <a:srgbClr val="FFB547"/>
                </a:solidFill>
                <a:latin typeface="Arial" pitchFamily="34" charset="0"/>
                <a:ea typeface="Arial" pitchFamily="34" charset="-122"/>
                <a:cs typeface="Arial" pitchFamily="34" charset="-120"/>
              </a:rPr>
              <a:t>Q2</a:t>
            </a:r>
            <a:endParaRPr lang="en-US" sz="2000" dirty="0"/>
          </a:p>
        </p:txBody>
      </p:sp>
      <p:sp>
        <p:nvSpPr>
          <p:cNvPr id="15" name="Text 13"/>
          <p:cNvSpPr txBox="1"/>
          <p:nvPr/>
        </p:nvSpPr>
        <p:spPr>
          <a:xfrm>
            <a:off x="1371600" y="2880360"/>
            <a:ext cx="576072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You call the API twice. Does call 2 remember call 1?</a:t>
            </a:r>
            <a:endParaRPr lang="en-US" sz="1700" dirty="0"/>
          </a:p>
        </p:txBody>
      </p:sp>
      <p:sp>
        <p:nvSpPr>
          <p:cNvPr id="16" name="a2_ans1"/>
          <p:cNvSpPr/>
          <p:nvPr/>
        </p:nvSpPr>
        <p:spPr>
          <a:xfrm>
            <a:off x="7406640" y="2880360"/>
            <a:ext cx="4251960" cy="914400"/>
          </a:xfrm>
          <a:prstGeom prst="roundRect">
            <a:avLst>
              <a:gd name="adj" fmla="val 10000"/>
            </a:avLst>
          </a:prstGeom>
          <a:solidFill>
            <a:srgbClr val="2EE6A6">
              <a:alpha val="18000"/>
            </a:srgbClr>
          </a:solidFill>
          <a:ln w="19050">
            <a:solidFill>
              <a:srgbClr val="2EE6A6"/>
            </a:solidFill>
            <a:prstDash val="solid"/>
          </a:ln>
        </p:spPr>
      </p:sp>
      <p:sp>
        <p:nvSpPr>
          <p:cNvPr id="17" name="a2_anst1"/>
          <p:cNvSpPr txBox="1"/>
          <p:nvPr/>
        </p:nvSpPr>
        <p:spPr>
          <a:xfrm>
            <a:off x="7589520" y="2880360"/>
            <a:ext cx="3977640" cy="914400"/>
          </a:xfrm>
          <a:prstGeom prst="rect">
            <a:avLst/>
          </a:prstGeom>
          <a:noFill/>
          <a:ln/>
        </p:spPr>
        <p:txBody>
          <a:bodyPr wrap="square" lIns="0" tIns="0" rIns="0" bIns="0" rtlCol="0" anchor="ctr"/>
          <a:lstStyle/>
          <a:p>
            <a:pPr indent="0" marL="0">
              <a:buNone/>
            </a:pPr>
            <a:r>
              <a:rPr lang="en-US" sz="1600" b="1" dirty="0">
                <a:solidFill>
                  <a:srgbClr val="2EE6A6"/>
                </a:solidFill>
                <a:latin typeface="Arial" pitchFamily="34" charset="0"/>
                <a:ea typeface="Arial" pitchFamily="34" charset="-122"/>
                <a:cs typeface="Arial" pitchFamily="34" charset="-120"/>
              </a:rPr>
              <a:t>✓  No. Stateless. You resend history</a:t>
            </a:r>
            <a:endParaRPr lang="en-US" sz="1600" dirty="0"/>
          </a:p>
        </p:txBody>
      </p:sp>
      <p:sp>
        <p:nvSpPr>
          <p:cNvPr id="18" name="Shape 16"/>
          <p:cNvSpPr/>
          <p:nvPr/>
        </p:nvSpPr>
        <p:spPr>
          <a:xfrm>
            <a:off x="548640" y="3977640"/>
            <a:ext cx="667512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9" name="Text 17"/>
          <p:cNvSpPr txBox="1"/>
          <p:nvPr/>
        </p:nvSpPr>
        <p:spPr>
          <a:xfrm>
            <a:off x="731520" y="3977640"/>
            <a:ext cx="640080" cy="914400"/>
          </a:xfrm>
          <a:prstGeom prst="rect">
            <a:avLst/>
          </a:prstGeom>
          <a:noFill/>
          <a:ln/>
        </p:spPr>
        <p:txBody>
          <a:bodyPr wrap="square" lIns="0" tIns="0" rIns="0" bIns="0" rtlCol="0" anchor="ctr"/>
          <a:lstStyle/>
          <a:p>
            <a:pPr indent="0" marL="0">
              <a:buNone/>
            </a:pPr>
            <a:r>
              <a:rPr lang="en-US" sz="2000" b="1" dirty="0">
                <a:solidFill>
                  <a:srgbClr val="FFB547"/>
                </a:solidFill>
                <a:latin typeface="Arial" pitchFamily="34" charset="0"/>
                <a:ea typeface="Arial" pitchFamily="34" charset="-122"/>
                <a:cs typeface="Arial" pitchFamily="34" charset="-120"/>
              </a:rPr>
              <a:t>Q3</a:t>
            </a:r>
            <a:endParaRPr lang="en-US" sz="2000" dirty="0"/>
          </a:p>
        </p:txBody>
      </p:sp>
      <p:sp>
        <p:nvSpPr>
          <p:cNvPr id="20" name="Text 18"/>
          <p:cNvSpPr txBox="1"/>
          <p:nvPr/>
        </p:nvSpPr>
        <p:spPr>
          <a:xfrm>
            <a:off x="1371600" y="3977640"/>
            <a:ext cx="576072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You need clean JSON every time. Temperature?</a:t>
            </a:r>
            <a:endParaRPr lang="en-US" sz="1700" dirty="0"/>
          </a:p>
        </p:txBody>
      </p:sp>
      <p:sp>
        <p:nvSpPr>
          <p:cNvPr id="21" name="a3_ans2"/>
          <p:cNvSpPr/>
          <p:nvPr/>
        </p:nvSpPr>
        <p:spPr>
          <a:xfrm>
            <a:off x="7406640" y="3977640"/>
            <a:ext cx="4251960" cy="914400"/>
          </a:xfrm>
          <a:prstGeom prst="roundRect">
            <a:avLst>
              <a:gd name="adj" fmla="val 10000"/>
            </a:avLst>
          </a:prstGeom>
          <a:solidFill>
            <a:srgbClr val="2EE6A6">
              <a:alpha val="18000"/>
            </a:srgbClr>
          </a:solidFill>
          <a:ln w="19050">
            <a:solidFill>
              <a:srgbClr val="2EE6A6"/>
            </a:solidFill>
            <a:prstDash val="solid"/>
          </a:ln>
        </p:spPr>
      </p:sp>
      <p:sp>
        <p:nvSpPr>
          <p:cNvPr id="22" name="a3_anst2"/>
          <p:cNvSpPr txBox="1"/>
          <p:nvPr/>
        </p:nvSpPr>
        <p:spPr>
          <a:xfrm>
            <a:off x="7589520" y="3977640"/>
            <a:ext cx="3977640" cy="914400"/>
          </a:xfrm>
          <a:prstGeom prst="rect">
            <a:avLst/>
          </a:prstGeom>
          <a:noFill/>
          <a:ln/>
        </p:spPr>
        <p:txBody>
          <a:bodyPr wrap="square" lIns="0" tIns="0" rIns="0" bIns="0" rtlCol="0" anchor="ctr"/>
          <a:lstStyle/>
          <a:p>
            <a:pPr indent="0" marL="0">
              <a:buNone/>
            </a:pPr>
            <a:r>
              <a:rPr lang="en-US" sz="1600" b="1" dirty="0">
                <a:solidFill>
                  <a:srgbClr val="2EE6A6"/>
                </a:solidFill>
                <a:latin typeface="Arial" pitchFamily="34" charset="0"/>
                <a:ea typeface="Arial" pitchFamily="34" charset="-122"/>
                <a:cs typeface="Arial" pitchFamily="34" charset="-120"/>
              </a:rPr>
              <a:t>✓  Low (≈ 0 – 0.2)</a:t>
            </a:r>
            <a:endParaRPr lang="en-US" sz="1600" dirty="0"/>
          </a:p>
        </p:txBody>
      </p:sp>
      <p:sp>
        <p:nvSpPr>
          <p:cNvPr id="23" name="Shape 21"/>
          <p:cNvSpPr/>
          <p:nvPr/>
        </p:nvSpPr>
        <p:spPr>
          <a:xfrm>
            <a:off x="548640" y="5074920"/>
            <a:ext cx="6675120" cy="914400"/>
          </a:xfrm>
          <a:prstGeom prst="roundRect">
            <a:avLst>
              <a:gd name="adj" fmla="val 12000"/>
            </a:avLst>
          </a:prstGeom>
          <a:solidFill>
            <a:srgbClr val="1A1433"/>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4" name="Text 22"/>
          <p:cNvSpPr txBox="1"/>
          <p:nvPr/>
        </p:nvSpPr>
        <p:spPr>
          <a:xfrm>
            <a:off x="731520" y="5074920"/>
            <a:ext cx="640080" cy="914400"/>
          </a:xfrm>
          <a:prstGeom prst="rect">
            <a:avLst/>
          </a:prstGeom>
          <a:noFill/>
          <a:ln/>
        </p:spPr>
        <p:txBody>
          <a:bodyPr wrap="square" lIns="0" tIns="0" rIns="0" bIns="0" rtlCol="0" anchor="ctr"/>
          <a:lstStyle/>
          <a:p>
            <a:pPr indent="0" marL="0">
              <a:buNone/>
            </a:pPr>
            <a:r>
              <a:rPr lang="en-US" sz="2000" b="1" dirty="0">
                <a:solidFill>
                  <a:srgbClr val="FFB547"/>
                </a:solidFill>
                <a:latin typeface="Arial" pitchFamily="34" charset="0"/>
                <a:ea typeface="Arial" pitchFamily="34" charset="-122"/>
                <a:cs typeface="Arial" pitchFamily="34" charset="-120"/>
              </a:rPr>
              <a:t>Q4</a:t>
            </a:r>
            <a:endParaRPr lang="en-US" sz="2000" dirty="0"/>
          </a:p>
        </p:txBody>
      </p:sp>
      <p:sp>
        <p:nvSpPr>
          <p:cNvPr id="25" name="Text 23"/>
          <p:cNvSpPr txBox="1"/>
          <p:nvPr/>
        </p:nvSpPr>
        <p:spPr>
          <a:xfrm>
            <a:off x="1371600" y="5074920"/>
            <a:ext cx="576072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finish_reason is "length". What happened?</a:t>
            </a:r>
            <a:endParaRPr lang="en-US" sz="1700" dirty="0"/>
          </a:p>
        </p:txBody>
      </p:sp>
      <p:sp>
        <p:nvSpPr>
          <p:cNvPr id="26" name="a4_ans3"/>
          <p:cNvSpPr/>
          <p:nvPr/>
        </p:nvSpPr>
        <p:spPr>
          <a:xfrm>
            <a:off x="7406640" y="5074920"/>
            <a:ext cx="4251960" cy="914400"/>
          </a:xfrm>
          <a:prstGeom prst="roundRect">
            <a:avLst>
              <a:gd name="adj" fmla="val 10000"/>
            </a:avLst>
          </a:prstGeom>
          <a:solidFill>
            <a:srgbClr val="2EE6A6">
              <a:alpha val="18000"/>
            </a:srgbClr>
          </a:solidFill>
          <a:ln w="19050">
            <a:solidFill>
              <a:srgbClr val="2EE6A6"/>
            </a:solidFill>
            <a:prstDash val="solid"/>
          </a:ln>
        </p:spPr>
      </p:sp>
      <p:sp>
        <p:nvSpPr>
          <p:cNvPr id="27" name="a4_anst3"/>
          <p:cNvSpPr txBox="1"/>
          <p:nvPr/>
        </p:nvSpPr>
        <p:spPr>
          <a:xfrm>
            <a:off x="7589520" y="5074920"/>
            <a:ext cx="3977640" cy="914400"/>
          </a:xfrm>
          <a:prstGeom prst="rect">
            <a:avLst/>
          </a:prstGeom>
          <a:noFill/>
          <a:ln/>
        </p:spPr>
        <p:txBody>
          <a:bodyPr wrap="square" lIns="0" tIns="0" rIns="0" bIns="0" rtlCol="0" anchor="ctr"/>
          <a:lstStyle/>
          <a:p>
            <a:pPr indent="0" marL="0">
              <a:buNone/>
            </a:pPr>
            <a:r>
              <a:rPr lang="en-US" sz="1600" b="1" dirty="0">
                <a:solidFill>
                  <a:srgbClr val="2EE6A6"/>
                </a:solidFill>
                <a:latin typeface="Arial" pitchFamily="34" charset="0"/>
                <a:ea typeface="Arial" pitchFamily="34" charset="-122"/>
                <a:cs typeface="Arial" pitchFamily="34" charset="-120"/>
              </a:rPr>
              <a:t>✓  Hit max_tokens. The answer is cut off</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anim calcmode="lin" valueType="num">
                                      <p:cBhvr>
                                        <p:cTn id="6" dur="500" fill="hold"/>
                                        <p:tgtEl>
                                          <p:spTgt spid="11"/>
                                        </p:tgtEl>
                                        <p:attrNameLst>
                                          <p:attrName>ppt_x</p:attrName>
                                        </p:attrNameLst>
                                      </p:cBhvr>
                                      <p:tavLst>
                                        <p:tav tm="0">
                                          <p:val>
                                            <p:strVal val="#ppt_x"/>
                                          </p:val>
                                        </p:tav>
                                        <p:tav tm="100000">
                                          <p:val>
                                            <p:strVal val="#ppt_x"/>
                                          </p:val>
                                        </p:tav>
                                      </p:tavLst>
                                    </p:anim>
                                    <p:anim calcmode="lin" valueType="num">
                                      <p:cBhvr>
                                        <p:cTn id="7" dur="500" decel="100000" fill="hold"/>
                                        <p:tgtEl>
                                          <p:spTgt spid="11"/>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anim calcmode="lin" valueType="num">
                                      <p:cBhvr>
                                        <p:cTn id="18" dur="500" fill="hold"/>
                                        <p:tgtEl>
                                          <p:spTgt spid="16"/>
                                        </p:tgtEl>
                                        <p:attrNameLst>
                                          <p:attrName>ppt_x</p:attrName>
                                        </p:attrNameLst>
                                      </p:cBhvr>
                                      <p:tavLst>
                                        <p:tav tm="0">
                                          <p:val>
                                            <p:strVal val="#ppt_x"/>
                                          </p:val>
                                        </p:tav>
                                        <p:tav tm="100000">
                                          <p:val>
                                            <p:strVal val="#ppt_x"/>
                                          </p:val>
                                        </p:tav>
                                      </p:tavLst>
                                    </p:anim>
                                    <p:anim calcmode="lin" valueType="num">
                                      <p:cBhvr>
                                        <p:cTn id="19" dur="500" decel="100000" fill="hold"/>
                                        <p:tgtEl>
                                          <p:spTgt spid="1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anim calcmode="lin" valueType="num">
                                      <p:cBhvr>
                                        <p:cTn id="23" dur="500" fill="hold"/>
                                        <p:tgtEl>
                                          <p:spTgt spid="17"/>
                                        </p:tgtEl>
                                        <p:attrNameLst>
                                          <p:attrName>ppt_x</p:attrName>
                                        </p:attrNameLst>
                                      </p:cBhvr>
                                      <p:tavLst>
                                        <p:tav tm="0">
                                          <p:val>
                                            <p:strVal val="#ppt_x"/>
                                          </p:val>
                                        </p:tav>
                                        <p:tav tm="100000">
                                          <p:val>
                                            <p:strVal val="#ppt_x"/>
                                          </p:val>
                                        </p:tav>
                                      </p:tavLst>
                                    </p:anim>
                                    <p:anim calcmode="lin" valueType="num">
                                      <p:cBhvr>
                                        <p:cTn id="24" dur="50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anim calcmode="lin" valueType="num">
                                      <p:cBhvr>
                                        <p:cTn id="30" dur="500" fill="hold"/>
                                        <p:tgtEl>
                                          <p:spTgt spid="21"/>
                                        </p:tgtEl>
                                        <p:attrNameLst>
                                          <p:attrName>ppt_x</p:attrName>
                                        </p:attrNameLst>
                                      </p:cBhvr>
                                      <p:tavLst>
                                        <p:tav tm="0">
                                          <p:val>
                                            <p:strVal val="#ppt_x"/>
                                          </p:val>
                                        </p:tav>
                                        <p:tav tm="100000">
                                          <p:val>
                                            <p:strVal val="#ppt_x"/>
                                          </p:val>
                                        </p:tav>
                                      </p:tavLst>
                                    </p:anim>
                                    <p:anim calcmode="lin" valueType="num">
                                      <p:cBhvr>
                                        <p:cTn id="31" dur="500" decel="100000" fill="hold"/>
                                        <p:tgtEl>
                                          <p:spTgt spid="21"/>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anim calcmode="lin" valueType="num">
                                      <p:cBhvr>
                                        <p:cTn id="35" dur="500" fill="hold"/>
                                        <p:tgtEl>
                                          <p:spTgt spid="22"/>
                                        </p:tgtEl>
                                        <p:attrNameLst>
                                          <p:attrName>ppt_x</p:attrName>
                                        </p:attrNameLst>
                                      </p:cBhvr>
                                      <p:tavLst>
                                        <p:tav tm="0">
                                          <p:val>
                                            <p:strVal val="#ppt_x"/>
                                          </p:val>
                                        </p:tav>
                                        <p:tav tm="100000">
                                          <p:val>
                                            <p:strVal val="#ppt_x"/>
                                          </p:val>
                                        </p:tav>
                                      </p:tavLst>
                                    </p:anim>
                                    <p:anim calcmode="lin" valueType="num">
                                      <p:cBhvr>
                                        <p:cTn id="36" dur="5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anim calcmode="lin" valueType="num">
                                      <p:cBhvr>
                                        <p:cTn id="42" dur="500" fill="hold"/>
                                        <p:tgtEl>
                                          <p:spTgt spid="26"/>
                                        </p:tgtEl>
                                        <p:attrNameLst>
                                          <p:attrName>ppt_x</p:attrName>
                                        </p:attrNameLst>
                                      </p:cBhvr>
                                      <p:tavLst>
                                        <p:tav tm="0">
                                          <p:val>
                                            <p:strVal val="#ppt_x"/>
                                          </p:val>
                                        </p:tav>
                                        <p:tav tm="100000">
                                          <p:val>
                                            <p:strVal val="#ppt_x"/>
                                          </p:val>
                                        </p:tav>
                                      </p:tavLst>
                                    </p:anim>
                                    <p:anim calcmode="lin" valueType="num">
                                      <p:cBhvr>
                                        <p:cTn id="43" dur="500" decel="100000" fill="hold"/>
                                        <p:tgtEl>
                                          <p:spTgt spid="26"/>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anim calcmode="lin" valueType="num">
                                      <p:cBhvr>
                                        <p:cTn id="47" dur="500" fill="hold"/>
                                        <p:tgtEl>
                                          <p:spTgt spid="27"/>
                                        </p:tgtEl>
                                        <p:attrNameLst>
                                          <p:attrName>ppt_x</p:attrName>
                                        </p:attrNameLst>
                                      </p:cBhvr>
                                      <p:tavLst>
                                        <p:tav tm="0">
                                          <p:val>
                                            <p:strVal val="#ppt_x"/>
                                          </p:val>
                                        </p:tav>
                                        <p:tav tm="100000">
                                          <p:val>
                                            <p:strVal val="#ppt_x"/>
                                          </p:val>
                                        </p:tav>
                                      </p:tavLst>
                                    </p:anim>
                                    <p:anim calcmode="lin" valueType="num">
                                      <p:cBhvr>
                                        <p:cTn id="48"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7" grpId="0" animBg="1"/>
      <p:bldP spid="21" grpId="0" animBg="1"/>
      <p:bldP spid="22" grpId="0" animBg="1"/>
      <p:bldP spid="26" grpId="0" animBg="1"/>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30</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YOUR MISSION BEFORE SESSION 02</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Assignment: talk to an LLM with raw HttpClient</a:t>
            </a:r>
            <a:endParaRPr lang="en-US" sz="3400" dirty="0"/>
          </a:p>
        </p:txBody>
      </p:sp>
      <p:sp>
        <p:nvSpPr>
          <p:cNvPr id="8" name="a1_sn0"/>
          <p:cNvSpPr/>
          <p:nvPr/>
        </p:nvSpPr>
        <p:spPr>
          <a:xfrm>
            <a:off x="548640" y="1874520"/>
            <a:ext cx="685800" cy="685800"/>
          </a:xfrm>
          <a:prstGeom prst="ellipse">
            <a:avLst/>
          </a:prstGeom>
          <a:solidFill>
            <a:srgbClr val="7C4DFF"/>
          </a:solidFill>
          <a:ln/>
        </p:spPr>
      </p:sp>
      <p:sp>
        <p:nvSpPr>
          <p:cNvPr id="9" name="a1_snt0"/>
          <p:cNvSpPr txBox="1"/>
          <p:nvPr/>
        </p:nvSpPr>
        <p:spPr>
          <a:xfrm>
            <a:off x="548640" y="18745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0" name="a1_st0"/>
          <p:cNvSpPr txBox="1"/>
          <p:nvPr/>
        </p:nvSpPr>
        <p:spPr>
          <a:xfrm>
            <a:off x="1463040" y="1856232"/>
            <a:ext cx="530352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Get a free Groq key</a:t>
            </a:r>
            <a:endParaRPr lang="en-US" sz="1900" dirty="0"/>
          </a:p>
        </p:txBody>
      </p:sp>
      <p:sp>
        <p:nvSpPr>
          <p:cNvPr id="11" name="a1_sd0"/>
          <p:cNvSpPr txBox="1"/>
          <p:nvPr/>
        </p:nvSpPr>
        <p:spPr>
          <a:xfrm>
            <a:off x="1463040" y="2258568"/>
            <a:ext cx="5303520" cy="4114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console.groq.com/keys · store it in an env var</a:t>
            </a:r>
            <a:endParaRPr lang="en-US" sz="1400" dirty="0"/>
          </a:p>
        </p:txBody>
      </p:sp>
      <p:sp>
        <p:nvSpPr>
          <p:cNvPr id="12" name="a2_sn1"/>
          <p:cNvSpPr/>
          <p:nvPr/>
        </p:nvSpPr>
        <p:spPr>
          <a:xfrm>
            <a:off x="548640" y="2953512"/>
            <a:ext cx="685800" cy="685800"/>
          </a:xfrm>
          <a:prstGeom prst="ellipse">
            <a:avLst/>
          </a:prstGeom>
          <a:solidFill>
            <a:srgbClr val="7C4DFF"/>
          </a:solidFill>
          <a:ln/>
        </p:spPr>
      </p:sp>
      <p:sp>
        <p:nvSpPr>
          <p:cNvPr id="13" name="a2_snt1"/>
          <p:cNvSpPr txBox="1"/>
          <p:nvPr/>
        </p:nvSpPr>
        <p:spPr>
          <a:xfrm>
            <a:off x="548640" y="295351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4" name="a2_st1"/>
          <p:cNvSpPr txBox="1"/>
          <p:nvPr/>
        </p:nvSpPr>
        <p:spPr>
          <a:xfrm>
            <a:off x="1463040" y="2935224"/>
            <a:ext cx="530352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Open AssignmentStarter</a:t>
            </a:r>
            <a:endParaRPr lang="en-US" sz="1900" dirty="0"/>
          </a:p>
        </p:txBody>
      </p:sp>
      <p:sp>
        <p:nvSpPr>
          <p:cNvPr id="15" name="a2_sd1"/>
          <p:cNvSpPr txBox="1"/>
          <p:nvPr/>
        </p:nvSpPr>
        <p:spPr>
          <a:xfrm>
            <a:off x="1463040" y="3337560"/>
            <a:ext cx="5303520" cy="4114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Fill in 5 TODOs in Program.cs</a:t>
            </a:r>
            <a:endParaRPr lang="en-US" sz="1400" dirty="0"/>
          </a:p>
        </p:txBody>
      </p:sp>
      <p:sp>
        <p:nvSpPr>
          <p:cNvPr id="16" name="a3_sn2"/>
          <p:cNvSpPr/>
          <p:nvPr/>
        </p:nvSpPr>
        <p:spPr>
          <a:xfrm>
            <a:off x="548640" y="4032504"/>
            <a:ext cx="685800" cy="685800"/>
          </a:xfrm>
          <a:prstGeom prst="ellipse">
            <a:avLst/>
          </a:prstGeom>
          <a:solidFill>
            <a:srgbClr val="7C4DFF"/>
          </a:solidFill>
          <a:ln/>
        </p:spPr>
      </p:sp>
      <p:sp>
        <p:nvSpPr>
          <p:cNvPr id="17" name="a3_snt2"/>
          <p:cNvSpPr txBox="1"/>
          <p:nvPr/>
        </p:nvSpPr>
        <p:spPr>
          <a:xfrm>
            <a:off x="548640" y="4032504"/>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8" name="a3_st2"/>
          <p:cNvSpPr txBox="1"/>
          <p:nvPr/>
        </p:nvSpPr>
        <p:spPr>
          <a:xfrm>
            <a:off x="1463040" y="4014216"/>
            <a:ext cx="530352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Call → print → inspect</a:t>
            </a:r>
            <a:endParaRPr lang="en-US" sz="1900" dirty="0"/>
          </a:p>
        </p:txBody>
      </p:sp>
      <p:sp>
        <p:nvSpPr>
          <p:cNvPr id="19" name="a3_sd2"/>
          <p:cNvSpPr txBox="1"/>
          <p:nvPr/>
        </p:nvSpPr>
        <p:spPr>
          <a:xfrm>
            <a:off x="1463040" y="4416552"/>
            <a:ext cx="5303520" cy="4114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Print the raw JSON and pull out content + usage</a:t>
            </a:r>
            <a:endParaRPr lang="en-US" sz="1400" dirty="0"/>
          </a:p>
        </p:txBody>
      </p:sp>
      <p:sp>
        <p:nvSpPr>
          <p:cNvPr id="20" name="a4_sn3"/>
          <p:cNvSpPr/>
          <p:nvPr/>
        </p:nvSpPr>
        <p:spPr>
          <a:xfrm>
            <a:off x="548640" y="5111496"/>
            <a:ext cx="685800" cy="685800"/>
          </a:xfrm>
          <a:prstGeom prst="ellipse">
            <a:avLst/>
          </a:prstGeom>
          <a:solidFill>
            <a:srgbClr val="7C4DFF"/>
          </a:solidFill>
          <a:ln/>
        </p:spPr>
      </p:sp>
      <p:sp>
        <p:nvSpPr>
          <p:cNvPr id="21" name="a4_snt3"/>
          <p:cNvSpPr txBox="1"/>
          <p:nvPr/>
        </p:nvSpPr>
        <p:spPr>
          <a:xfrm>
            <a:off x="548640" y="5111496"/>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2" name="a4_st3"/>
          <p:cNvSpPr txBox="1"/>
          <p:nvPr/>
        </p:nvSpPr>
        <p:spPr>
          <a:xfrm>
            <a:off x="1463040" y="5093208"/>
            <a:ext cx="530352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Write NOTES.md</a:t>
            </a:r>
            <a:endParaRPr lang="en-US" sz="1900" dirty="0"/>
          </a:p>
        </p:txBody>
      </p:sp>
      <p:sp>
        <p:nvSpPr>
          <p:cNvPr id="23" name="a4_sd3"/>
          <p:cNvSpPr txBox="1"/>
          <p:nvPr/>
        </p:nvSpPr>
        <p:spPr>
          <a:xfrm>
            <a:off x="1463040" y="5495544"/>
            <a:ext cx="5303520" cy="411480"/>
          </a:xfrm>
          <a:prstGeom prst="rect">
            <a:avLst/>
          </a:prstGeom>
          <a:noFill/>
          <a:ln/>
        </p:spPr>
        <p:txBody>
          <a:bodyPr wrap="square" lIns="0" tIns="0" rIns="0" bIns="0" rtlCol="0" anchor="t"/>
          <a:lstStyle/>
          <a:p>
            <a:pPr indent="0" marL="0">
              <a:buNone/>
            </a:pPr>
            <a:r>
              <a:rPr lang="en-US" sz="1400" dirty="0">
                <a:solidFill>
                  <a:srgbClr val="A99BD6"/>
                </a:solidFill>
                <a:latin typeface="Calibri" pitchFamily="34" charset="0"/>
                <a:ea typeface="Calibri" pitchFamily="34" charset="-122"/>
                <a:cs typeface="Calibri" pitchFamily="34" charset="-120"/>
              </a:rPr>
              <a:t>What did the request and response actually look like?</a:t>
            </a:r>
            <a:endParaRPr lang="en-US" sz="1400" dirty="0"/>
          </a:p>
        </p:txBody>
      </p:sp>
      <p:sp>
        <p:nvSpPr>
          <p:cNvPr id="24" name="a5_st"/>
          <p:cNvSpPr/>
          <p:nvPr/>
        </p:nvSpPr>
        <p:spPr>
          <a:xfrm>
            <a:off x="7223760" y="1783080"/>
            <a:ext cx="4434840" cy="4206240"/>
          </a:xfrm>
          <a:prstGeom prst="roundRect">
            <a:avLst>
              <a:gd name="adj" fmla="val 2609"/>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25" name="a5_sh"/>
          <p:cNvSpPr txBox="1"/>
          <p:nvPr/>
        </p:nvSpPr>
        <p:spPr>
          <a:xfrm>
            <a:off x="7498080" y="2011680"/>
            <a:ext cx="3931920" cy="320040"/>
          </a:xfrm>
          <a:prstGeom prst="rect">
            <a:avLst/>
          </a:prstGeom>
          <a:noFill/>
          <a:ln/>
        </p:spPr>
        <p:txBody>
          <a:bodyPr wrap="square" lIns="0" tIns="0" rIns="0" bIns="0" rtlCol="0" anchor="t"/>
          <a:lstStyle/>
          <a:p>
            <a:pPr indent="0" marL="0">
              <a:buNone/>
            </a:pPr>
            <a:r>
              <a:rPr lang="en-US" sz="1200" b="1" spc="300" kern="0" dirty="0">
                <a:solidFill>
                  <a:srgbClr val="FFB547"/>
                </a:solidFill>
                <a:latin typeface="Arial" pitchFamily="34" charset="0"/>
                <a:ea typeface="Arial" pitchFamily="34" charset="-122"/>
                <a:cs typeface="Arial" pitchFamily="34" charset="-120"/>
              </a:rPr>
              <a:t>STRETCH · PICK ONE</a:t>
            </a:r>
            <a:endParaRPr lang="en-US" sz="1200" dirty="0"/>
          </a:p>
        </p:txBody>
      </p:sp>
      <p:sp>
        <p:nvSpPr>
          <p:cNvPr id="26" name="a5_sl"/>
          <p:cNvSpPr txBox="1"/>
          <p:nvPr/>
        </p:nvSpPr>
        <p:spPr>
          <a:xfrm>
            <a:off x="7498080" y="24688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9E4FF"/>
                </a:solidFill>
                <a:latin typeface="Calibri" pitchFamily="34" charset="0"/>
                <a:ea typeface="Calibri" pitchFamily="34" charset="-122"/>
                <a:cs typeface="Calibri" pitchFamily="34" charset="-120"/>
              </a:rPr>
              <a:t>Temperature 0 vs 1.5, 3 runs each</a:t>
            </a:r>
            <a:endParaRPr lang="en-US" sz="1500" dirty="0"/>
          </a:p>
          <a:p>
            <a:pPr marL="342900" indent="-342900">
              <a:spcAft>
                <a:spcPts val="800"/>
              </a:spcAft>
              <a:buSzPct val="100000"/>
              <a:buChar char="•"/>
            </a:pPr>
            <a:r>
              <a:rPr lang="en-US" sz="1500" dirty="0">
                <a:solidFill>
                  <a:srgbClr val="E9E4FF"/>
                </a:solidFill>
                <a:latin typeface="Calibri" pitchFamily="34" charset="0"/>
                <a:ea typeface="Calibri" pitchFamily="34" charset="-122"/>
                <a:cs typeface="Calibri" pitchFamily="34" charset="-120"/>
              </a:rPr>
              <a:t>Prove statelessness with 2 calls</a:t>
            </a:r>
            <a:endParaRPr lang="en-US" sz="1500" dirty="0"/>
          </a:p>
          <a:p>
            <a:pPr marL="342900" indent="-342900">
              <a:spcAft>
                <a:spcPts val="800"/>
              </a:spcAft>
              <a:buSzPct val="100000"/>
              <a:buChar char="•"/>
            </a:pPr>
            <a:r>
              <a:rPr lang="en-US" sz="1500" dirty="0">
                <a:solidFill>
                  <a:srgbClr val="E9E4FF"/>
                </a:solidFill>
                <a:latin typeface="Calibri" pitchFamily="34" charset="0"/>
                <a:ea typeface="Calibri" pitchFamily="34" charset="-122"/>
                <a:cs typeface="Calibri" pitchFamily="34" charset="-120"/>
              </a:rPr>
              <a:t>Force finish_reason = "length"</a:t>
            </a:r>
            <a:endParaRPr lang="en-US" sz="1500" dirty="0"/>
          </a:p>
          <a:p>
            <a:pPr marL="342900" indent="-342900">
              <a:spcAft>
                <a:spcPts val="800"/>
              </a:spcAft>
              <a:buSzPct val="100000"/>
              <a:buChar char="•"/>
            </a:pPr>
            <a:r>
              <a:rPr lang="en-US" sz="1500" dirty="0">
                <a:solidFill>
                  <a:srgbClr val="E9E4FF"/>
                </a:solidFill>
                <a:latin typeface="Calibri" pitchFamily="34" charset="0"/>
                <a:ea typeface="Calibri" pitchFamily="34" charset="-122"/>
                <a:cs typeface="Calibri" pitchFamily="34" charset="-120"/>
              </a:rPr>
              <a:t>Stream it with "stream": true</a:t>
            </a:r>
            <a:endParaRPr lang="en-US" sz="1500" dirty="0"/>
          </a:p>
          <a:p>
            <a:pPr marL="342900" indent="-342900">
              <a:spcAft>
                <a:spcPts val="800"/>
              </a:spcAft>
              <a:buSzPct val="100000"/>
              <a:buChar char="•"/>
            </a:pPr>
            <a:r>
              <a:rPr lang="en-US" sz="1500" dirty="0">
                <a:solidFill>
                  <a:srgbClr val="E9E4FF"/>
                </a:solidFill>
                <a:latin typeface="Calibri" pitchFamily="34" charset="0"/>
                <a:ea typeface="Calibri" pitchFamily="34" charset="-122"/>
                <a:cs typeface="Calibri" pitchFamily="34" charset="-120"/>
              </a:rPr>
              <a:t>Point it at a 2nd provider by changing only the URL + key</a:t>
            </a:r>
            <a:endParaRPr lang="en-US" sz="1500" dirty="0"/>
          </a:p>
        </p:txBody>
      </p:sp>
      <p:sp>
        <p:nvSpPr>
          <p:cNvPr id="27" name="a5_sf"/>
          <p:cNvSpPr txBox="1"/>
          <p:nvPr/>
        </p:nvSpPr>
        <p:spPr>
          <a:xfrm>
            <a:off x="7498080" y="5257800"/>
            <a:ext cx="3931920" cy="640080"/>
          </a:xfrm>
          <a:prstGeom prst="rect">
            <a:avLst/>
          </a:prstGeom>
          <a:noFill/>
          <a:ln/>
        </p:spPr>
        <p:txBody>
          <a:bodyPr wrap="square" lIns="0" tIns="0" rIns="0" bIns="0" rtlCol="0" anchor="t"/>
          <a:lstStyle/>
          <a:p>
            <a:pPr indent="0" marL="0">
              <a:buNone/>
            </a:pPr>
            <a:r>
              <a:rPr lang="en-US" sz="1300" i="1" dirty="0">
                <a:solidFill>
                  <a:srgbClr val="2EE6A6"/>
                </a:solidFill>
                <a:latin typeface="Calibri" pitchFamily="34" charset="0"/>
                <a:ea typeface="Calibri" pitchFamily="34" charset="-122"/>
                <a:cs typeface="Calibri" pitchFamily="34" charset="-120"/>
              </a:rPr>
              <a:t>Share a screenshot of your output in the community channel 🎯</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anim calcmode="lin" valueType="num">
                                      <p:cBhvr>
                                        <p:cTn id="6" dur="500" fill="hold"/>
                                        <p:tgtEl>
                                          <p:spTgt spid="8"/>
                                        </p:tgtEl>
                                        <p:attrNameLst>
                                          <p:attrName>ppt_x</p:attrName>
                                        </p:attrNameLst>
                                      </p:cBhvr>
                                      <p:tavLst>
                                        <p:tav tm="0">
                                          <p:val>
                                            <p:strVal val="#ppt_x"/>
                                          </p:val>
                                        </p:tav>
                                        <p:tav tm="100000">
                                          <p:val>
                                            <p:strVal val="#ppt_x"/>
                                          </p:val>
                                        </p:tav>
                                      </p:tavLst>
                                    </p:anim>
                                    <p:anim calcmode="lin" valueType="num">
                                      <p:cBhvr>
                                        <p:cTn id="7" dur="500" decel="100000" fill="hold"/>
                                        <p:tgtEl>
                                          <p:spTgt spid="8"/>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decel="100000" fill="hold"/>
                                        <p:tgtEl>
                                          <p:spTgt spid="9"/>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decel="100000" fill="hold"/>
                                        <p:tgtEl>
                                          <p:spTgt spid="10"/>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anim calcmode="lin" valueType="num">
                                      <p:cBhvr>
                                        <p:cTn id="21" dur="500" fill="hold"/>
                                        <p:tgtEl>
                                          <p:spTgt spid="11"/>
                                        </p:tgtEl>
                                        <p:attrNameLst>
                                          <p:attrName>ppt_x</p:attrName>
                                        </p:attrNameLst>
                                      </p:cBhvr>
                                      <p:tavLst>
                                        <p:tav tm="0">
                                          <p:val>
                                            <p:strVal val="#ppt_x"/>
                                          </p:val>
                                        </p:tav>
                                        <p:tav tm="100000">
                                          <p:val>
                                            <p:strVal val="#ppt_x"/>
                                          </p:val>
                                        </p:tav>
                                      </p:tavLst>
                                    </p:anim>
                                    <p:anim calcmode="lin" valueType="num">
                                      <p:cBhvr>
                                        <p:cTn id="22"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anim calcmode="lin" valueType="num">
                                      <p:cBhvr>
                                        <p:cTn id="28" dur="500" fill="hold"/>
                                        <p:tgtEl>
                                          <p:spTgt spid="12"/>
                                        </p:tgtEl>
                                        <p:attrNameLst>
                                          <p:attrName>ppt_x</p:attrName>
                                        </p:attrNameLst>
                                      </p:cBhvr>
                                      <p:tavLst>
                                        <p:tav tm="0">
                                          <p:val>
                                            <p:strVal val="#ppt_x"/>
                                          </p:val>
                                        </p:tav>
                                        <p:tav tm="100000">
                                          <p:val>
                                            <p:strVal val="#ppt_x"/>
                                          </p:val>
                                        </p:tav>
                                      </p:tavLst>
                                    </p:anim>
                                    <p:anim calcmode="lin" valueType="num">
                                      <p:cBhvr>
                                        <p:cTn id="29" dur="500" decel="100000" fill="hold"/>
                                        <p:tgtEl>
                                          <p:spTgt spid="12"/>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decel="100000" fill="hold"/>
                                        <p:tgtEl>
                                          <p:spTgt spid="13"/>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decel="100000" fill="hold"/>
                                        <p:tgtEl>
                                          <p:spTgt spid="14"/>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anim calcmode="lin" valueType="num">
                                      <p:cBhvr>
                                        <p:cTn id="43" dur="500" fill="hold"/>
                                        <p:tgtEl>
                                          <p:spTgt spid="15"/>
                                        </p:tgtEl>
                                        <p:attrNameLst>
                                          <p:attrName>ppt_x</p:attrName>
                                        </p:attrNameLst>
                                      </p:cBhvr>
                                      <p:tavLst>
                                        <p:tav tm="0">
                                          <p:val>
                                            <p:strVal val="#ppt_x"/>
                                          </p:val>
                                        </p:tav>
                                        <p:tav tm="100000">
                                          <p:val>
                                            <p:strVal val="#ppt_x"/>
                                          </p:val>
                                        </p:tav>
                                      </p:tavLst>
                                    </p:anim>
                                    <p:anim calcmode="lin" valueType="num">
                                      <p:cBhvr>
                                        <p:cTn id="44"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anim calcmode="lin" valueType="num">
                                      <p:cBhvr>
                                        <p:cTn id="50" dur="500" fill="hold"/>
                                        <p:tgtEl>
                                          <p:spTgt spid="16"/>
                                        </p:tgtEl>
                                        <p:attrNameLst>
                                          <p:attrName>ppt_x</p:attrName>
                                        </p:attrNameLst>
                                      </p:cBhvr>
                                      <p:tavLst>
                                        <p:tav tm="0">
                                          <p:val>
                                            <p:strVal val="#ppt_x"/>
                                          </p:val>
                                        </p:tav>
                                        <p:tav tm="100000">
                                          <p:val>
                                            <p:strVal val="#ppt_x"/>
                                          </p:val>
                                        </p:tav>
                                      </p:tavLst>
                                    </p:anim>
                                    <p:anim calcmode="lin" valueType="num">
                                      <p:cBhvr>
                                        <p:cTn id="51" dur="500" decel="100000" fill="hold"/>
                                        <p:tgtEl>
                                          <p:spTgt spid="16"/>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anim calcmode="lin" valueType="num">
                                      <p:cBhvr>
                                        <p:cTn id="55" dur="500" fill="hold"/>
                                        <p:tgtEl>
                                          <p:spTgt spid="17"/>
                                        </p:tgtEl>
                                        <p:attrNameLst>
                                          <p:attrName>ppt_x</p:attrName>
                                        </p:attrNameLst>
                                      </p:cBhvr>
                                      <p:tavLst>
                                        <p:tav tm="0">
                                          <p:val>
                                            <p:strVal val="#ppt_x"/>
                                          </p:val>
                                        </p:tav>
                                        <p:tav tm="100000">
                                          <p:val>
                                            <p:strVal val="#ppt_x"/>
                                          </p:val>
                                        </p:tav>
                                      </p:tavLst>
                                    </p:anim>
                                    <p:anim calcmode="lin" valueType="num">
                                      <p:cBhvr>
                                        <p:cTn id="56" dur="500" decel="100000" fill="hold"/>
                                        <p:tgtEl>
                                          <p:spTgt spid="17"/>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p:cTn id="60" dur="500" fill="hold"/>
                                        <p:tgtEl>
                                          <p:spTgt spid="18"/>
                                        </p:tgtEl>
                                        <p:attrNameLst>
                                          <p:attrName>ppt_x</p:attrName>
                                        </p:attrNameLst>
                                      </p:cBhvr>
                                      <p:tavLst>
                                        <p:tav tm="0">
                                          <p:val>
                                            <p:strVal val="#ppt_x"/>
                                          </p:val>
                                        </p:tav>
                                        <p:tav tm="100000">
                                          <p:val>
                                            <p:strVal val="#ppt_x"/>
                                          </p:val>
                                        </p:tav>
                                      </p:tavLst>
                                    </p:anim>
                                    <p:anim calcmode="lin" valueType="num">
                                      <p:cBhvr>
                                        <p:cTn id="61" dur="500" decel="1000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p:cTn id="65" dur="500" fill="hold"/>
                                        <p:tgtEl>
                                          <p:spTgt spid="19"/>
                                        </p:tgtEl>
                                        <p:attrNameLst>
                                          <p:attrName>ppt_x</p:attrName>
                                        </p:attrNameLst>
                                      </p:cBhvr>
                                      <p:tavLst>
                                        <p:tav tm="0">
                                          <p:val>
                                            <p:strVal val="#ppt_x"/>
                                          </p:val>
                                        </p:tav>
                                        <p:tav tm="100000">
                                          <p:val>
                                            <p:strVal val="#ppt_x"/>
                                          </p:val>
                                        </p:tav>
                                      </p:tavLst>
                                    </p:anim>
                                    <p:anim calcmode="lin" valueType="num">
                                      <p:cBhvr>
                                        <p:cTn id="66" dur="5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anim calcmode="lin" valueType="num">
                                      <p:cBhvr>
                                        <p:cTn id="72" dur="500" fill="hold"/>
                                        <p:tgtEl>
                                          <p:spTgt spid="20"/>
                                        </p:tgtEl>
                                        <p:attrNameLst>
                                          <p:attrName>ppt_x</p:attrName>
                                        </p:attrNameLst>
                                      </p:cBhvr>
                                      <p:tavLst>
                                        <p:tav tm="0">
                                          <p:val>
                                            <p:strVal val="#ppt_x"/>
                                          </p:val>
                                        </p:tav>
                                        <p:tav tm="100000">
                                          <p:val>
                                            <p:strVal val="#ppt_x"/>
                                          </p:val>
                                        </p:tav>
                                      </p:tavLst>
                                    </p:anim>
                                    <p:anim calcmode="lin" valueType="num">
                                      <p:cBhvr>
                                        <p:cTn id="73" dur="500" decel="1000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anim calcmode="lin" valueType="num">
                                      <p:cBhvr>
                                        <p:cTn id="77" dur="500" fill="hold"/>
                                        <p:tgtEl>
                                          <p:spTgt spid="21"/>
                                        </p:tgtEl>
                                        <p:attrNameLst>
                                          <p:attrName>ppt_x</p:attrName>
                                        </p:attrNameLst>
                                      </p:cBhvr>
                                      <p:tavLst>
                                        <p:tav tm="0">
                                          <p:val>
                                            <p:strVal val="#ppt_x"/>
                                          </p:val>
                                        </p:tav>
                                        <p:tav tm="100000">
                                          <p:val>
                                            <p:strVal val="#ppt_x"/>
                                          </p:val>
                                        </p:tav>
                                      </p:tavLst>
                                    </p:anim>
                                    <p:anim calcmode="lin" valueType="num">
                                      <p:cBhvr>
                                        <p:cTn id="78" dur="500" decel="1000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anim calcmode="lin" valueType="num">
                                      <p:cBhvr>
                                        <p:cTn id="82" dur="500" fill="hold"/>
                                        <p:tgtEl>
                                          <p:spTgt spid="22"/>
                                        </p:tgtEl>
                                        <p:attrNameLst>
                                          <p:attrName>ppt_x</p:attrName>
                                        </p:attrNameLst>
                                      </p:cBhvr>
                                      <p:tavLst>
                                        <p:tav tm="0">
                                          <p:val>
                                            <p:strVal val="#ppt_x"/>
                                          </p:val>
                                        </p:tav>
                                        <p:tav tm="100000">
                                          <p:val>
                                            <p:strVal val="#ppt_x"/>
                                          </p:val>
                                        </p:tav>
                                      </p:tavLst>
                                    </p:anim>
                                    <p:anim calcmode="lin" valueType="num">
                                      <p:cBhvr>
                                        <p:cTn id="83" dur="500" decel="1000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p:cTn id="87" dur="500" fill="hold"/>
                                        <p:tgtEl>
                                          <p:spTgt spid="23"/>
                                        </p:tgtEl>
                                        <p:attrNameLst>
                                          <p:attrName>ppt_x</p:attrName>
                                        </p:attrNameLst>
                                      </p:cBhvr>
                                      <p:tavLst>
                                        <p:tav tm="0">
                                          <p:val>
                                            <p:strVal val="#ppt_x"/>
                                          </p:val>
                                        </p:tav>
                                        <p:tav tm="100000">
                                          <p:val>
                                            <p:strVal val="#ppt_x"/>
                                          </p:val>
                                        </p:tav>
                                      </p:tavLst>
                                    </p:anim>
                                    <p:anim calcmode="lin" valueType="num">
                                      <p:cBhvr>
                                        <p:cTn id="88" dur="500" decel="100000" fill="hold"/>
                                        <p:tgtEl>
                                          <p:spTgt spid="23"/>
                                        </p:tgtEl>
                                        <p:attrNameLst>
                                          <p:attrName>ppt_y</p:attrName>
                                        </p:attrNameLst>
                                      </p:cBhvr>
                                      <p:tavLst>
                                        <p:tav tm="0">
                                          <p:val>
                                            <p:strVal val="#ppt_y+.06"/>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decel="100000" fill="hold"/>
                                        <p:tgtEl>
                                          <p:spTgt spid="24"/>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anim calcmode="lin" valueType="num">
                                      <p:cBhvr>
                                        <p:cTn id="99" dur="500" fill="hold"/>
                                        <p:tgtEl>
                                          <p:spTgt spid="25"/>
                                        </p:tgtEl>
                                        <p:attrNameLst>
                                          <p:attrName>ppt_x</p:attrName>
                                        </p:attrNameLst>
                                      </p:cBhvr>
                                      <p:tavLst>
                                        <p:tav tm="0">
                                          <p:val>
                                            <p:strVal val="#ppt_x"/>
                                          </p:val>
                                        </p:tav>
                                        <p:tav tm="100000">
                                          <p:val>
                                            <p:strVal val="#ppt_x"/>
                                          </p:val>
                                        </p:tav>
                                      </p:tavLst>
                                    </p:anim>
                                    <p:anim calcmode="lin" valueType="num">
                                      <p:cBhvr>
                                        <p:cTn id="100" dur="500" decel="100000" fill="hold"/>
                                        <p:tgtEl>
                                          <p:spTgt spid="25"/>
                                        </p:tgtEl>
                                        <p:attrNameLst>
                                          <p:attrName>ppt_y</p:attrName>
                                        </p:attrNameLst>
                                      </p:cBhvr>
                                      <p:tavLst>
                                        <p:tav tm="0">
                                          <p:val>
                                            <p:strVal val="#ppt_y+.06"/>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anim calcmode="lin" valueType="num">
                                      <p:cBhvr>
                                        <p:cTn id="104" dur="500" fill="hold"/>
                                        <p:tgtEl>
                                          <p:spTgt spid="26"/>
                                        </p:tgtEl>
                                        <p:attrNameLst>
                                          <p:attrName>ppt_x</p:attrName>
                                        </p:attrNameLst>
                                      </p:cBhvr>
                                      <p:tavLst>
                                        <p:tav tm="0">
                                          <p:val>
                                            <p:strVal val="#ppt_x"/>
                                          </p:val>
                                        </p:tav>
                                        <p:tav tm="100000">
                                          <p:val>
                                            <p:strVal val="#ppt_x"/>
                                          </p:val>
                                        </p:tav>
                                      </p:tavLst>
                                    </p:anim>
                                    <p:anim calcmode="lin" valueType="num">
                                      <p:cBhvr>
                                        <p:cTn id="105" dur="500" decel="100000" fill="hold"/>
                                        <p:tgtEl>
                                          <p:spTgt spid="26"/>
                                        </p:tgtEl>
                                        <p:attrNameLst>
                                          <p:attrName>ppt_y</p:attrName>
                                        </p:attrNameLst>
                                      </p:cBhvr>
                                      <p:tavLst>
                                        <p:tav tm="0">
                                          <p:val>
                                            <p:strVal val="#ppt_y+.06"/>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500"/>
                                        <p:tgtEl>
                                          <p:spTgt spid="27"/>
                                        </p:tgtEl>
                                      </p:cBhvr>
                                    </p:animEffect>
                                    <p:anim calcmode="lin" valueType="num">
                                      <p:cBhvr>
                                        <p:cTn id="109" dur="500" fill="hold"/>
                                        <p:tgtEl>
                                          <p:spTgt spid="27"/>
                                        </p:tgtEl>
                                        <p:attrNameLst>
                                          <p:attrName>ppt_x</p:attrName>
                                        </p:attrNameLst>
                                      </p:cBhvr>
                                      <p:tavLst>
                                        <p:tav tm="0">
                                          <p:val>
                                            <p:strVal val="#ppt_x"/>
                                          </p:val>
                                        </p:tav>
                                        <p:tav tm="100000">
                                          <p:val>
                                            <p:strVal val="#ppt_x"/>
                                          </p:val>
                                        </p:tav>
                                      </p:tavLst>
                                    </p:anim>
                                    <p:anim calcmode="lin" valueType="num">
                                      <p:cBhvr>
                                        <p:cTn id="110" dur="500" decel="100000" fill="hold"/>
                                        <p:tgtEl>
                                          <p:spTgt spid="2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0A1A"/>
        </a:solidFill>
      </p:bgPr>
    </p:bg>
    <p:spTree>
      <p:nvGrpSpPr>
        <p:cNvPr id="1" name=""/>
        <p:cNvGrpSpPr/>
        <p:nvPr/>
      </p:nvGrpSpPr>
      <p:grpSpPr>
        <a:xfrm>
          <a:off x="0" y="0"/>
          <a:ext cx="0" cy="0"/>
          <a:chOff x="0" y="0"/>
          <a:chExt cx="0" cy="0"/>
        </a:xfrm>
      </p:grpSpPr>
      <p:sp>
        <p:nvSpPr>
          <p:cNvPr id="2" name="Shape 0"/>
          <p:cNvSpPr/>
          <p:nvPr/>
        </p:nvSpPr>
        <p:spPr>
          <a:xfrm>
            <a:off x="9326880" y="-2011680"/>
            <a:ext cx="5029200" cy="5029200"/>
          </a:xfrm>
          <a:prstGeom prst="ellipse">
            <a:avLst/>
          </a:prstGeom>
          <a:solidFill>
            <a:srgbClr val="512BD4">
              <a:alpha val="18000"/>
            </a:srgbClr>
          </a:solidFill>
          <a:ln/>
        </p:spPr>
      </p:sp>
      <p:sp>
        <p:nvSpPr>
          <p:cNvPr id="3" name="Shape 1"/>
          <p:cNvSpPr/>
          <p:nvPr/>
        </p:nvSpPr>
        <p:spPr>
          <a:xfrm>
            <a:off x="-1645920" y="5120640"/>
            <a:ext cx="3291840" cy="3291840"/>
          </a:xfrm>
          <a:prstGeom prst="ellipse">
            <a:avLst/>
          </a:prstGeom>
          <a:solidFill>
            <a:srgbClr val="2EE6A6">
              <a:alpha val="10000"/>
            </a:srgbClr>
          </a:solidFill>
          <a:ln/>
        </p:spPr>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31</a:t>
            </a:r>
            <a:endParaRPr lang="en-US" sz="1000" dirty="0"/>
          </a:p>
        </p:txBody>
      </p:sp>
      <p:sp>
        <p:nvSpPr>
          <p:cNvPr id="6" name="Text 4"/>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200" b="1" spc="400" kern="0" dirty="0">
                <a:solidFill>
                  <a:srgbClr val="2EE6A6"/>
                </a:solidFill>
                <a:latin typeface="Arial" pitchFamily="34" charset="0"/>
                <a:ea typeface="Arial" pitchFamily="34" charset="-122"/>
                <a:cs typeface="Arial" pitchFamily="34" charset="-120"/>
              </a:rPr>
              <a:t>NEXT TIME · SESSION 02</a:t>
            </a:r>
            <a:endParaRPr lang="en-US" sz="1200" dirty="0"/>
          </a:p>
        </p:txBody>
      </p:sp>
      <p:sp>
        <p:nvSpPr>
          <p:cNvPr id="7" name="Text 5"/>
          <p:cNvSpPr txBox="1"/>
          <p:nvPr/>
        </p:nvSpPr>
        <p:spPr>
          <a:xfrm>
            <a:off x="548640" y="73152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Prompt Engineering: getting useful output</a:t>
            </a:r>
            <a:endParaRPr lang="en-US" sz="3400" dirty="0"/>
          </a:p>
        </p:txBody>
      </p:sp>
      <p:sp>
        <p:nvSpPr>
          <p:cNvPr id="8" name="Shape 6"/>
          <p:cNvSpPr/>
          <p:nvPr/>
        </p:nvSpPr>
        <p:spPr>
          <a:xfrm>
            <a:off x="548640" y="1783080"/>
            <a:ext cx="5394960" cy="2743200"/>
          </a:xfrm>
          <a:prstGeom prst="roundRect">
            <a:avLst>
              <a:gd name="adj" fmla="val 4000"/>
            </a:avLst>
          </a:prstGeom>
          <a:solidFill>
            <a:srgbClr val="251C4A"/>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9" name="Text 7"/>
          <p:cNvSpPr txBox="1"/>
          <p:nvPr/>
        </p:nvSpPr>
        <p:spPr>
          <a:xfrm>
            <a:off x="868680" y="1965960"/>
            <a:ext cx="4846320" cy="914400"/>
          </a:xfrm>
          <a:prstGeom prst="rect">
            <a:avLst/>
          </a:prstGeom>
          <a:noFill/>
          <a:ln/>
        </p:spPr>
        <p:txBody>
          <a:bodyPr wrap="square" lIns="0" tIns="0" rIns="0" bIns="0" rtlCol="0" anchor="t"/>
          <a:lstStyle/>
          <a:p>
            <a:pPr indent="0" marL="0">
              <a:buNone/>
            </a:pPr>
            <a:r>
              <a:rPr lang="en-US" sz="1500" dirty="0">
                <a:solidFill>
                  <a:srgbClr val="E9E4FF"/>
                </a:solidFill>
                <a:latin typeface="Calibri" pitchFamily="34" charset="0"/>
                <a:ea typeface="Calibri" pitchFamily="34" charset="-122"/>
                <a:cs typeface="Calibri" pitchFamily="34" charset="-120"/>
              </a:rPr>
              <a:t>Today the model answered in whatever shape it liked. Next session we'll make it answer in the shape YOU want:</a:t>
            </a:r>
            <a:endParaRPr lang="en-US" sz="1500" dirty="0"/>
          </a:p>
        </p:txBody>
      </p:sp>
      <p:sp>
        <p:nvSpPr>
          <p:cNvPr id="10" name="Text 8"/>
          <p:cNvSpPr txBox="1"/>
          <p:nvPr/>
        </p:nvSpPr>
        <p:spPr>
          <a:xfrm>
            <a:off x="868680" y="3017520"/>
            <a:ext cx="484632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System vs user prompts that actually work</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Iterating a prompt until it's usable</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Getting clean JSON → a C# object</a:t>
            </a:r>
            <a:endParaRPr lang="en-US" sz="1600" dirty="0"/>
          </a:p>
        </p:txBody>
      </p:sp>
      <p:sp>
        <p:nvSpPr>
          <p:cNvPr id="11" name="a1_tz_bg"/>
          <p:cNvSpPr/>
          <p:nvPr/>
        </p:nvSpPr>
        <p:spPr>
          <a:xfrm>
            <a:off x="6309360" y="1783080"/>
            <a:ext cx="5349240" cy="2743200"/>
          </a:xfrm>
          <a:prstGeom prst="roundRect">
            <a:avLst>
              <a:gd name="adj" fmla="val 4000"/>
            </a:avLst>
          </a:prstGeom>
          <a:solidFill>
            <a:srgbClr val="120E24"/>
          </a:solidFill>
          <a:ln w="12700">
            <a:solidFill>
              <a:srgbClr val="3A2F6B"/>
            </a:solidFill>
            <a:prstDash val="solid"/>
          </a:ln>
          <a:effectLst>
            <a:outerShdw sx="100000" sy="100000" kx="0" ky="0" algn="bl" rotWithShape="0" blurRad="152400" dist="38100" dir="5400000">
              <a:srgbClr val="000000">
                <a:alpha val="35000"/>
              </a:srgbClr>
            </a:outerShdw>
          </a:effectLst>
        </p:spPr>
      </p:sp>
      <p:sp>
        <p:nvSpPr>
          <p:cNvPr id="12" name="a1_tz_dot0"/>
          <p:cNvSpPr/>
          <p:nvPr/>
        </p:nvSpPr>
        <p:spPr>
          <a:xfrm>
            <a:off x="6537960" y="1965960"/>
            <a:ext cx="128016" cy="128016"/>
          </a:xfrm>
          <a:prstGeom prst="ellipse">
            <a:avLst/>
          </a:prstGeom>
          <a:solidFill>
            <a:srgbClr val="FF5F57"/>
          </a:solidFill>
          <a:ln/>
        </p:spPr>
      </p:sp>
      <p:sp>
        <p:nvSpPr>
          <p:cNvPr id="13" name="a1_tz_dot1"/>
          <p:cNvSpPr/>
          <p:nvPr/>
        </p:nvSpPr>
        <p:spPr>
          <a:xfrm>
            <a:off x="6766560" y="1965960"/>
            <a:ext cx="128016" cy="128016"/>
          </a:xfrm>
          <a:prstGeom prst="ellipse">
            <a:avLst/>
          </a:prstGeom>
          <a:solidFill>
            <a:srgbClr val="FEBC2E"/>
          </a:solidFill>
          <a:ln/>
        </p:spPr>
      </p:sp>
      <p:sp>
        <p:nvSpPr>
          <p:cNvPr id="14" name="a1_tz_dot2"/>
          <p:cNvSpPr/>
          <p:nvPr/>
        </p:nvSpPr>
        <p:spPr>
          <a:xfrm>
            <a:off x="6995160" y="1965960"/>
            <a:ext cx="128016" cy="128016"/>
          </a:xfrm>
          <a:prstGeom prst="ellipse">
            <a:avLst/>
          </a:prstGeom>
          <a:solidFill>
            <a:srgbClr val="28C840"/>
          </a:solidFill>
          <a:ln/>
        </p:spPr>
      </p:sp>
      <p:sp>
        <p:nvSpPr>
          <p:cNvPr id="15" name="a1_tz_code"/>
          <p:cNvSpPr txBox="1"/>
          <p:nvPr/>
        </p:nvSpPr>
        <p:spPr>
          <a:xfrm>
            <a:off x="6583680" y="2240280"/>
            <a:ext cx="4892040" cy="2148840"/>
          </a:xfrm>
          <a:prstGeom prst="rect">
            <a:avLst/>
          </a:prstGeom>
          <a:noFill/>
          <a:ln/>
        </p:spPr>
        <p:txBody>
          <a:bodyPr wrap="square" lIns="0" tIns="0" rIns="0" bIns="0" rtlCol="0" anchor="t"/>
          <a:lstStyle/>
          <a:p>
            <a:pPr indent="0" marL="0">
              <a:buNone/>
            </a:pPr>
            <a:r>
              <a:rPr lang="en-US" sz="1500" dirty="0">
                <a:solidFill>
                  <a:srgbClr val="6F63A0"/>
                </a:solidFill>
                <a:latin typeface="Courier New" pitchFamily="34" charset="0"/>
                <a:ea typeface="Courier New" pitchFamily="34" charset="-122"/>
                <a:cs typeface="Courier New" pitchFamily="34" charset="-120"/>
              </a:rPr>
              <a:t>// Session 02 teaser</a:t>
            </a:r>
            <a:endParaRPr lang="en-US" sz="1500" dirty="0"/>
          </a:p>
          <a:p>
            <a:pPr indent="0" marL="0">
              <a:buNone/>
            </a:pPr>
            <a:r>
              <a:rPr lang="en-US" sz="1500" dirty="0">
                <a:solidFill>
                  <a:srgbClr val="4FC3F7"/>
                </a:solidFill>
                <a:latin typeface="Courier New" pitchFamily="34" charset="0"/>
                <a:ea typeface="Courier New" pitchFamily="34" charset="-122"/>
                <a:cs typeface="Courier New" pitchFamily="34" charset="-120"/>
              </a:rPr>
              <a:t>var</a:t>
            </a:r>
            <a:pPr indent="0" marL="0">
              <a:buNone/>
            </a:pPr>
            <a:r>
              <a:rPr lang="en-US" sz="1500" dirty="0">
                <a:solidFill>
                  <a:srgbClr val="E9E4FF"/>
                </a:solidFill>
                <a:latin typeface="Courier New" pitchFamily="34" charset="0"/>
                <a:ea typeface="Courier New" pitchFamily="34" charset="-122"/>
                <a:cs typeface="Courier New" pitchFamily="34" charset="-120"/>
              </a:rPr>
              <a:t> review = JsonSerializer</a:t>
            </a:r>
            <a:endParaRPr lang="en-US" sz="1500" dirty="0"/>
          </a:p>
          <a:p>
            <a:pPr indent="0" marL="0">
              <a:buNone/>
            </a:pPr>
            <a:r>
              <a:rPr lang="en-US" sz="1500" dirty="0">
                <a:solidFill>
                  <a:srgbClr val="E9E4FF"/>
                </a:solidFill>
                <a:latin typeface="Courier New" pitchFamily="34" charset="0"/>
                <a:ea typeface="Courier New" pitchFamily="34" charset="-122"/>
                <a:cs typeface="Courier New" pitchFamily="34" charset="-120"/>
              </a:rPr>
              <a:t>    .Deserialize&lt;</a:t>
            </a:r>
            <a:pPr indent="0" marL="0">
              <a:buNone/>
            </a:pPr>
            <a:r>
              <a:rPr lang="en-US" sz="1500" dirty="0">
                <a:solidFill>
                  <a:srgbClr val="2EE6A6"/>
                </a:solidFill>
                <a:latin typeface="Courier New" pitchFamily="34" charset="0"/>
                <a:ea typeface="Courier New" pitchFamily="34" charset="-122"/>
                <a:cs typeface="Courier New" pitchFamily="34" charset="-120"/>
              </a:rPr>
              <a:t>CodeReview</a:t>
            </a:r>
            <a:pPr indent="0" marL="0">
              <a:buNone/>
            </a:pPr>
            <a:r>
              <a:rPr lang="en-US" sz="1500" dirty="0">
                <a:solidFill>
                  <a:srgbClr val="E9E4FF"/>
                </a:solidFill>
                <a:latin typeface="Courier New" pitchFamily="34" charset="0"/>
                <a:ea typeface="Courier New" pitchFamily="34" charset="-122"/>
                <a:cs typeface="Courier New" pitchFamily="34" charset="-120"/>
              </a:rPr>
              <a:t>&gt;(answer);</a:t>
            </a:r>
            <a:endParaRPr lang="en-US" sz="1500" dirty="0"/>
          </a:p>
          <a:p>
            <a:pPr indent="0" marL="0">
              <a:buNone/>
            </a:pPr>
            <a:r>
              <a:rPr lang="en-US" sz="1500" dirty="0">
                <a:solidFill>
                  <a:srgbClr val="00000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2EE6A6"/>
                </a:solidFill>
                <a:latin typeface="Courier New" pitchFamily="34" charset="0"/>
                <a:ea typeface="Courier New" pitchFamily="34" charset="-122"/>
                <a:cs typeface="Courier New" pitchFamily="34" charset="-120"/>
              </a:rPr>
              <a:t>Console</a:t>
            </a:r>
            <a:pPr indent="0" marL="0">
              <a:buNone/>
            </a:pPr>
            <a:r>
              <a:rPr lang="en-US" sz="1500" dirty="0">
                <a:solidFill>
                  <a:srgbClr val="E9E4FF"/>
                </a:solidFill>
                <a:latin typeface="Courier New" pitchFamily="34" charset="0"/>
                <a:ea typeface="Courier New" pitchFamily="34" charset="-122"/>
                <a:cs typeface="Courier New" pitchFamily="34" charset="-120"/>
              </a:rPr>
              <a:t>.WriteLine(review.Severity);</a:t>
            </a:r>
            <a:endParaRPr lang="en-US" sz="1500" dirty="0"/>
          </a:p>
          <a:p>
            <a:pPr indent="0" marL="0">
              <a:buNone/>
            </a:pPr>
            <a:r>
              <a:rPr lang="en-US" sz="1500" dirty="0">
                <a:solidFill>
                  <a:srgbClr val="6F63A0"/>
                </a:solidFill>
                <a:latin typeface="Courier New" pitchFamily="34" charset="0"/>
                <a:ea typeface="Courier New" pitchFamily="34" charset="-122"/>
                <a:cs typeface="Courier New" pitchFamily="34" charset="-120"/>
              </a:rPr>
              <a:t>// → "High"</a:t>
            </a:r>
            <a:endParaRPr lang="en-US" sz="1500" dirty="0"/>
          </a:p>
        </p:txBody>
      </p:sp>
      <p:sp>
        <p:nvSpPr>
          <p:cNvPr id="16" name="a2_tip"/>
          <p:cNvSpPr txBox="1"/>
          <p:nvPr/>
        </p:nvSpPr>
        <p:spPr>
          <a:xfrm>
            <a:off x="548640" y="4937760"/>
            <a:ext cx="10972800" cy="548640"/>
          </a:xfrm>
          <a:prstGeom prst="rect">
            <a:avLst/>
          </a:prstGeom>
          <a:noFill/>
          <a:ln/>
        </p:spPr>
        <p:txBody>
          <a:bodyPr wrap="square" lIns="0" tIns="0" rIns="0" bIns="0" rtlCol="0" anchor="t"/>
          <a:lstStyle/>
          <a:p>
            <a:pPr algn="ctr" indent="0" marL="0">
              <a:buNone/>
            </a:pPr>
            <a:r>
              <a:rPr lang="en-US" sz="1800" i="1" dirty="0">
                <a:solidFill>
                  <a:srgbClr val="FFB547"/>
                </a:solidFill>
                <a:latin typeface="Calibri" pitchFamily="34" charset="0"/>
                <a:ea typeface="Calibri" pitchFamily="34" charset="-122"/>
                <a:cs typeface="Calibri" pitchFamily="34" charset="-120"/>
              </a:rPr>
              <a:t>Homework tip: bring one real prompt from your day job.</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anim calcmode="lin" valueType="num">
                                      <p:cBhvr>
                                        <p:cTn id="6" dur="500" fill="hold"/>
                                        <p:tgtEl>
                                          <p:spTgt spid="11"/>
                                        </p:tgtEl>
                                        <p:attrNameLst>
                                          <p:attrName>ppt_x</p:attrName>
                                        </p:attrNameLst>
                                      </p:cBhvr>
                                      <p:tavLst>
                                        <p:tav tm="0">
                                          <p:val>
                                            <p:strVal val="#ppt_x"/>
                                          </p:val>
                                        </p:tav>
                                        <p:tav tm="100000">
                                          <p:val>
                                            <p:strVal val="#ppt_x"/>
                                          </p:val>
                                        </p:tav>
                                      </p:tavLst>
                                    </p:anim>
                                    <p:anim calcmode="lin" valueType="num">
                                      <p:cBhvr>
                                        <p:cTn id="7" dur="500" decel="100000" fill="hold"/>
                                        <p:tgtEl>
                                          <p:spTgt spid="11"/>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500" decel="100000" fill="hold"/>
                                        <p:tgtEl>
                                          <p:spTgt spid="12"/>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anim calcmode="lin" valueType="num">
                                      <p:cBhvr>
                                        <p:cTn id="16" dur="500" fill="hold"/>
                                        <p:tgtEl>
                                          <p:spTgt spid="13"/>
                                        </p:tgtEl>
                                        <p:attrNameLst>
                                          <p:attrName>ppt_x</p:attrName>
                                        </p:attrNameLst>
                                      </p:cBhvr>
                                      <p:tavLst>
                                        <p:tav tm="0">
                                          <p:val>
                                            <p:strVal val="#ppt_x"/>
                                          </p:val>
                                        </p:tav>
                                        <p:tav tm="100000">
                                          <p:val>
                                            <p:strVal val="#ppt_x"/>
                                          </p:val>
                                        </p:tav>
                                      </p:tavLst>
                                    </p:anim>
                                    <p:anim calcmode="lin" valueType="num">
                                      <p:cBhvr>
                                        <p:cTn id="17" dur="500" decel="100000" fill="hold"/>
                                        <p:tgtEl>
                                          <p:spTgt spid="13"/>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anim calcmode="lin" valueType="num">
                                      <p:cBhvr>
                                        <p:cTn id="21" dur="500" fill="hold"/>
                                        <p:tgtEl>
                                          <p:spTgt spid="14"/>
                                        </p:tgtEl>
                                        <p:attrNameLst>
                                          <p:attrName>ppt_x</p:attrName>
                                        </p:attrNameLst>
                                      </p:cBhvr>
                                      <p:tavLst>
                                        <p:tav tm="0">
                                          <p:val>
                                            <p:strVal val="#ppt_x"/>
                                          </p:val>
                                        </p:tav>
                                        <p:tav tm="100000">
                                          <p:val>
                                            <p:strVal val="#ppt_x"/>
                                          </p:val>
                                        </p:tav>
                                      </p:tavLst>
                                    </p:anim>
                                    <p:anim calcmode="lin" valueType="num">
                                      <p:cBhvr>
                                        <p:cTn id="22" dur="500" decel="100000" fill="hold"/>
                                        <p:tgtEl>
                                          <p:spTgt spid="14"/>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0A1A"/>
        </a:solidFill>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F63A0"/>
                </a:solidFill>
                <a:latin typeface="Calibri" pitchFamily="34" charset="0"/>
                <a:ea typeface="Calibri" pitchFamily="34" charset="-122"/>
                <a:cs typeface="Calibri" pitchFamily="34" charset="-120"/>
              </a:rPr>
              <a:t>Session 01 · LLM Fundamentals for .NET Developers</a:t>
            </a:r>
            <a:endParaRPr lang="en-US" sz="1000" dirty="0"/>
          </a:p>
        </p:txBody>
      </p:sp>
      <p:sp>
        <p:nvSpPr>
          <p:cNvPr id="3" name="Text 1"/>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F63A0"/>
                </a:solidFill>
                <a:latin typeface="Arial" pitchFamily="34" charset="0"/>
                <a:ea typeface="Arial" pitchFamily="34" charset="-122"/>
                <a:cs typeface="Arial" pitchFamily="34" charset="-120"/>
              </a:rPr>
              <a:t>32</a:t>
            </a:r>
            <a:endParaRPr lang="en-US" sz="1000" dirty="0"/>
          </a:p>
        </p:txBody>
      </p:sp>
      <p:sp>
        <p:nvSpPr>
          <p:cNvPr id="4" name="auto1_ring"/>
          <p:cNvSpPr/>
          <p:nvPr/>
        </p:nvSpPr>
        <p:spPr>
          <a:xfrm>
            <a:off x="4709160" y="822960"/>
            <a:ext cx="2743200" cy="2743200"/>
          </a:xfrm>
          <a:prstGeom prst="ellipse">
            <a:avLst/>
          </a:prstGeom>
          <a:solidFill>
            <a:srgbClr val="7C4DFF">
              <a:alpha val="20000"/>
            </a:srgbClr>
          </a:solidFill>
          <a:ln w="19050">
            <a:solidFill>
              <a:srgbClr val="7C4DFF"/>
            </a:solidFill>
            <a:prstDash val="solid"/>
          </a:ln>
        </p:spPr>
      </p:sp>
      <p:pic>
        <p:nvPicPr>
          <p:cNvPr id="5" name="auto2_q" descr="preencoded.png">    </p:cNvPr>
          <p:cNvPicPr>
            <a:picLocks noChangeAspect="1"/>
          </p:cNvPicPr>
          <p:nvPr/>
        </p:nvPicPr>
        <p:blipFill>
          <a:blip r:embed="rId1"/>
          <a:stretch>
            <a:fillRect/>
          </a:stretch>
        </p:blipFill>
        <p:spPr>
          <a:xfrm>
            <a:off x="5166360" y="1280160"/>
            <a:ext cx="1828800" cy="1828800"/>
          </a:xfrm>
          <a:prstGeom prst="rect">
            <a:avLst/>
          </a:prstGeom>
        </p:spPr>
      </p:pic>
      <p:sp>
        <p:nvSpPr>
          <p:cNvPr id="6" name="auto3_t"/>
          <p:cNvSpPr txBox="1"/>
          <p:nvPr/>
        </p:nvSpPr>
        <p:spPr>
          <a:xfrm>
            <a:off x="548640" y="3383280"/>
            <a:ext cx="11091672"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Ask me anything</a:t>
            </a:r>
            <a:endParaRPr lang="en-US" sz="4400" dirty="0"/>
          </a:p>
        </p:txBody>
      </p:sp>
      <p:sp>
        <p:nvSpPr>
          <p:cNvPr id="7" name="auto3_s"/>
          <p:cNvSpPr txBox="1"/>
          <p:nvPr/>
        </p:nvSpPr>
        <p:spPr>
          <a:xfrm>
            <a:off x="548640" y="4206240"/>
            <a:ext cx="11091672" cy="457200"/>
          </a:xfrm>
          <a:prstGeom prst="rect">
            <a:avLst/>
          </a:prstGeom>
          <a:noFill/>
          <a:ln/>
        </p:spPr>
        <p:txBody>
          <a:bodyPr wrap="square" lIns="0" tIns="0" rIns="0" bIns="0" rtlCol="0" anchor="t"/>
          <a:lstStyle/>
          <a:p>
            <a:pPr algn="ctr" indent="0" marL="0">
              <a:buNone/>
            </a:pPr>
            <a:r>
              <a:rPr lang="en-US" sz="1800" dirty="0">
                <a:solidFill>
                  <a:srgbClr val="A99BD6"/>
                </a:solidFill>
                <a:latin typeface="Calibri" pitchFamily="34" charset="0"/>
                <a:ea typeface="Calibri" pitchFamily="34" charset="-122"/>
                <a:cs typeface="Calibri" pitchFamily="34" charset="-120"/>
              </a:rPr>
              <a:t>About today · about the cohort · about AI in your day job</a:t>
            </a:r>
            <a:endParaRPr lang="en-US" sz="18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p:cTn id="6" dur="500" fill="hold"/>
                                        <p:tgtEl>
                                          <p:spTgt spid="4"/>
                                        </p:tgtEl>
                                        <p:attrNameLst>
                                          <p:attrName>ppt_x</p:attrName>
                                        </p:attrNameLst>
                                      </p:cBhvr>
                                      <p:tavLst>
                                        <p:tav tm="0">
                                          <p:val>
                                            <p:strVal val="#ppt_x"/>
                                          </p:val>
                                        </p:tav>
                                        <p:tav tm="100000">
                                          <p:val>
                                            <p:strVal val="#ppt_x"/>
                                          </p:val>
                                        </p:tav>
                                      </p:tavLst>
                                    </p:anim>
                                    <p:anim calcmode="lin" valueType="num">
                                      <p:cBhvr>
                                        <p:cTn id="7" dur="500" decel="100000" fill="hold"/>
                                        <p:tgtEl>
                                          <p:spTgt spid="4"/>
                                        </p:tgtEl>
                                        <p:attrNameLst>
                                          <p:attrName>ppt_y</p:attrName>
                                        </p:attrNameLst>
                                      </p:cBhvr>
                                      <p:tavLst>
                                        <p:tav tm="0">
                                          <p:val>
                                            <p:strVal val="#ppt_y+.06"/>
                                          </p:val>
                                        </p:tav>
                                        <p:tav tm="100000">
                                          <p:val>
                                            <p:strVal val="#ppt_y"/>
                                          </p:val>
                                        </p:tav>
                                      </p:tavLst>
                                    </p:anim>
                                  </p:childTnLst>
                                </p:cTn>
                              </p:par>
                            </p:childTnLst>
                          </p:cTn>
                        </p:par>
                        <p:par>
                          <p:cTn id="14" fill="hold">
                            <p:stCondLst>
                              <p:cond delay="35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decel="100000" fill="hold"/>
                                        <p:tgtEl>
                                          <p:spTgt spid="5"/>
                                        </p:tgtEl>
                                        <p:attrNameLst>
                                          <p:attrName>ppt_y</p:attrName>
                                        </p:attrNameLst>
                                      </p:cBhvr>
                                      <p:tavLst>
                                        <p:tav tm="0">
                                          <p:val>
                                            <p:strVal val="#ppt_y+.06"/>
                                          </p:val>
                                        </p:tav>
                                        <p:tav tm="100000">
                                          <p:val>
                                            <p:strVal val="#ppt_y"/>
                                          </p:val>
                                        </p:tav>
                                      </p:tavLst>
                                    </p:anim>
                                  </p:childTnLst>
                                </p:cTn>
                              </p:par>
                            </p:childTnLst>
                          </p:cTn>
                        </p:par>
                        <p:par>
                          <p:cTn id="25" fill="hold">
                            <p:stCondLst>
                              <p:cond delay="7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decel="100000" fill="hold"/>
                                        <p:tgtEl>
                                          <p:spTgt spid="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0A1A"/>
        </a:solidFill>
      </p:bgPr>
    </p:bg>
    <p:spTree>
      <p:nvGrpSpPr>
        <p:cNvPr id="1" name=""/>
        <p:cNvGrpSpPr/>
        <p:nvPr/>
      </p:nvGrpSpPr>
      <p:grpSpPr>
        <a:xfrm>
          <a:off x="0" y="0"/>
          <a:ext cx="0" cy="0"/>
          <a:chOff x="0" y="0"/>
          <a:chExt cx="0" cy="0"/>
        </a:xfrm>
      </p:grpSpPr>
      <p:sp>
        <p:nvSpPr>
          <p:cNvPr id="2" name="auto1_orb"/>
          <p:cNvSpPr/>
          <p:nvPr/>
        </p:nvSpPr>
        <p:spPr>
          <a:xfrm>
            <a:off x="6949440" y="-1280160"/>
            <a:ext cx="6949440" cy="6949440"/>
          </a:xfrm>
          <a:prstGeom prst="ellipse">
            <a:avLst/>
          </a:prstGeom>
          <a:solidFill>
            <a:srgbClr val="512BD4">
              <a:alpha val="30000"/>
            </a:srgbClr>
          </a:solidFill>
          <a:ln/>
        </p:spPr>
      </p:sp>
      <p:pic>
        <p:nvPicPr>
          <p:cNvPr id="3" name="auto2_r" descr="preencoded.png">    </p:cNvPr>
          <p:cNvPicPr>
            <a:picLocks noChangeAspect="1"/>
          </p:cNvPicPr>
          <p:nvPr/>
        </p:nvPicPr>
        <p:blipFill>
          <a:blip r:embed="rId1"/>
          <a:stretch>
            <a:fillRect/>
          </a:stretch>
        </p:blipFill>
        <p:spPr>
          <a:xfrm>
            <a:off x="9326880" y="1463040"/>
            <a:ext cx="1828800" cy="1828800"/>
          </a:xfrm>
          <a:prstGeom prst="rect">
            <a:avLst/>
          </a:prstGeom>
        </p:spPr>
      </p:pic>
      <p:sp>
        <p:nvSpPr>
          <p:cNvPr id="4" name="auto2_t"/>
          <p:cNvSpPr txBox="1"/>
          <p:nvPr/>
        </p:nvSpPr>
        <p:spPr>
          <a:xfrm>
            <a:off x="548640" y="1463040"/>
            <a:ext cx="7315200" cy="1188720"/>
          </a:xfrm>
          <a:prstGeom prst="rect">
            <a:avLst/>
          </a:prstGeom>
          <a:noFill/>
          <a:ln/>
        </p:spPr>
        <p:txBody>
          <a:bodyPr wrap="square" lIns="0" tIns="0" rIns="0" bIns="0" rtlCol="0" anchor="t"/>
          <a:lstStyle/>
          <a:p>
            <a:pPr indent="0" marL="0">
              <a:buNone/>
            </a:pPr>
            <a:r>
              <a:rPr lang="en-US" sz="6600" b="1" dirty="0">
                <a:solidFill>
                  <a:srgbClr val="FFFFFF"/>
                </a:solidFill>
                <a:latin typeface="Arial" pitchFamily="34" charset="0"/>
                <a:ea typeface="Arial" pitchFamily="34" charset="-122"/>
                <a:cs typeface="Arial" pitchFamily="34" charset="-120"/>
              </a:rPr>
              <a:t>Thank you!</a:t>
            </a:r>
            <a:endParaRPr lang="en-US" sz="6600" dirty="0"/>
          </a:p>
        </p:txBody>
      </p:sp>
      <p:sp>
        <p:nvSpPr>
          <p:cNvPr id="5" name="auto3_s"/>
          <p:cNvSpPr txBox="1"/>
          <p:nvPr/>
        </p:nvSpPr>
        <p:spPr>
          <a:xfrm>
            <a:off x="548640" y="2743200"/>
            <a:ext cx="8503920" cy="914400"/>
          </a:xfrm>
          <a:prstGeom prst="rect">
            <a:avLst/>
          </a:prstGeom>
          <a:noFill/>
          <a:ln/>
        </p:spPr>
        <p:txBody>
          <a:bodyPr wrap="square" lIns="0" tIns="0" rIns="0" bIns="0" rtlCol="0" anchor="t"/>
          <a:lstStyle/>
          <a:p>
            <a:pPr indent="0" marL="0">
              <a:buNone/>
            </a:pPr>
            <a:r>
              <a:rPr lang="en-US" sz="2000" dirty="0">
                <a:solidFill>
                  <a:srgbClr val="2EE6A6"/>
                </a:solidFill>
                <a:latin typeface="Calibri" pitchFamily="34" charset="0"/>
                <a:ea typeface="Calibri" pitchFamily="34" charset="-122"/>
                <a:cs typeface="Calibri" pitchFamily="34" charset="-120"/>
              </a:rPr>
              <a:t>You just learned what 90% of people using AI never look at: the wire.</a:t>
            </a:r>
            <a:endParaRPr lang="en-US" sz="2000" dirty="0"/>
          </a:p>
        </p:txBody>
      </p:sp>
      <p:pic>
        <p:nvPicPr>
          <p:cNvPr id="6" name="auto4_ni0" descr="preencoded.png">    </p:cNvPr>
          <p:cNvPicPr>
            <a:picLocks noChangeAspect="1"/>
          </p:cNvPicPr>
          <p:nvPr/>
        </p:nvPicPr>
        <p:blipFill>
          <a:blip r:embed="rId2"/>
          <a:stretch>
            <a:fillRect/>
          </a:stretch>
        </p:blipFill>
        <p:spPr>
          <a:xfrm>
            <a:off x="548640" y="3977640"/>
            <a:ext cx="320040" cy="320040"/>
          </a:xfrm>
          <a:prstGeom prst="rect">
            <a:avLst/>
          </a:prstGeom>
        </p:spPr>
      </p:pic>
      <p:sp>
        <p:nvSpPr>
          <p:cNvPr id="7" name="auto4_nt0"/>
          <p:cNvSpPr txBox="1"/>
          <p:nvPr/>
        </p:nvSpPr>
        <p:spPr>
          <a:xfrm>
            <a:off x="1051560" y="3959352"/>
            <a:ext cx="6400800" cy="365760"/>
          </a:xfrm>
          <a:prstGeom prst="rect">
            <a:avLst/>
          </a:prstGeom>
          <a:noFill/>
          <a:ln/>
        </p:spPr>
        <p:txBody>
          <a:bodyPr wrap="square" lIns="0" tIns="0" rIns="0" bIns="0" rtlCol="0" anchor="t"/>
          <a:lstStyle/>
          <a:p>
            <a:pPr indent="0" marL="0">
              <a:buNone/>
            </a:pPr>
            <a:r>
              <a:rPr lang="en-US" sz="1600" dirty="0">
                <a:solidFill>
                  <a:srgbClr val="E9E4FF"/>
                </a:solidFill>
                <a:latin typeface="Calibri" pitchFamily="34" charset="0"/>
                <a:ea typeface="Calibri" pitchFamily="34" charset="-122"/>
                <a:cs typeface="Calibri" pitchFamily="34" charset="-120"/>
              </a:rPr>
              <a:t>Assignment: raw HttpClient call + NOTES.md</a:t>
            </a:r>
            <a:endParaRPr lang="en-US" sz="1600" dirty="0"/>
          </a:p>
        </p:txBody>
      </p:sp>
      <p:pic>
        <p:nvPicPr>
          <p:cNvPr id="8" name="auto4_ni1" descr="preencoded.png">    </p:cNvPr>
          <p:cNvPicPr>
            <a:picLocks noChangeAspect="1"/>
          </p:cNvPicPr>
          <p:nvPr/>
        </p:nvPicPr>
        <p:blipFill>
          <a:blip r:embed="rId3"/>
          <a:stretch>
            <a:fillRect/>
          </a:stretch>
        </p:blipFill>
        <p:spPr>
          <a:xfrm>
            <a:off x="548640" y="4526280"/>
            <a:ext cx="320040" cy="320040"/>
          </a:xfrm>
          <a:prstGeom prst="rect">
            <a:avLst/>
          </a:prstGeom>
        </p:spPr>
      </p:pic>
      <p:sp>
        <p:nvSpPr>
          <p:cNvPr id="9" name="auto4_nt1"/>
          <p:cNvSpPr txBox="1"/>
          <p:nvPr/>
        </p:nvSpPr>
        <p:spPr>
          <a:xfrm>
            <a:off x="1051560" y="4507992"/>
            <a:ext cx="6400800" cy="365760"/>
          </a:xfrm>
          <a:prstGeom prst="rect">
            <a:avLst/>
          </a:prstGeom>
          <a:noFill/>
          <a:ln/>
        </p:spPr>
        <p:txBody>
          <a:bodyPr wrap="square" lIns="0" tIns="0" rIns="0" bIns="0" rtlCol="0" anchor="t"/>
          <a:lstStyle/>
          <a:p>
            <a:pPr indent="0" marL="0">
              <a:buNone/>
            </a:pPr>
            <a:r>
              <a:rPr lang="en-US" sz="1600" dirty="0">
                <a:solidFill>
                  <a:srgbClr val="E9E4FF"/>
                </a:solidFill>
                <a:latin typeface="Calibri" pitchFamily="34" charset="0"/>
                <a:ea typeface="Calibri" pitchFamily="34" charset="-122"/>
                <a:cs typeface="Calibri" pitchFamily="34" charset="-120"/>
              </a:rPr>
              <a:t>Slides, code &amp; recording: in the community channel</a:t>
            </a:r>
            <a:endParaRPr lang="en-US" sz="1600" dirty="0"/>
          </a:p>
        </p:txBody>
      </p:sp>
      <p:pic>
        <p:nvPicPr>
          <p:cNvPr id="10" name="auto4_ni2" descr="preencoded.png">    </p:cNvPr>
          <p:cNvPicPr>
            <a:picLocks noChangeAspect="1"/>
          </p:cNvPicPr>
          <p:nvPr/>
        </p:nvPicPr>
        <p:blipFill>
          <a:blip r:embed="rId4"/>
          <a:stretch>
            <a:fillRect/>
          </a:stretch>
        </p:blipFill>
        <p:spPr>
          <a:xfrm>
            <a:off x="548640" y="5074920"/>
            <a:ext cx="320040" cy="320040"/>
          </a:xfrm>
          <a:prstGeom prst="rect">
            <a:avLst/>
          </a:prstGeom>
        </p:spPr>
      </p:pic>
      <p:sp>
        <p:nvSpPr>
          <p:cNvPr id="11" name="auto4_nt2"/>
          <p:cNvSpPr txBox="1"/>
          <p:nvPr/>
        </p:nvSpPr>
        <p:spPr>
          <a:xfrm>
            <a:off x="1051560" y="5056632"/>
            <a:ext cx="6400800" cy="365760"/>
          </a:xfrm>
          <a:prstGeom prst="rect">
            <a:avLst/>
          </a:prstGeom>
          <a:noFill/>
          <a:ln/>
        </p:spPr>
        <p:txBody>
          <a:bodyPr wrap="square" lIns="0" tIns="0" rIns="0" bIns="0" rtlCol="0" anchor="t"/>
          <a:lstStyle/>
          <a:p>
            <a:pPr indent="0" marL="0">
              <a:buNone/>
            </a:pPr>
            <a:r>
              <a:rPr lang="en-US" sz="1600" dirty="0">
                <a:solidFill>
                  <a:srgbClr val="E9E4FF"/>
                </a:solidFill>
                <a:latin typeface="Calibri" pitchFamily="34" charset="0"/>
                <a:ea typeface="Calibri" pitchFamily="34" charset="-122"/>
                <a:cs typeface="Calibri" pitchFamily="34" charset="-120"/>
              </a:rPr>
              <a:t>Next: Session 02 · Prompt Engineering</a:t>
            </a:r>
            <a:endParaRPr lang="en-US" sz="1600" dirty="0"/>
          </a:p>
        </p:txBody>
      </p:sp>
      <p:sp>
        <p:nvSpPr>
          <p:cNvPr id="12" name="Text 6"/>
          <p:cNvSpPr txBox="1"/>
          <p:nvPr/>
        </p:nvSpPr>
        <p:spPr>
          <a:xfrm>
            <a:off x="548640" y="5989320"/>
            <a:ext cx="8229600" cy="320040"/>
          </a:xfrm>
          <a:prstGeom prst="rect">
            <a:avLst/>
          </a:prstGeom>
          <a:noFill/>
          <a:ln/>
        </p:spPr>
        <p:txBody>
          <a:bodyPr wrap="square" lIns="0" tIns="0" rIns="0" bIns="0" rtlCol="0" anchor="t"/>
          <a:lstStyle/>
          <a:p>
            <a:pPr indent="0" marL="0">
              <a:buNone/>
            </a:pPr>
            <a:r>
              <a:rPr lang="en-US" sz="1100" b="1" spc="400" kern="0" dirty="0">
                <a:solidFill>
                  <a:srgbClr val="6F63A0"/>
                </a:solidFill>
                <a:latin typeface="Arial" pitchFamily="34" charset="0"/>
                <a:ea typeface="Arial" pitchFamily="34" charset="-122"/>
                <a:cs typeface="Arial" pitchFamily="34" charset="-120"/>
              </a:rPr>
              <a:t>AGENTIC SPRINT FOR .NET DEVELOPERS  ·  SIDILLUS</a:t>
            </a:r>
            <a:endParaRPr lang="en-US" sz="11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anim calcmode="lin" valueType="num">
                                      <p:cBhvr>
                                        <p:cTn id="6" dur="500" fill="hold"/>
                                        <p:tgtEl>
                                          <p:spTgt spid="2"/>
                                        </p:tgtEl>
                                        <p:attrNameLst>
                                          <p:attrName>ppt_x</p:attrName>
                                        </p:attrNameLst>
                                      </p:cBhvr>
                                      <p:tavLst>
                                        <p:tav tm="0">
                                          <p:val>
                                            <p:strVal val="#ppt_x"/>
                                          </p:val>
                                        </p:tav>
                                        <p:tav tm="100000">
                                          <p:val>
                                            <p:strVal val="#ppt_x"/>
                                          </p:val>
                                        </p:tav>
                                      </p:tavLst>
                                    </p:anim>
                                    <p:anim calcmode="lin" valueType="num">
                                      <p:cBhvr>
                                        <p:cTn id="7" dur="500" decel="100000" fill="hold"/>
                                        <p:tgtEl>
                                          <p:spTgt spid="2"/>
                                        </p:tgtEl>
                                        <p:attrNameLst>
                                          <p:attrName>ppt_y</p:attrName>
                                        </p:attrNameLst>
                                      </p:cBhvr>
                                      <p:tavLst>
                                        <p:tav tm="0">
                                          <p:val>
                                            <p:strVal val="#ppt_y+.06"/>
                                          </p:val>
                                        </p:tav>
                                        <p:tav tm="100000">
                                          <p:val>
                                            <p:strVal val="#ppt_y"/>
                                          </p:val>
                                        </p:tav>
                                      </p:tavLst>
                                    </p:anim>
                                  </p:childTnLst>
                                </p:cTn>
                              </p:par>
                            </p:childTnLst>
                          </p:cTn>
                        </p:par>
                        <p:par>
                          <p:cTn id="19" fill="hold">
                            <p:stCondLst>
                              <p:cond delay="350"/>
                            </p:stCondLst>
                            <p:childTnLst>
                              <p:par>
                                <p:cTn id="9" presetID="42"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decel="100000" fill="hold"/>
                                        <p:tgtEl>
                                          <p:spTgt spid="3"/>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anim calcmode="lin" valueType="num">
                                      <p:cBhvr>
                                        <p:cTn id="17" dur="500" fill="hold"/>
                                        <p:tgtEl>
                                          <p:spTgt spid="4"/>
                                        </p:tgtEl>
                                        <p:attrNameLst>
                                          <p:attrName>ppt_x</p:attrName>
                                        </p:attrNameLst>
                                      </p:cBhvr>
                                      <p:tavLst>
                                        <p:tav tm="0">
                                          <p:val>
                                            <p:strVal val="#ppt_x"/>
                                          </p:val>
                                        </p:tav>
                                        <p:tav tm="100000">
                                          <p:val>
                                            <p:strVal val="#ppt_x"/>
                                          </p:val>
                                        </p:tav>
                                      </p:tavLst>
                                    </p:anim>
                                    <p:anim calcmode="lin" valueType="num">
                                      <p:cBhvr>
                                        <p:cTn id="18" dur="500" decel="100000" fill="hold"/>
                                        <p:tgtEl>
                                          <p:spTgt spid="4"/>
                                        </p:tgtEl>
                                        <p:attrNameLst>
                                          <p:attrName>ppt_y</p:attrName>
                                        </p:attrNameLst>
                                      </p:cBhvr>
                                      <p:tavLst>
                                        <p:tav tm="0">
                                          <p:val>
                                            <p:strVal val="#ppt_y+.06"/>
                                          </p:val>
                                        </p:tav>
                                        <p:tav tm="100000">
                                          <p:val>
                                            <p:strVal val="#ppt_y"/>
                                          </p:val>
                                        </p:tav>
                                      </p:tavLst>
                                    </p:anim>
                                  </p:childTnLst>
                                </p:cTn>
                              </p:par>
                            </p:childTnLst>
                          </p:cTn>
                        </p:par>
                        <p:par>
                          <p:cTn id="25" fill="hold">
                            <p:stCondLst>
                              <p:cond delay="700"/>
                            </p:stCondLst>
                            <p:childTnLst>
                              <p:par>
                                <p:cTn id="20" presetID="42"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anim calcmode="lin" valueType="num">
                                      <p:cBhvr>
                                        <p:cTn id="23" dur="500" fill="hold"/>
                                        <p:tgtEl>
                                          <p:spTgt spid="5"/>
                                        </p:tgtEl>
                                        <p:attrNameLst>
                                          <p:attrName>ppt_x</p:attrName>
                                        </p:attrNameLst>
                                      </p:cBhvr>
                                      <p:tavLst>
                                        <p:tav tm="0">
                                          <p:val>
                                            <p:strVal val="#ppt_x"/>
                                          </p:val>
                                        </p:tav>
                                        <p:tav tm="100000">
                                          <p:val>
                                            <p:strVal val="#ppt_x"/>
                                          </p:val>
                                        </p:tav>
                                      </p:tavLst>
                                    </p:anim>
                                    <p:anim calcmode="lin" valueType="num">
                                      <p:cBhvr>
                                        <p:cTn id="24" dur="500" decel="100000" fill="hold"/>
                                        <p:tgtEl>
                                          <p:spTgt spid="5"/>
                                        </p:tgtEl>
                                        <p:attrNameLst>
                                          <p:attrName>ppt_y</p:attrName>
                                        </p:attrNameLst>
                                      </p:cBhvr>
                                      <p:tavLst>
                                        <p:tav tm="0">
                                          <p:val>
                                            <p:strVal val="#ppt_y+.06"/>
                                          </p:val>
                                        </p:tav>
                                        <p:tav tm="100000">
                                          <p:val>
                                            <p:strVal val="#ppt_y"/>
                                          </p:val>
                                        </p:tav>
                                      </p:tavLst>
                                    </p:anim>
                                  </p:childTnLst>
                                </p:cTn>
                              </p:par>
                            </p:childTnLst>
                          </p:cTn>
                        </p:par>
                        <p:par>
                          <p:cTn id="56" fill="hold">
                            <p:stCondLst>
                              <p:cond delay="105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anim calcmode="lin" valueType="num">
                                      <p:cBhvr>
                                        <p:cTn id="29" dur="500" fill="hold"/>
                                        <p:tgtEl>
                                          <p:spTgt spid="6"/>
                                        </p:tgtEl>
                                        <p:attrNameLst>
                                          <p:attrName>ppt_x</p:attrName>
                                        </p:attrNameLst>
                                      </p:cBhvr>
                                      <p:tavLst>
                                        <p:tav tm="0">
                                          <p:val>
                                            <p:strVal val="#ppt_x"/>
                                          </p:val>
                                        </p:tav>
                                        <p:tav tm="100000">
                                          <p:val>
                                            <p:strVal val="#ppt_x"/>
                                          </p:val>
                                        </p:tav>
                                      </p:tavLst>
                                    </p:anim>
                                    <p:anim calcmode="lin" valueType="num">
                                      <p:cBhvr>
                                        <p:cTn id="30" dur="500" decel="100000" fill="hold"/>
                                        <p:tgtEl>
                                          <p:spTgt spid="6"/>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fill="hold"/>
                                        <p:tgtEl>
                                          <p:spTgt spid="7"/>
                                        </p:tgtEl>
                                        <p:attrNameLst>
                                          <p:attrName>ppt_x</p:attrName>
                                        </p:attrNameLst>
                                      </p:cBhvr>
                                      <p:tavLst>
                                        <p:tav tm="0">
                                          <p:val>
                                            <p:strVal val="#ppt_x"/>
                                          </p:val>
                                        </p:tav>
                                        <p:tav tm="100000">
                                          <p:val>
                                            <p:strVal val="#ppt_x"/>
                                          </p:val>
                                        </p:tav>
                                      </p:tavLst>
                                    </p:anim>
                                    <p:anim calcmode="lin" valueType="num">
                                      <p:cBhvr>
                                        <p:cTn id="35" dur="500" decel="1000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fill="hold"/>
                                        <p:tgtEl>
                                          <p:spTgt spid="8"/>
                                        </p:tgtEl>
                                        <p:attrNameLst>
                                          <p:attrName>ppt_x</p:attrName>
                                        </p:attrNameLst>
                                      </p:cBhvr>
                                      <p:tavLst>
                                        <p:tav tm="0">
                                          <p:val>
                                            <p:strVal val="#ppt_x"/>
                                          </p:val>
                                        </p:tav>
                                        <p:tav tm="100000">
                                          <p:val>
                                            <p:strVal val="#ppt_x"/>
                                          </p:val>
                                        </p:tav>
                                      </p:tavLst>
                                    </p:anim>
                                    <p:anim calcmode="lin" valueType="num">
                                      <p:cBhvr>
                                        <p:cTn id="40" dur="500" decel="100000" fill="hold"/>
                                        <p:tgtEl>
                                          <p:spTgt spid="8"/>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fill="hold"/>
                                        <p:tgtEl>
                                          <p:spTgt spid="9"/>
                                        </p:tgtEl>
                                        <p:attrNameLst>
                                          <p:attrName>ppt_x</p:attrName>
                                        </p:attrNameLst>
                                      </p:cBhvr>
                                      <p:tavLst>
                                        <p:tav tm="0">
                                          <p:val>
                                            <p:strVal val="#ppt_x"/>
                                          </p:val>
                                        </p:tav>
                                        <p:tav tm="100000">
                                          <p:val>
                                            <p:strVal val="#ppt_x"/>
                                          </p:val>
                                        </p:tav>
                                      </p:tavLst>
                                    </p:anim>
                                    <p:anim calcmode="lin" valueType="num">
                                      <p:cBhvr>
                                        <p:cTn id="45" dur="500" decel="100000" fill="hold"/>
                                        <p:tgtEl>
                                          <p:spTgt spid="9"/>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anim calcmode="lin" valueType="num">
                                      <p:cBhvr>
                                        <p:cTn id="49" dur="500" fill="hold"/>
                                        <p:tgtEl>
                                          <p:spTgt spid="10"/>
                                        </p:tgtEl>
                                        <p:attrNameLst>
                                          <p:attrName>ppt_x</p:attrName>
                                        </p:attrNameLst>
                                      </p:cBhvr>
                                      <p:tavLst>
                                        <p:tav tm="0">
                                          <p:val>
                                            <p:strVal val="#ppt_x"/>
                                          </p:val>
                                        </p:tav>
                                        <p:tav tm="100000">
                                          <p:val>
                                            <p:strVal val="#ppt_x"/>
                                          </p:val>
                                        </p:tav>
                                      </p:tavLst>
                                    </p:anim>
                                    <p:anim calcmode="lin" valueType="num">
                                      <p:cBhvr>
                                        <p:cTn id="50" dur="500" decel="100000" fill="hold"/>
                                        <p:tgtEl>
                                          <p:spTgt spid="10"/>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anim calcmode="lin" valueType="num">
                                      <p:cBhvr>
                                        <p:cTn id="54" dur="500" fill="hold"/>
                                        <p:tgtEl>
                                          <p:spTgt spid="11"/>
                                        </p:tgtEl>
                                        <p:attrNameLst>
                                          <p:attrName>ppt_x</p:attrName>
                                        </p:attrNameLst>
                                      </p:cBhvr>
                                      <p:tavLst>
                                        <p:tav tm="0">
                                          <p:val>
                                            <p:strVal val="#ppt_x"/>
                                          </p:val>
                                        </p:tav>
                                        <p:tav tm="100000">
                                          <p:val>
                                            <p:strVal val="#ppt_x"/>
                                          </p:val>
                                        </p:tav>
                                      </p:tavLst>
                                    </p:anim>
                                    <p:anim calcmode="lin" valueType="num">
                                      <p:cBhvr>
                                        <p:cTn id="55"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9"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01 — LLM Fundamentals for .NET Developers</dc:title>
  <dc:subject>PptxGenJS Presentation</dc:subject>
  <dc:creator>Sidillus · Agentic Sprint for .NET</dc:creator>
  <cp:lastModifiedBy>Sidillus · Agentic Sprint for .NET</cp:lastModifiedBy>
  <cp:revision>1</cp:revision>
  <dcterms:created xsi:type="dcterms:W3CDTF">2026-09-21T17:56:23Z</dcterms:created>
  <dcterms:modified xsi:type="dcterms:W3CDTF">2026-09-21T17:56:23Z</dcterms:modified>
</cp:coreProperties>
</file>